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f08ddfd-8e78-8d23-6968-bb799af2bbac}">
          <p14:sldIdLst>
            <p14:sldId id="256"/>
          </p14:sldIdLst>
        </p14:section>
        <p14:section name="System" id="{193b0a06-1b9f-02c7-ef85-14a1e1e144f0}">
          <p14:sldIdLst>
            <p14:sldId id="257"/>
            <p14:sldId id="258"/>
          </p14:sldIdLst>
        </p14:section>
        <p14:section name="Foundation" id="{14fd3e46-3eb0-74e8-f999-a8bdae2e909f}">
          <p14:sldIdLst>
            <p14:sldId id="259"/>
          </p14:sldIdLst>
        </p14:section>
        <p14:section name="Search" id="{7436b17e-8828-4051-8e41-359f719dc41d}">
          <p14:sldIdLst>
            <p14:sldId id="260"/>
            <p14:sldId id="261"/>
          </p14:sldIdLst>
        </p14:section>
        <p14:section name="Roadmap" id="{642b92ba-8948-0dcb-cb49-235b15f5a88d}">
          <p14:sldIdLst>
            <p14:sldId id="262"/>
          </p14:sldIdLst>
        </p14:section>
        <p14:section name="Close" id="{f2ea1f34-0ab5-91b1-559b-a4f573e75938}">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visual plan for the digital layer around the studio: how people discover MACK, what is being built, how it is implemented and measured, and the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However someone first hears of MACK — a search, Maps, Instagram, a publication or a recommendation — they arrive at the studio's own website. There they explore projects and the studio, then act: an enquiry, a call, directions or an email. Every step is measured, and the measurements feed a monthly round of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marketing — content, Instagram, publications — creates and widens awareness. SEO makes MACK findable at the moment people actively search, in Google Search and Maps. The website turns that attention into understanding and trust. The Google Business Profile connects local discovery with calls, directions and visits. Analytics shows what actually produces enquiries, which shapes the next round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studio domain is the root: email, website, workspace and Google's tools all connect to it, so it is registered in MACK's name first. Every account belongs to the studio; access is granted to implement and documented in an access map. First items to confirm: the studio's real-world name, the domain, and how the existing Google listing at the studio address should represent MACK.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Visibility is built from the ground up. A technical foundation (indexing, structured data, mobile speed); service pages for architecture, interiors and objects; project pages with place, type, year, a written story and credited images; local presence through the Google Business Profile, reviews and a profile for each new studio; and authority through architecture platforms and publications. The result is discovery by name, by service and by project. A publishing system makes every new project follow the same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journey, measured. Searches and Maps views come from Search Console and the Business Profile; visits, project exploration, enquiries, call taps and direction requests from Analytics and the studio's enquiry log. Each month a one-page report and a live dashboard, owned by the studio, answer three questions: what changed, why it matters, and what happens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 in the first two weeks; the site launched and connected to Google by week four; local presence from week three, depending on Google's verification; portfolio pages from week four, paced by project information from the studio; authority and digital growth from month three; measurement from week six, with a report every month after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groups, each something the studio can open, check or use. All accounts and assets remain MACK's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Align on the studio name, domain and services; set up accounts in MACK's name and grant access; implement the six milestones; measure through the dashboard and monthly report; and improve every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CK_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rtlCol="0"/>
          <a:lstStyle>
            <a:lvl1pPr indent="0" marL="0">
              <a:buNone/>
              <a:defRPr lang="en-US" sz="950" dirty="0">
                <a:solidFill>
                  <a:schemeClr val="accent2"/>
                </a:solidFill>
              </a:defRPr>
            </a:lvl1pPr>
          </a:lstStyle>
          <a:p>
            <a:pPr indent="0" marL="0">
              <a:buNone/>
            </a:pP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rtlCol="0"/>
          <a:lstStyle>
            <a:lvl1pPr algn="l" indent="0" marL="0">
              <a:buNone/>
              <a:defRPr lang="en-US" sz="3200" dirty="0">
                <a:solidFill>
                  <a:schemeClr val="tx1"/>
                </a:solidFill>
              </a:defRPr>
            </a:lvl1pPr>
          </a:lstStyle>
          <a:p>
            <a:pPr algn="l" indent="0" marL="0">
              <a:buNone/>
            </a:pPr>
            <a:endParaRPr lang="en-US" sz="3200" dirty="0"/>
          </a:p>
        </p:txBody>
      </p:sp>
      <p:sp>
        <p:nvSpPr>
          <p:cNvPr id="4" name="Text 0"/>
          <p:cNvSpPr txBox="1"/>
          <p:nvPr/>
        </p:nvSpPr>
        <p:spPr>
          <a:xfrm>
            <a:off x="548640" y="6400800"/>
            <a:ext cx="5486400" cy="201168"/>
          </a:xfrm>
          <a:prstGeom prst="rect">
            <a:avLst/>
          </a:prstGeom>
          <a:noFill/>
          <a:ln/>
        </p:spPr>
        <p:txBody>
          <a:bodyPr wrap="square" lIns="0" tIns="0" rIns="0" bIns="0" rtlCol="0" anchor="ctr"/>
          <a:lstStyle/>
          <a:p>
            <a:pPr indent="0" marL="0">
              <a:buNone/>
            </a:pPr>
            <a:r>
              <a:rPr lang="en-US" sz="850" spc="100" kern="0" dirty="0">
                <a:solidFill>
                  <a:schemeClr val="accent2"/>
                </a:solidFill>
              </a:rPr>
              <a:t>MACK &amp; Co Architects  ·  Digital Foundation</a:t>
            </a:r>
            <a:endParaRPr lang="en-US" sz="85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CK_DARK">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rtlCol="0"/>
          <a:lstStyle>
            <a:lvl1pPr indent="0" marL="0">
              <a:buNone/>
              <a:defRPr lang="en-US" sz="950" dirty="0">
                <a:solidFill>
                  <a:schemeClr val="accent4"/>
                </a:solidFill>
              </a:defRPr>
            </a:lvl1pPr>
          </a:lstStyle>
          <a:p>
            <a:pPr indent="0" marL="0">
              <a:buNone/>
            </a:pP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rtlCol="0"/>
          <a:lstStyle>
            <a:lvl1pPr algn="l" indent="0" marL="0">
              <a:buNone/>
              <a:defRPr lang="en-US" sz="3200" dirty="0">
                <a:solidFill>
                  <a:schemeClr val="bg1"/>
                </a:solidFill>
              </a:defRPr>
            </a:lvl1pPr>
          </a:lstStyle>
          <a:p>
            <a:pPr algn="l" indent="0" marL="0">
              <a:buNone/>
            </a:pPr>
            <a:endParaRPr lang="en-US" sz="3200" dirty="0"/>
          </a:p>
        </p:txBody>
      </p:sp>
      <p:sp>
        <p:nvSpPr>
          <p:cNvPr id="4" name="Text 0"/>
          <p:cNvSpPr txBox="1"/>
          <p:nvPr/>
        </p:nvSpPr>
        <p:spPr>
          <a:xfrm>
            <a:off x="548640" y="6400800"/>
            <a:ext cx="5486400" cy="201168"/>
          </a:xfrm>
          <a:prstGeom prst="rect">
            <a:avLst/>
          </a:prstGeom>
          <a:noFill/>
          <a:ln/>
        </p:spPr>
        <p:txBody>
          <a:bodyPr wrap="square" lIns="0" tIns="0" rIns="0" bIns="0" rtlCol="0" anchor="ctr"/>
          <a:lstStyle/>
          <a:p>
            <a:pPr indent="0" marL="0">
              <a:buNone/>
            </a:pPr>
            <a:r>
              <a:rPr lang="en-US" sz="850" spc="100" kern="0" dirty="0">
                <a:solidFill>
                  <a:schemeClr val="accent4"/>
                </a:solidFill>
              </a:rPr>
              <a:t>MACK &amp; Co Architects  ·  Digital Foundation</a:t>
            </a:r>
            <a:endParaRPr lang="en-US" sz="85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ACK_COVER">
    <p:bg>
      <p:bgPr>
        <a:solidFill>
          <a:schemeClr val="accent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gra Fort Project living room under a circular skylight (photography)">    </p:cNvPr>
          <p:cNvPicPr>
            <a:picLocks noChangeAspect="1"/>
          </p:cNvPicPr>
          <p:nvPr/>
        </p:nvPicPr>
        <p:blipFill>
          <a:blip r:embed="rId1"/>
          <a:srcRect l="0" r="0" t="0" b="0"/>
          <a:stretch/>
        </p:blipFill>
        <p:spPr>
          <a:xfrm>
            <a:off x="5806440" y="0"/>
            <a:ext cx="6385255" cy="6858000"/>
          </a:xfrm>
          <a:prstGeom prst="rect">
            <a:avLst/>
          </a:prstGeom>
        </p:spPr>
      </p:pic>
      <p:pic>
        <p:nvPicPr>
          <p:cNvPr id="3" name="Image 1" descr="MACK monogram">    </p:cNvPr>
          <p:cNvPicPr>
            <a:picLocks noChangeAspect="1"/>
          </p:cNvPicPr>
          <p:nvPr/>
        </p:nvPicPr>
        <p:blipFill>
          <a:blip r:embed="rId2"/>
          <a:stretch>
            <a:fillRect/>
          </a:stretch>
        </p:blipFill>
        <p:spPr>
          <a:xfrm>
            <a:off x="640080" y="640080"/>
            <a:ext cx="475488" cy="460217"/>
          </a:xfrm>
          <a:prstGeom prst="rect">
            <a:avLst/>
          </a:prstGeom>
        </p:spPr>
      </p:pic>
      <p:sp>
        <p:nvSpPr>
          <p:cNvPr id="4" name="Text 0"/>
          <p:cNvSpPr txBox="1"/>
          <p:nvPr/>
        </p:nvSpPr>
        <p:spPr>
          <a:xfrm>
            <a:off x="1325880" y="749808"/>
            <a:ext cx="3657600" cy="274320"/>
          </a:xfrm>
          <a:prstGeom prst="rect">
            <a:avLst/>
          </a:prstGeom>
          <a:noFill/>
          <a:ln/>
        </p:spPr>
        <p:txBody>
          <a:bodyPr wrap="square" lIns="0" tIns="0" rIns="0" bIns="0" rtlCol="0" anchor="t"/>
          <a:lstStyle/>
          <a:p>
            <a:pPr algn="l" indent="0" marL="0">
              <a:lnSpc>
                <a:spcPct val="112000"/>
              </a:lnSpc>
              <a:buNone/>
            </a:pPr>
            <a:r>
              <a:rPr lang="en-US" sz="1000" spc="240" kern="0" dirty="0">
                <a:solidFill>
                  <a:schemeClr val="bg1"/>
                </a:solidFill>
              </a:rPr>
              <a:t>MACK &amp; CO ARCHITECTS</a:t>
            </a:r>
            <a:endParaRPr lang="en-US" sz="1000" dirty="0"/>
          </a:p>
        </p:txBody>
      </p:sp>
      <p:sp>
        <p:nvSpPr>
          <p:cNvPr id="5" name="Text 1"/>
          <p:cNvSpPr txBox="1"/>
          <p:nvPr/>
        </p:nvSpPr>
        <p:spPr>
          <a:xfrm>
            <a:off x="640080" y="1920240"/>
            <a:ext cx="4937760" cy="1463040"/>
          </a:xfrm>
          <a:prstGeom prst="rect">
            <a:avLst/>
          </a:prstGeom>
          <a:noFill/>
          <a:ln/>
        </p:spPr>
        <p:txBody>
          <a:bodyPr wrap="square" lIns="0" tIns="0" rIns="0" bIns="0" rtlCol="0" anchor="t"/>
          <a:lstStyle/>
          <a:p>
            <a:pPr algn="l" indent="0" marL="0">
              <a:lnSpc>
                <a:spcPct val="98000"/>
              </a:lnSpc>
              <a:buNone/>
            </a:pPr>
            <a:r>
              <a:rPr lang="en-US" sz="5200" dirty="0">
                <a:solidFill>
                  <a:schemeClr val="bg1"/>
                </a:solidFill>
                <a:latin typeface="+mj-lt" pitchFamily="34" charset="0"/>
                <a:ea typeface="+mj-lt" pitchFamily="34" charset="-122"/>
                <a:cs typeface="+mj-lt" pitchFamily="34" charset="-120"/>
              </a:rPr>
              <a:t>Digital</a:t>
            </a:r>
            <a:endParaRPr lang="en-US" sz="5200" dirty="0"/>
          </a:p>
          <a:p>
            <a:pPr algn="l" indent="0" marL="0">
              <a:lnSpc>
                <a:spcPct val="98000"/>
              </a:lnSpc>
              <a:buNone/>
            </a:pPr>
            <a:r>
              <a:rPr lang="en-US" sz="5200" dirty="0">
                <a:solidFill>
                  <a:schemeClr val="bg1"/>
                </a:solidFill>
                <a:latin typeface="+mj-lt" pitchFamily="34" charset="0"/>
                <a:ea typeface="+mj-lt" pitchFamily="34" charset="-122"/>
                <a:cs typeface="+mj-lt" pitchFamily="34" charset="-120"/>
              </a:rPr>
              <a:t>Foundation</a:t>
            </a:r>
            <a:endParaRPr lang="en-US" sz="5200" dirty="0"/>
          </a:p>
        </p:txBody>
      </p:sp>
      <p:sp>
        <p:nvSpPr>
          <p:cNvPr id="6" name="Text 2"/>
          <p:cNvSpPr txBox="1"/>
          <p:nvPr/>
        </p:nvSpPr>
        <p:spPr>
          <a:xfrm>
            <a:off x="640080" y="3611880"/>
            <a:ext cx="4480560" cy="731520"/>
          </a:xfrm>
          <a:prstGeom prst="rect">
            <a:avLst/>
          </a:prstGeom>
          <a:noFill/>
          <a:ln/>
        </p:spPr>
        <p:txBody>
          <a:bodyPr wrap="square" lIns="0" tIns="0" rIns="0" bIns="0" rtlCol="0" anchor="t"/>
          <a:lstStyle/>
          <a:p>
            <a:pPr algn="l" indent="0" marL="0">
              <a:lnSpc>
                <a:spcPct val="120000"/>
              </a:lnSpc>
              <a:buNone/>
            </a:pPr>
            <a:r>
              <a:rPr lang="en-US" sz="1600" dirty="0">
                <a:solidFill>
                  <a:schemeClr val="accent4"/>
                </a:solidFill>
              </a:rPr>
              <a:t>The connected digital layer around MACK’s architecture</a:t>
            </a:r>
            <a:endParaRPr lang="en-US" sz="1600" dirty="0"/>
          </a:p>
        </p:txBody>
      </p:sp>
      <p:sp>
        <p:nvSpPr>
          <p:cNvPr id="7" name="Shape 3"/>
          <p:cNvSpPr/>
          <p:nvPr/>
        </p:nvSpPr>
        <p:spPr>
          <a:xfrm>
            <a:off x="640080" y="5440680"/>
            <a:ext cx="4572000" cy="0"/>
          </a:xfrm>
          <a:prstGeom prst="line">
            <a:avLst/>
          </a:prstGeom>
          <a:noFill/>
          <a:ln w="9525">
            <a:solidFill>
              <a:schemeClr val="accent2"/>
            </a:solidFill>
            <a:prstDash val="solid"/>
          </a:ln>
        </p:spPr>
      </p:sp>
      <p:sp>
        <p:nvSpPr>
          <p:cNvPr id="8" name="Text 4"/>
          <p:cNvSpPr txBox="1"/>
          <p:nvPr/>
        </p:nvSpPr>
        <p:spPr>
          <a:xfrm>
            <a:off x="640080" y="5559552"/>
            <a:ext cx="4754880" cy="256032"/>
          </a:xfrm>
          <a:prstGeom prst="rect">
            <a:avLst/>
          </a:prstGeom>
          <a:noFill/>
          <a:ln/>
        </p:spPr>
        <p:txBody>
          <a:bodyPr wrap="square" lIns="0" tIns="0" rIns="0" bIns="0" rtlCol="0" anchor="t"/>
          <a:lstStyle/>
          <a:p>
            <a:pPr algn="l" indent="0" marL="0">
              <a:lnSpc>
                <a:spcPct val="112000"/>
              </a:lnSpc>
              <a:buNone/>
            </a:pPr>
            <a:r>
              <a:rPr lang="en-US" sz="1100" dirty="0">
                <a:solidFill>
                  <a:schemeClr val="bg1"/>
                </a:solidFill>
              </a:rPr>
              <a:t>Prepared for Ayushi and the MACK &amp; Co team</a:t>
            </a:r>
            <a:endParaRPr lang="en-US" sz="1100" dirty="0"/>
          </a:p>
        </p:txBody>
      </p:sp>
      <p:sp>
        <p:nvSpPr>
          <p:cNvPr id="9" name="Text 5"/>
          <p:cNvSpPr txBox="1"/>
          <p:nvPr/>
        </p:nvSpPr>
        <p:spPr>
          <a:xfrm>
            <a:off x="640080" y="5852160"/>
            <a:ext cx="4754880" cy="256032"/>
          </a:xfrm>
          <a:prstGeom prst="rect">
            <a:avLst/>
          </a:prstGeom>
          <a:noFill/>
          <a:ln/>
        </p:spPr>
        <p:txBody>
          <a:bodyPr wrap="square" lIns="0" tIns="0" rIns="0" bIns="0" rtlCol="0" anchor="t"/>
          <a:lstStyle/>
          <a:p>
            <a:pPr algn="l" indent="0" marL="0">
              <a:lnSpc>
                <a:spcPct val="112000"/>
              </a:lnSpc>
              <a:buNone/>
            </a:pPr>
            <a:r>
              <a:rPr lang="en-US" sz="1100" dirty="0">
                <a:solidFill>
                  <a:schemeClr val="accent4"/>
                </a:solidFill>
              </a:rPr>
              <a:t>October 2026  ·  Yash Sharma</a:t>
            </a:r>
            <a:endParaRPr lang="en-US" sz="1100" dirty="0"/>
          </a:p>
        </p:txBody>
      </p:sp>
      <p:sp>
        <p:nvSpPr>
          <p:cNvPr id="10" name="Text 6"/>
          <p:cNvSpPr txBox="1"/>
          <p:nvPr/>
        </p:nvSpPr>
        <p:spPr>
          <a:xfrm>
            <a:off x="640080" y="6355080"/>
            <a:ext cx="4754880" cy="201168"/>
          </a:xfrm>
          <a:prstGeom prst="rect">
            <a:avLst/>
          </a:prstGeom>
          <a:noFill/>
          <a:ln/>
        </p:spPr>
        <p:txBody>
          <a:bodyPr wrap="square" lIns="0" tIns="0" rIns="0" bIns="0" rtlCol="0" anchor="t"/>
          <a:lstStyle/>
          <a:p>
            <a:pPr algn="l" indent="0" marL="0">
              <a:lnSpc>
                <a:spcPct val="112000"/>
              </a:lnSpc>
              <a:buNone/>
            </a:pPr>
            <a:r>
              <a:rPr lang="en-US" sz="850" dirty="0">
                <a:solidFill>
                  <a:schemeClr val="accent4"/>
                </a:solidFill>
              </a:rPr>
              <a:t>Cover: Agra Fort Project, Dharampur — photography</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01 — THE DIGITAL DESTINATION</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One destination for every way MACK is found</a:t>
            </a:r>
            <a:endParaRPr lang="en-US" sz="3200" dirty="0"/>
          </a:p>
        </p:txBody>
      </p:sp>
      <p:sp>
        <p:nvSpPr>
          <p:cNvPr id="5" name="Text 2"/>
          <p:cNvSpPr txBox="1"/>
          <p:nvPr/>
        </p:nvSpPr>
        <p:spPr>
          <a:xfrm>
            <a:off x="548640" y="1783080"/>
            <a:ext cx="187452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DISCOVERY</a:t>
            </a:r>
            <a:endParaRPr lang="en-US" sz="950" dirty="0"/>
          </a:p>
        </p:txBody>
      </p:sp>
      <p:sp>
        <p:nvSpPr>
          <p:cNvPr id="6" name="Shape 3"/>
          <p:cNvSpPr/>
          <p:nvPr/>
        </p:nvSpPr>
        <p:spPr>
          <a:xfrm>
            <a:off x="548640" y="2148840"/>
            <a:ext cx="1874520" cy="2606040"/>
          </a:xfrm>
          <a:prstGeom prst="rect">
            <a:avLst/>
          </a:prstGeom>
          <a:ln w="9525">
            <a:solidFill>
              <a:schemeClr val="tx1"/>
            </a:solidFill>
            <a:prstDash val="solid"/>
          </a:ln>
        </p:spPr>
      </p:sp>
      <p:sp>
        <p:nvSpPr>
          <p:cNvPr id="7" name="Text 4"/>
          <p:cNvSpPr txBox="1"/>
          <p:nvPr/>
        </p:nvSpPr>
        <p:spPr>
          <a:xfrm>
            <a:off x="731520" y="2148840"/>
            <a:ext cx="1600200" cy="521208"/>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Google Search</a:t>
            </a:r>
            <a:endParaRPr lang="en-US" sz="1400" dirty="0"/>
          </a:p>
        </p:txBody>
      </p:sp>
      <p:sp>
        <p:nvSpPr>
          <p:cNvPr id="8" name="Shape 5"/>
          <p:cNvSpPr/>
          <p:nvPr/>
        </p:nvSpPr>
        <p:spPr>
          <a:xfrm>
            <a:off x="685800" y="2670048"/>
            <a:ext cx="1600200" cy="0"/>
          </a:xfrm>
          <a:prstGeom prst="line">
            <a:avLst/>
          </a:prstGeom>
          <a:noFill/>
          <a:ln w="9525">
            <a:solidFill>
              <a:schemeClr val="accent5"/>
            </a:solidFill>
            <a:prstDash val="solid"/>
          </a:ln>
        </p:spPr>
      </p:sp>
      <p:sp>
        <p:nvSpPr>
          <p:cNvPr id="9" name="Text 6"/>
          <p:cNvSpPr txBox="1"/>
          <p:nvPr/>
        </p:nvSpPr>
        <p:spPr>
          <a:xfrm>
            <a:off x="731520" y="2670048"/>
            <a:ext cx="1600200" cy="521208"/>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Google Maps</a:t>
            </a:r>
            <a:endParaRPr lang="en-US" sz="1400" dirty="0"/>
          </a:p>
        </p:txBody>
      </p:sp>
      <p:sp>
        <p:nvSpPr>
          <p:cNvPr id="10" name="Shape 7"/>
          <p:cNvSpPr/>
          <p:nvPr/>
        </p:nvSpPr>
        <p:spPr>
          <a:xfrm>
            <a:off x="685800" y="3191256"/>
            <a:ext cx="1600200" cy="0"/>
          </a:xfrm>
          <a:prstGeom prst="line">
            <a:avLst/>
          </a:prstGeom>
          <a:noFill/>
          <a:ln w="9525">
            <a:solidFill>
              <a:schemeClr val="accent5"/>
            </a:solidFill>
            <a:prstDash val="solid"/>
          </a:ln>
        </p:spPr>
      </p:sp>
      <p:sp>
        <p:nvSpPr>
          <p:cNvPr id="11" name="Text 8"/>
          <p:cNvSpPr txBox="1"/>
          <p:nvPr/>
        </p:nvSpPr>
        <p:spPr>
          <a:xfrm>
            <a:off x="731520" y="3191256"/>
            <a:ext cx="1600200" cy="521208"/>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Instagram</a:t>
            </a:r>
            <a:endParaRPr lang="en-US" sz="1400" dirty="0"/>
          </a:p>
        </p:txBody>
      </p:sp>
      <p:sp>
        <p:nvSpPr>
          <p:cNvPr id="12" name="Shape 9"/>
          <p:cNvSpPr/>
          <p:nvPr/>
        </p:nvSpPr>
        <p:spPr>
          <a:xfrm>
            <a:off x="685800" y="3712464"/>
            <a:ext cx="1600200" cy="0"/>
          </a:xfrm>
          <a:prstGeom prst="line">
            <a:avLst/>
          </a:prstGeom>
          <a:noFill/>
          <a:ln w="9525">
            <a:solidFill>
              <a:schemeClr val="accent5"/>
            </a:solidFill>
            <a:prstDash val="solid"/>
          </a:ln>
        </p:spPr>
      </p:sp>
      <p:sp>
        <p:nvSpPr>
          <p:cNvPr id="13" name="Text 10"/>
          <p:cNvSpPr txBox="1"/>
          <p:nvPr/>
        </p:nvSpPr>
        <p:spPr>
          <a:xfrm>
            <a:off x="731520" y="3712464"/>
            <a:ext cx="1600200" cy="521208"/>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Publications</a:t>
            </a:r>
            <a:endParaRPr lang="en-US" sz="1400" dirty="0"/>
          </a:p>
        </p:txBody>
      </p:sp>
      <p:sp>
        <p:nvSpPr>
          <p:cNvPr id="14" name="Shape 11"/>
          <p:cNvSpPr/>
          <p:nvPr/>
        </p:nvSpPr>
        <p:spPr>
          <a:xfrm>
            <a:off x="685800" y="4233672"/>
            <a:ext cx="1600200" cy="0"/>
          </a:xfrm>
          <a:prstGeom prst="line">
            <a:avLst/>
          </a:prstGeom>
          <a:noFill/>
          <a:ln w="9525">
            <a:solidFill>
              <a:schemeClr val="accent5"/>
            </a:solidFill>
            <a:prstDash val="solid"/>
          </a:ln>
        </p:spPr>
      </p:sp>
      <p:sp>
        <p:nvSpPr>
          <p:cNvPr id="15" name="Text 12"/>
          <p:cNvSpPr txBox="1"/>
          <p:nvPr/>
        </p:nvSpPr>
        <p:spPr>
          <a:xfrm>
            <a:off x="731520" y="4233672"/>
            <a:ext cx="1600200" cy="521208"/>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Referrals</a:t>
            </a:r>
            <a:endParaRPr lang="en-US" sz="1400" dirty="0"/>
          </a:p>
        </p:txBody>
      </p:sp>
      <p:sp>
        <p:nvSpPr>
          <p:cNvPr id="16" name="Shape 13"/>
          <p:cNvSpPr/>
          <p:nvPr/>
        </p:nvSpPr>
        <p:spPr>
          <a:xfrm>
            <a:off x="2487168" y="3451860"/>
            <a:ext cx="302438" cy="0"/>
          </a:xfrm>
          <a:prstGeom prst="line">
            <a:avLst/>
          </a:prstGeom>
          <a:noFill/>
          <a:ln w="11430">
            <a:solidFill>
              <a:schemeClr val="tx1"/>
            </a:solidFill>
            <a:prstDash val="solid"/>
            <a:tailEnd type="triangle"/>
          </a:ln>
        </p:spPr>
      </p:sp>
      <p:sp>
        <p:nvSpPr>
          <p:cNvPr id="17" name="Text 14"/>
          <p:cNvSpPr txBox="1"/>
          <p:nvPr/>
        </p:nvSpPr>
        <p:spPr>
          <a:xfrm>
            <a:off x="2853614" y="1783080"/>
            <a:ext cx="187452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DESTINATION</a:t>
            </a:r>
            <a:endParaRPr lang="en-US" sz="950" dirty="0"/>
          </a:p>
        </p:txBody>
      </p:sp>
      <p:sp>
        <p:nvSpPr>
          <p:cNvPr id="18" name="Shape 15"/>
          <p:cNvSpPr/>
          <p:nvPr/>
        </p:nvSpPr>
        <p:spPr>
          <a:xfrm>
            <a:off x="2853614" y="2148840"/>
            <a:ext cx="1874520" cy="2606040"/>
          </a:xfrm>
          <a:prstGeom prst="rect">
            <a:avLst/>
          </a:prstGeom>
          <a:solidFill>
            <a:schemeClr val="accent1"/>
          </a:solidFill>
          <a:ln/>
        </p:spPr>
      </p:sp>
      <p:sp>
        <p:nvSpPr>
          <p:cNvPr id="19" name="Text 16"/>
          <p:cNvSpPr txBox="1"/>
          <p:nvPr/>
        </p:nvSpPr>
        <p:spPr>
          <a:xfrm>
            <a:off x="3054782" y="2377440"/>
            <a:ext cx="1508760" cy="548640"/>
          </a:xfrm>
          <a:prstGeom prst="rect">
            <a:avLst/>
          </a:prstGeom>
          <a:noFill/>
          <a:ln/>
        </p:spPr>
        <p:txBody>
          <a:bodyPr wrap="square" lIns="0" tIns="0" rIns="0" bIns="0" rtlCol="0" anchor="t"/>
          <a:lstStyle/>
          <a:p>
            <a:pPr algn="l" indent="0" marL="0">
              <a:lnSpc>
                <a:spcPct val="112000"/>
              </a:lnSpc>
              <a:buNone/>
            </a:pPr>
            <a:r>
              <a:rPr lang="en-US" sz="3000" dirty="0">
                <a:solidFill>
                  <a:schemeClr val="bg1"/>
                </a:solidFill>
                <a:latin typeface="+mj-lt" pitchFamily="34" charset="0"/>
                <a:ea typeface="+mj-lt" pitchFamily="34" charset="-122"/>
                <a:cs typeface="+mj-lt" pitchFamily="34" charset="-120"/>
              </a:rPr>
              <a:t>MACK</a:t>
            </a:r>
            <a:endParaRPr lang="en-US" sz="3000" dirty="0"/>
          </a:p>
        </p:txBody>
      </p:sp>
      <p:sp>
        <p:nvSpPr>
          <p:cNvPr id="20" name="Text 17"/>
          <p:cNvSpPr txBox="1"/>
          <p:nvPr/>
        </p:nvSpPr>
        <p:spPr>
          <a:xfrm>
            <a:off x="3054782" y="3246120"/>
            <a:ext cx="1508760" cy="320040"/>
          </a:xfrm>
          <a:prstGeom prst="rect">
            <a:avLst/>
          </a:prstGeom>
          <a:noFill/>
          <a:ln/>
        </p:spPr>
        <p:txBody>
          <a:bodyPr wrap="square" lIns="0" tIns="0" rIns="0" bIns="0" rtlCol="0" anchor="t"/>
          <a:lstStyle/>
          <a:p>
            <a:pPr algn="l" indent="0" marL="0">
              <a:lnSpc>
                <a:spcPct val="112000"/>
              </a:lnSpc>
              <a:buNone/>
            </a:pPr>
            <a:r>
              <a:rPr lang="en-US" sz="1400" dirty="0">
                <a:solidFill>
                  <a:schemeClr val="accent4"/>
                </a:solidFill>
              </a:rPr>
              <a:t>Website</a:t>
            </a:r>
            <a:endParaRPr lang="en-US" sz="1400" dirty="0"/>
          </a:p>
        </p:txBody>
      </p:sp>
      <p:sp>
        <p:nvSpPr>
          <p:cNvPr id="21" name="Text 18"/>
          <p:cNvSpPr txBox="1"/>
          <p:nvPr/>
        </p:nvSpPr>
        <p:spPr>
          <a:xfrm>
            <a:off x="3054782" y="3657600"/>
            <a:ext cx="1508760" cy="320040"/>
          </a:xfrm>
          <a:prstGeom prst="rect">
            <a:avLst/>
          </a:prstGeom>
          <a:noFill/>
          <a:ln/>
        </p:spPr>
        <p:txBody>
          <a:bodyPr wrap="square" lIns="0" tIns="0" rIns="0" bIns="0" rtlCol="0" anchor="t"/>
          <a:lstStyle/>
          <a:p>
            <a:pPr algn="l" indent="0" marL="0">
              <a:lnSpc>
                <a:spcPct val="112000"/>
              </a:lnSpc>
              <a:buNone/>
            </a:pPr>
            <a:r>
              <a:rPr lang="en-US" sz="1400" dirty="0">
                <a:solidFill>
                  <a:schemeClr val="accent4"/>
                </a:solidFill>
              </a:rPr>
              <a:t>Portfolio</a:t>
            </a:r>
            <a:endParaRPr lang="en-US" sz="1400" dirty="0"/>
          </a:p>
        </p:txBody>
      </p:sp>
      <p:sp>
        <p:nvSpPr>
          <p:cNvPr id="22" name="Text 19"/>
          <p:cNvSpPr txBox="1"/>
          <p:nvPr/>
        </p:nvSpPr>
        <p:spPr>
          <a:xfrm>
            <a:off x="3054782" y="4069080"/>
            <a:ext cx="1508760" cy="320040"/>
          </a:xfrm>
          <a:prstGeom prst="rect">
            <a:avLst/>
          </a:prstGeom>
          <a:noFill/>
          <a:ln/>
        </p:spPr>
        <p:txBody>
          <a:bodyPr wrap="square" lIns="0" tIns="0" rIns="0" bIns="0" rtlCol="0" anchor="t"/>
          <a:lstStyle/>
          <a:p>
            <a:pPr algn="l" indent="0" marL="0">
              <a:lnSpc>
                <a:spcPct val="112000"/>
              </a:lnSpc>
              <a:buNone/>
            </a:pPr>
            <a:r>
              <a:rPr lang="en-US" sz="1400" dirty="0">
                <a:solidFill>
                  <a:schemeClr val="accent4"/>
                </a:solidFill>
              </a:rPr>
              <a:t>Studio identity</a:t>
            </a:r>
            <a:endParaRPr lang="en-US" sz="1400" dirty="0"/>
          </a:p>
        </p:txBody>
      </p:sp>
      <p:sp>
        <p:nvSpPr>
          <p:cNvPr id="23" name="Shape 20"/>
          <p:cNvSpPr/>
          <p:nvPr/>
        </p:nvSpPr>
        <p:spPr>
          <a:xfrm>
            <a:off x="4792142" y="3451860"/>
            <a:ext cx="302438" cy="0"/>
          </a:xfrm>
          <a:prstGeom prst="line">
            <a:avLst/>
          </a:prstGeom>
          <a:noFill/>
          <a:ln w="11430">
            <a:solidFill>
              <a:schemeClr val="tx1"/>
            </a:solidFill>
            <a:prstDash val="solid"/>
            <a:tailEnd type="triangle"/>
          </a:ln>
        </p:spPr>
      </p:sp>
      <p:sp>
        <p:nvSpPr>
          <p:cNvPr id="24" name="Text 21"/>
          <p:cNvSpPr txBox="1"/>
          <p:nvPr/>
        </p:nvSpPr>
        <p:spPr>
          <a:xfrm>
            <a:off x="5158588" y="1783080"/>
            <a:ext cx="187452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DISCOVERY &amp; TRUST</a:t>
            </a:r>
            <a:endParaRPr lang="en-US" sz="950" dirty="0"/>
          </a:p>
        </p:txBody>
      </p:sp>
      <p:sp>
        <p:nvSpPr>
          <p:cNvPr id="25" name="Shape 22"/>
          <p:cNvSpPr/>
          <p:nvPr/>
        </p:nvSpPr>
        <p:spPr>
          <a:xfrm>
            <a:off x="5158588" y="2148840"/>
            <a:ext cx="1874520" cy="2606040"/>
          </a:xfrm>
          <a:prstGeom prst="rect">
            <a:avLst/>
          </a:prstGeom>
          <a:ln w="9525">
            <a:solidFill>
              <a:schemeClr val="tx1"/>
            </a:solidFill>
            <a:prstDash val="solid"/>
          </a:ln>
        </p:spPr>
      </p:sp>
      <p:sp>
        <p:nvSpPr>
          <p:cNvPr id="26" name="Text 23"/>
          <p:cNvSpPr txBox="1"/>
          <p:nvPr/>
        </p:nvSpPr>
        <p:spPr>
          <a:xfrm>
            <a:off x="5341468" y="2148840"/>
            <a:ext cx="1600200" cy="651510"/>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Projects</a:t>
            </a:r>
            <a:endParaRPr lang="en-US" sz="1400" dirty="0"/>
          </a:p>
        </p:txBody>
      </p:sp>
      <p:sp>
        <p:nvSpPr>
          <p:cNvPr id="27" name="Shape 24"/>
          <p:cNvSpPr/>
          <p:nvPr/>
        </p:nvSpPr>
        <p:spPr>
          <a:xfrm>
            <a:off x="5295748" y="2800350"/>
            <a:ext cx="1600200" cy="0"/>
          </a:xfrm>
          <a:prstGeom prst="line">
            <a:avLst/>
          </a:prstGeom>
          <a:noFill/>
          <a:ln w="9525">
            <a:solidFill>
              <a:schemeClr val="accent5"/>
            </a:solidFill>
            <a:prstDash val="solid"/>
          </a:ln>
        </p:spPr>
      </p:sp>
      <p:sp>
        <p:nvSpPr>
          <p:cNvPr id="28" name="Text 25"/>
          <p:cNvSpPr txBox="1"/>
          <p:nvPr/>
        </p:nvSpPr>
        <p:spPr>
          <a:xfrm>
            <a:off x="5341468" y="2800350"/>
            <a:ext cx="1600200" cy="651510"/>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Services</a:t>
            </a:r>
            <a:endParaRPr lang="en-US" sz="1400" dirty="0"/>
          </a:p>
        </p:txBody>
      </p:sp>
      <p:sp>
        <p:nvSpPr>
          <p:cNvPr id="29" name="Shape 26"/>
          <p:cNvSpPr/>
          <p:nvPr/>
        </p:nvSpPr>
        <p:spPr>
          <a:xfrm>
            <a:off x="5295748" y="3451860"/>
            <a:ext cx="1600200" cy="0"/>
          </a:xfrm>
          <a:prstGeom prst="line">
            <a:avLst/>
          </a:prstGeom>
          <a:noFill/>
          <a:ln w="9525">
            <a:solidFill>
              <a:schemeClr val="accent5"/>
            </a:solidFill>
            <a:prstDash val="solid"/>
          </a:ln>
        </p:spPr>
      </p:sp>
      <p:sp>
        <p:nvSpPr>
          <p:cNvPr id="30" name="Text 27"/>
          <p:cNvSpPr txBox="1"/>
          <p:nvPr/>
        </p:nvSpPr>
        <p:spPr>
          <a:xfrm>
            <a:off x="5341468" y="3451860"/>
            <a:ext cx="1600200" cy="651510"/>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Architecture</a:t>
            </a:r>
            <a:endParaRPr lang="en-US" sz="1400" dirty="0"/>
          </a:p>
        </p:txBody>
      </p:sp>
      <p:sp>
        <p:nvSpPr>
          <p:cNvPr id="31" name="Shape 28"/>
          <p:cNvSpPr/>
          <p:nvPr/>
        </p:nvSpPr>
        <p:spPr>
          <a:xfrm>
            <a:off x="5295748" y="4103370"/>
            <a:ext cx="1600200" cy="0"/>
          </a:xfrm>
          <a:prstGeom prst="line">
            <a:avLst/>
          </a:prstGeom>
          <a:noFill/>
          <a:ln w="9525">
            <a:solidFill>
              <a:schemeClr val="accent5"/>
            </a:solidFill>
            <a:prstDash val="solid"/>
          </a:ln>
        </p:spPr>
      </p:sp>
      <p:sp>
        <p:nvSpPr>
          <p:cNvPr id="32" name="Text 29"/>
          <p:cNvSpPr txBox="1"/>
          <p:nvPr/>
        </p:nvSpPr>
        <p:spPr>
          <a:xfrm>
            <a:off x="5341468" y="4103370"/>
            <a:ext cx="1600200" cy="651510"/>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Studio</a:t>
            </a:r>
            <a:endParaRPr lang="en-US" sz="1400" dirty="0"/>
          </a:p>
        </p:txBody>
      </p:sp>
      <p:sp>
        <p:nvSpPr>
          <p:cNvPr id="33" name="Shape 30"/>
          <p:cNvSpPr/>
          <p:nvPr/>
        </p:nvSpPr>
        <p:spPr>
          <a:xfrm>
            <a:off x="7097116" y="3451860"/>
            <a:ext cx="302438" cy="0"/>
          </a:xfrm>
          <a:prstGeom prst="line">
            <a:avLst/>
          </a:prstGeom>
          <a:noFill/>
          <a:ln w="11430">
            <a:solidFill>
              <a:schemeClr val="tx1"/>
            </a:solidFill>
            <a:prstDash val="solid"/>
            <a:tailEnd type="triangle"/>
          </a:ln>
        </p:spPr>
      </p:sp>
      <p:sp>
        <p:nvSpPr>
          <p:cNvPr id="34" name="Text 31"/>
          <p:cNvSpPr txBox="1"/>
          <p:nvPr/>
        </p:nvSpPr>
        <p:spPr>
          <a:xfrm>
            <a:off x="7463561" y="1783080"/>
            <a:ext cx="187452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ACTION</a:t>
            </a:r>
            <a:endParaRPr lang="en-US" sz="950" dirty="0"/>
          </a:p>
        </p:txBody>
      </p:sp>
      <p:sp>
        <p:nvSpPr>
          <p:cNvPr id="35" name="Shape 32"/>
          <p:cNvSpPr/>
          <p:nvPr/>
        </p:nvSpPr>
        <p:spPr>
          <a:xfrm>
            <a:off x="7463561" y="2148840"/>
            <a:ext cx="1874520" cy="2606040"/>
          </a:xfrm>
          <a:prstGeom prst="rect">
            <a:avLst/>
          </a:prstGeom>
          <a:ln w="9525">
            <a:solidFill>
              <a:schemeClr val="tx1"/>
            </a:solidFill>
            <a:prstDash val="solid"/>
          </a:ln>
        </p:spPr>
      </p:sp>
      <p:sp>
        <p:nvSpPr>
          <p:cNvPr id="36" name="Text 33"/>
          <p:cNvSpPr txBox="1"/>
          <p:nvPr/>
        </p:nvSpPr>
        <p:spPr>
          <a:xfrm>
            <a:off x="7646441" y="2148840"/>
            <a:ext cx="1600200" cy="651510"/>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Enquiry</a:t>
            </a:r>
            <a:endParaRPr lang="en-US" sz="1400" dirty="0"/>
          </a:p>
        </p:txBody>
      </p:sp>
      <p:sp>
        <p:nvSpPr>
          <p:cNvPr id="37" name="Shape 34"/>
          <p:cNvSpPr/>
          <p:nvPr/>
        </p:nvSpPr>
        <p:spPr>
          <a:xfrm>
            <a:off x="7600721" y="2800350"/>
            <a:ext cx="1600200" cy="0"/>
          </a:xfrm>
          <a:prstGeom prst="line">
            <a:avLst/>
          </a:prstGeom>
          <a:noFill/>
          <a:ln w="9525">
            <a:solidFill>
              <a:schemeClr val="accent5"/>
            </a:solidFill>
            <a:prstDash val="solid"/>
          </a:ln>
        </p:spPr>
      </p:sp>
      <p:sp>
        <p:nvSpPr>
          <p:cNvPr id="38" name="Text 35"/>
          <p:cNvSpPr txBox="1"/>
          <p:nvPr/>
        </p:nvSpPr>
        <p:spPr>
          <a:xfrm>
            <a:off x="7646441" y="2800350"/>
            <a:ext cx="1600200" cy="651510"/>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Call</a:t>
            </a:r>
            <a:endParaRPr lang="en-US" sz="1400" dirty="0"/>
          </a:p>
        </p:txBody>
      </p:sp>
      <p:sp>
        <p:nvSpPr>
          <p:cNvPr id="39" name="Shape 36"/>
          <p:cNvSpPr/>
          <p:nvPr/>
        </p:nvSpPr>
        <p:spPr>
          <a:xfrm>
            <a:off x="7600721" y="3451860"/>
            <a:ext cx="1600200" cy="0"/>
          </a:xfrm>
          <a:prstGeom prst="line">
            <a:avLst/>
          </a:prstGeom>
          <a:noFill/>
          <a:ln w="9525">
            <a:solidFill>
              <a:schemeClr val="accent5"/>
            </a:solidFill>
            <a:prstDash val="solid"/>
          </a:ln>
        </p:spPr>
      </p:sp>
      <p:sp>
        <p:nvSpPr>
          <p:cNvPr id="40" name="Text 37"/>
          <p:cNvSpPr txBox="1"/>
          <p:nvPr/>
        </p:nvSpPr>
        <p:spPr>
          <a:xfrm>
            <a:off x="7646441" y="3451860"/>
            <a:ext cx="1600200" cy="651510"/>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Directions</a:t>
            </a:r>
            <a:endParaRPr lang="en-US" sz="1400" dirty="0"/>
          </a:p>
        </p:txBody>
      </p:sp>
      <p:sp>
        <p:nvSpPr>
          <p:cNvPr id="41" name="Shape 38"/>
          <p:cNvSpPr/>
          <p:nvPr/>
        </p:nvSpPr>
        <p:spPr>
          <a:xfrm>
            <a:off x="7600721" y="4103370"/>
            <a:ext cx="1600200" cy="0"/>
          </a:xfrm>
          <a:prstGeom prst="line">
            <a:avLst/>
          </a:prstGeom>
          <a:noFill/>
          <a:ln w="9525">
            <a:solidFill>
              <a:schemeClr val="accent5"/>
            </a:solidFill>
            <a:prstDash val="solid"/>
          </a:ln>
        </p:spPr>
      </p:sp>
      <p:sp>
        <p:nvSpPr>
          <p:cNvPr id="42" name="Text 39"/>
          <p:cNvSpPr txBox="1"/>
          <p:nvPr/>
        </p:nvSpPr>
        <p:spPr>
          <a:xfrm>
            <a:off x="7646441" y="4103370"/>
            <a:ext cx="1600200" cy="651510"/>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Email</a:t>
            </a:r>
            <a:endParaRPr lang="en-US" sz="1400" dirty="0"/>
          </a:p>
        </p:txBody>
      </p:sp>
      <p:sp>
        <p:nvSpPr>
          <p:cNvPr id="43" name="Shape 40"/>
          <p:cNvSpPr/>
          <p:nvPr/>
        </p:nvSpPr>
        <p:spPr>
          <a:xfrm>
            <a:off x="9402089" y="3451860"/>
            <a:ext cx="302438" cy="0"/>
          </a:xfrm>
          <a:prstGeom prst="line">
            <a:avLst/>
          </a:prstGeom>
          <a:noFill/>
          <a:ln w="11430">
            <a:solidFill>
              <a:schemeClr val="tx1"/>
            </a:solidFill>
            <a:prstDash val="solid"/>
            <a:tailEnd type="triangle"/>
          </a:ln>
        </p:spPr>
      </p:sp>
      <p:sp>
        <p:nvSpPr>
          <p:cNvPr id="44" name="Text 41"/>
          <p:cNvSpPr txBox="1"/>
          <p:nvPr/>
        </p:nvSpPr>
        <p:spPr>
          <a:xfrm>
            <a:off x="9768535" y="1783080"/>
            <a:ext cx="187452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MEASUREMENT</a:t>
            </a:r>
            <a:endParaRPr lang="en-US" sz="950" dirty="0"/>
          </a:p>
        </p:txBody>
      </p:sp>
      <p:sp>
        <p:nvSpPr>
          <p:cNvPr id="45" name="Shape 42"/>
          <p:cNvSpPr/>
          <p:nvPr/>
        </p:nvSpPr>
        <p:spPr>
          <a:xfrm>
            <a:off x="9768535" y="2148840"/>
            <a:ext cx="1874520" cy="2606040"/>
          </a:xfrm>
          <a:prstGeom prst="rect">
            <a:avLst/>
          </a:prstGeom>
          <a:solidFill>
            <a:schemeClr val="bg2"/>
          </a:solidFill>
          <a:ln w="9525">
            <a:solidFill>
              <a:schemeClr val="tx1"/>
            </a:solidFill>
            <a:prstDash val="solid"/>
          </a:ln>
        </p:spPr>
      </p:sp>
      <p:sp>
        <p:nvSpPr>
          <p:cNvPr id="46" name="Text 43"/>
          <p:cNvSpPr txBox="1"/>
          <p:nvPr/>
        </p:nvSpPr>
        <p:spPr>
          <a:xfrm>
            <a:off x="9951415" y="2148840"/>
            <a:ext cx="1600200" cy="868680"/>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Analytics</a:t>
            </a:r>
            <a:endParaRPr lang="en-US" sz="1400" dirty="0"/>
          </a:p>
        </p:txBody>
      </p:sp>
      <p:sp>
        <p:nvSpPr>
          <p:cNvPr id="47" name="Shape 44"/>
          <p:cNvSpPr/>
          <p:nvPr/>
        </p:nvSpPr>
        <p:spPr>
          <a:xfrm>
            <a:off x="9905695" y="3017520"/>
            <a:ext cx="1600200" cy="0"/>
          </a:xfrm>
          <a:prstGeom prst="line">
            <a:avLst/>
          </a:prstGeom>
          <a:noFill/>
          <a:ln w="9525">
            <a:solidFill>
              <a:schemeClr val="accent5"/>
            </a:solidFill>
            <a:prstDash val="solid"/>
          </a:ln>
        </p:spPr>
      </p:sp>
      <p:sp>
        <p:nvSpPr>
          <p:cNvPr id="48" name="Text 45"/>
          <p:cNvSpPr txBox="1"/>
          <p:nvPr/>
        </p:nvSpPr>
        <p:spPr>
          <a:xfrm>
            <a:off x="9951415" y="3017520"/>
            <a:ext cx="1600200" cy="868680"/>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Search Console</a:t>
            </a:r>
            <a:endParaRPr lang="en-US" sz="1400" dirty="0"/>
          </a:p>
        </p:txBody>
      </p:sp>
      <p:sp>
        <p:nvSpPr>
          <p:cNvPr id="49" name="Shape 46"/>
          <p:cNvSpPr/>
          <p:nvPr/>
        </p:nvSpPr>
        <p:spPr>
          <a:xfrm>
            <a:off x="9905695" y="3886200"/>
            <a:ext cx="1600200" cy="0"/>
          </a:xfrm>
          <a:prstGeom prst="line">
            <a:avLst/>
          </a:prstGeom>
          <a:noFill/>
          <a:ln w="9525">
            <a:solidFill>
              <a:schemeClr val="accent5"/>
            </a:solidFill>
            <a:prstDash val="solid"/>
          </a:ln>
        </p:spPr>
      </p:sp>
      <p:sp>
        <p:nvSpPr>
          <p:cNvPr id="50" name="Text 47"/>
          <p:cNvSpPr txBox="1"/>
          <p:nvPr/>
        </p:nvSpPr>
        <p:spPr>
          <a:xfrm>
            <a:off x="9951415" y="3886200"/>
            <a:ext cx="1600200" cy="868680"/>
          </a:xfrm>
          <a:prstGeom prst="rect">
            <a:avLst/>
          </a:prstGeom>
          <a:noFill/>
          <a:ln/>
        </p:spPr>
        <p:txBody>
          <a:bodyPr wrap="square" lIns="0" tIns="0" rIns="0" bIns="0" rtlCol="0" anchor="ctr"/>
          <a:lstStyle/>
          <a:p>
            <a:pPr algn="l" indent="0" marL="0">
              <a:lnSpc>
                <a:spcPct val="112000"/>
              </a:lnSpc>
              <a:buNone/>
            </a:pPr>
            <a:r>
              <a:rPr lang="en-US" sz="1400" dirty="0">
                <a:solidFill>
                  <a:schemeClr val="tx1"/>
                </a:solidFill>
                <a:latin typeface="+mj-lt" pitchFamily="34" charset="0"/>
                <a:ea typeface="+mj-lt" pitchFamily="34" charset="-122"/>
                <a:cs typeface="+mj-lt" pitchFamily="34" charset="-120"/>
              </a:rPr>
              <a:t>Business Profile</a:t>
            </a:r>
            <a:endParaRPr lang="en-US" sz="1400" dirty="0"/>
          </a:p>
        </p:txBody>
      </p:sp>
      <p:sp>
        <p:nvSpPr>
          <p:cNvPr id="51" name="Shape 48"/>
          <p:cNvSpPr/>
          <p:nvPr/>
        </p:nvSpPr>
        <p:spPr>
          <a:xfrm>
            <a:off x="10705795" y="4754880"/>
            <a:ext cx="0" cy="502920"/>
          </a:xfrm>
          <a:prstGeom prst="line">
            <a:avLst/>
          </a:prstGeom>
          <a:noFill/>
          <a:ln w="12700">
            <a:solidFill>
              <a:schemeClr val="accent3"/>
            </a:solidFill>
            <a:prstDash val="solid"/>
          </a:ln>
        </p:spPr>
      </p:sp>
      <p:sp>
        <p:nvSpPr>
          <p:cNvPr id="52" name="Shape 49"/>
          <p:cNvSpPr/>
          <p:nvPr/>
        </p:nvSpPr>
        <p:spPr>
          <a:xfrm flipH="1">
            <a:off x="1485900" y="5257800"/>
            <a:ext cx="9219895" cy="0"/>
          </a:xfrm>
          <a:prstGeom prst="line">
            <a:avLst/>
          </a:prstGeom>
          <a:noFill/>
          <a:ln w="12700">
            <a:solidFill>
              <a:schemeClr val="accent3"/>
            </a:solidFill>
            <a:prstDash val="solid"/>
          </a:ln>
        </p:spPr>
      </p:sp>
      <p:sp>
        <p:nvSpPr>
          <p:cNvPr id="53" name="Shape 50"/>
          <p:cNvSpPr/>
          <p:nvPr/>
        </p:nvSpPr>
        <p:spPr>
          <a:xfrm flipV="1">
            <a:off x="1485900" y="4791456"/>
            <a:ext cx="0" cy="466344"/>
          </a:xfrm>
          <a:prstGeom prst="line">
            <a:avLst/>
          </a:prstGeom>
          <a:noFill/>
          <a:ln w="12700">
            <a:solidFill>
              <a:schemeClr val="accent3"/>
            </a:solidFill>
            <a:prstDash val="solid"/>
            <a:tailEnd type="triangle"/>
          </a:ln>
        </p:spPr>
      </p:sp>
      <p:sp>
        <p:nvSpPr>
          <p:cNvPr id="54" name="Shape 51"/>
          <p:cNvSpPr/>
          <p:nvPr/>
        </p:nvSpPr>
        <p:spPr>
          <a:xfrm>
            <a:off x="4678528" y="5056632"/>
            <a:ext cx="2834640" cy="402336"/>
          </a:xfrm>
          <a:prstGeom prst="rect">
            <a:avLst/>
          </a:prstGeom>
          <a:solidFill>
            <a:schemeClr val="bg1"/>
          </a:solidFill>
          <a:ln/>
        </p:spPr>
      </p:sp>
      <p:sp>
        <p:nvSpPr>
          <p:cNvPr id="55" name="Text 52"/>
          <p:cNvSpPr txBox="1"/>
          <p:nvPr/>
        </p:nvSpPr>
        <p:spPr>
          <a:xfrm>
            <a:off x="4678528" y="5056632"/>
            <a:ext cx="2834640" cy="402336"/>
          </a:xfrm>
          <a:prstGeom prst="rect">
            <a:avLst/>
          </a:prstGeom>
          <a:noFill/>
          <a:ln/>
        </p:spPr>
        <p:txBody>
          <a:bodyPr wrap="square" lIns="0" tIns="0" rIns="0" bIns="0" rtlCol="0" anchor="ctr"/>
          <a:lstStyle/>
          <a:p>
            <a:pPr algn="ctr" indent="0" marL="0">
              <a:lnSpc>
                <a:spcPct val="112000"/>
              </a:lnSpc>
              <a:buNone/>
            </a:pPr>
            <a:r>
              <a:rPr lang="en-US" sz="1600" i="1" dirty="0">
                <a:solidFill>
                  <a:schemeClr val="accent3"/>
                </a:solidFill>
                <a:latin typeface="+mj-lt" pitchFamily="34" charset="0"/>
                <a:ea typeface="+mj-lt" pitchFamily="34" charset="-122"/>
                <a:cs typeface="+mj-lt" pitchFamily="34" charset="-120"/>
              </a:rPr>
              <a:t>Continuous improvement</a:t>
            </a:r>
            <a:endParaRPr lang="en-US" sz="16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02 — THE DISCOVERY SYSTEM</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SEO is one part of a connected system</a:t>
            </a:r>
            <a:endParaRPr lang="en-US" sz="3200" dirty="0"/>
          </a:p>
        </p:txBody>
      </p:sp>
      <p:pic>
        <p:nvPicPr>
          <p:cNvPr id="5" name="Image 0" descr="Udaipur Resort sandstone façade at dusk (visualisation)">    </p:cNvPr>
          <p:cNvPicPr>
            <a:picLocks noChangeAspect="1"/>
          </p:cNvPicPr>
          <p:nvPr/>
        </p:nvPicPr>
        <p:blipFill>
          <a:blip r:embed="rId1"/>
          <a:srcRect l="0" r="0" t="0" b="0"/>
          <a:stretch/>
        </p:blipFill>
        <p:spPr>
          <a:xfrm>
            <a:off x="548640" y="1600200"/>
            <a:ext cx="3429000" cy="4526280"/>
          </a:xfrm>
          <a:prstGeom prst="rect">
            <a:avLst/>
          </a:prstGeom>
        </p:spPr>
      </p:pic>
      <p:sp>
        <p:nvSpPr>
          <p:cNvPr id="6" name="Text 2"/>
          <p:cNvSpPr txBox="1"/>
          <p:nvPr/>
        </p:nvSpPr>
        <p:spPr>
          <a:xfrm>
            <a:off x="548640" y="6172200"/>
            <a:ext cx="3429000" cy="182880"/>
          </a:xfrm>
          <a:prstGeom prst="rect">
            <a:avLst/>
          </a:prstGeom>
          <a:noFill/>
          <a:ln/>
        </p:spPr>
        <p:txBody>
          <a:bodyPr wrap="square" lIns="0" tIns="0" rIns="0" bIns="0" rtlCol="0" anchor="t"/>
          <a:lstStyle/>
          <a:p>
            <a:pPr algn="l" indent="0" marL="0">
              <a:lnSpc>
                <a:spcPct val="112000"/>
              </a:lnSpc>
              <a:buNone/>
            </a:pPr>
            <a:r>
              <a:rPr lang="en-US" sz="850" dirty="0">
                <a:solidFill>
                  <a:schemeClr val="accent2"/>
                </a:solidFill>
              </a:rPr>
              <a:t>Udaipur Resort, Rajasthan — visualisation</a:t>
            </a:r>
            <a:endParaRPr lang="en-US" sz="850" dirty="0"/>
          </a:p>
        </p:txBody>
      </p:sp>
      <p:sp>
        <p:nvSpPr>
          <p:cNvPr id="7" name="Shape 3"/>
          <p:cNvSpPr/>
          <p:nvPr/>
        </p:nvSpPr>
        <p:spPr>
          <a:xfrm>
            <a:off x="4572000" y="1600200"/>
            <a:ext cx="3017520" cy="402336"/>
          </a:xfrm>
          <a:prstGeom prst="rect">
            <a:avLst/>
          </a:prstGeom>
          <a:ln w="9525">
            <a:solidFill>
              <a:schemeClr val="tx1"/>
            </a:solidFill>
            <a:prstDash val="solid"/>
          </a:ln>
        </p:spPr>
      </p:sp>
      <p:sp>
        <p:nvSpPr>
          <p:cNvPr id="8" name="Text 4"/>
          <p:cNvSpPr txBox="1"/>
          <p:nvPr/>
        </p:nvSpPr>
        <p:spPr>
          <a:xfrm>
            <a:off x="4572000" y="1600200"/>
            <a:ext cx="3017520" cy="402336"/>
          </a:xfrm>
          <a:prstGeom prst="rect">
            <a:avLst/>
          </a:prstGeom>
          <a:noFill/>
          <a:ln/>
        </p:spPr>
        <p:txBody>
          <a:bodyPr wrap="square" lIns="0" tIns="0" rIns="0" bIns="0" rtlCol="0" anchor="ctr"/>
          <a:lstStyle/>
          <a:p>
            <a:pPr algn="ctr" indent="0" marL="0">
              <a:lnSpc>
                <a:spcPct val="112000"/>
              </a:lnSpc>
              <a:buNone/>
            </a:pPr>
            <a:r>
              <a:rPr lang="en-US" sz="1300" dirty="0">
                <a:solidFill>
                  <a:schemeClr val="tx1"/>
                </a:solidFill>
              </a:rPr>
              <a:t>Content · Social · Publications</a:t>
            </a:r>
            <a:endParaRPr lang="en-US" sz="1300" dirty="0"/>
          </a:p>
        </p:txBody>
      </p:sp>
      <p:sp>
        <p:nvSpPr>
          <p:cNvPr id="9" name="Shape 5"/>
          <p:cNvSpPr/>
          <p:nvPr/>
        </p:nvSpPr>
        <p:spPr>
          <a:xfrm>
            <a:off x="6080760" y="2039112"/>
            <a:ext cx="0" cy="182880"/>
          </a:xfrm>
          <a:prstGeom prst="line">
            <a:avLst/>
          </a:prstGeom>
          <a:noFill/>
          <a:ln w="9525">
            <a:solidFill>
              <a:schemeClr val="tx1"/>
            </a:solidFill>
            <a:prstDash val="solid"/>
            <a:tailEnd type="triangle"/>
          </a:ln>
        </p:spPr>
      </p:sp>
      <p:sp>
        <p:nvSpPr>
          <p:cNvPr id="10" name="Shape 6"/>
          <p:cNvSpPr/>
          <p:nvPr/>
        </p:nvSpPr>
        <p:spPr>
          <a:xfrm>
            <a:off x="4572000" y="2258568"/>
            <a:ext cx="3017520" cy="402336"/>
          </a:xfrm>
          <a:prstGeom prst="rect">
            <a:avLst/>
          </a:prstGeom>
          <a:ln w="9525">
            <a:solidFill>
              <a:schemeClr val="tx1"/>
            </a:solidFill>
            <a:prstDash val="solid"/>
          </a:ln>
        </p:spPr>
      </p:sp>
      <p:sp>
        <p:nvSpPr>
          <p:cNvPr id="11" name="Text 7"/>
          <p:cNvSpPr txBox="1"/>
          <p:nvPr/>
        </p:nvSpPr>
        <p:spPr>
          <a:xfrm>
            <a:off x="4572000" y="2258568"/>
            <a:ext cx="3017520" cy="402336"/>
          </a:xfrm>
          <a:prstGeom prst="rect">
            <a:avLst/>
          </a:prstGeom>
          <a:noFill/>
          <a:ln/>
        </p:spPr>
        <p:txBody>
          <a:bodyPr wrap="square" lIns="0" tIns="0" rIns="0" bIns="0" rtlCol="0" anchor="ctr"/>
          <a:lstStyle/>
          <a:p>
            <a:pPr algn="ctr" indent="0" marL="0">
              <a:lnSpc>
                <a:spcPct val="112000"/>
              </a:lnSpc>
              <a:buNone/>
            </a:pPr>
            <a:r>
              <a:rPr lang="en-US" sz="1300" dirty="0">
                <a:solidFill>
                  <a:schemeClr val="tx1"/>
                </a:solidFill>
              </a:rPr>
              <a:t>Awareness</a:t>
            </a:r>
            <a:endParaRPr lang="en-US" sz="1300" dirty="0"/>
          </a:p>
        </p:txBody>
      </p:sp>
      <p:sp>
        <p:nvSpPr>
          <p:cNvPr id="12" name="Shape 8"/>
          <p:cNvSpPr/>
          <p:nvPr/>
        </p:nvSpPr>
        <p:spPr>
          <a:xfrm>
            <a:off x="6080760" y="2697480"/>
            <a:ext cx="0" cy="182880"/>
          </a:xfrm>
          <a:prstGeom prst="line">
            <a:avLst/>
          </a:prstGeom>
          <a:noFill/>
          <a:ln w="9525">
            <a:solidFill>
              <a:schemeClr val="tx1"/>
            </a:solidFill>
            <a:prstDash val="solid"/>
            <a:tailEnd type="triangle"/>
          </a:ln>
        </p:spPr>
      </p:sp>
      <p:sp>
        <p:nvSpPr>
          <p:cNvPr id="13" name="Shape 9"/>
          <p:cNvSpPr/>
          <p:nvPr/>
        </p:nvSpPr>
        <p:spPr>
          <a:xfrm>
            <a:off x="4572000" y="2916936"/>
            <a:ext cx="3017520" cy="402336"/>
          </a:xfrm>
          <a:prstGeom prst="rect">
            <a:avLst/>
          </a:prstGeom>
          <a:ln w="9525">
            <a:solidFill>
              <a:schemeClr val="tx1"/>
            </a:solidFill>
            <a:prstDash val="solid"/>
          </a:ln>
        </p:spPr>
      </p:sp>
      <p:sp>
        <p:nvSpPr>
          <p:cNvPr id="14" name="Text 10"/>
          <p:cNvSpPr txBox="1"/>
          <p:nvPr/>
        </p:nvSpPr>
        <p:spPr>
          <a:xfrm>
            <a:off x="4572000" y="2916936"/>
            <a:ext cx="3017520" cy="402336"/>
          </a:xfrm>
          <a:prstGeom prst="rect">
            <a:avLst/>
          </a:prstGeom>
          <a:noFill/>
          <a:ln/>
        </p:spPr>
        <p:txBody>
          <a:bodyPr wrap="square" lIns="0" tIns="0" rIns="0" bIns="0" rtlCol="0" anchor="ctr"/>
          <a:lstStyle/>
          <a:p>
            <a:pPr algn="ctr" indent="0" marL="0">
              <a:lnSpc>
                <a:spcPct val="112000"/>
              </a:lnSpc>
              <a:buNone/>
            </a:pPr>
            <a:r>
              <a:rPr lang="en-US" sz="1300" dirty="0">
                <a:solidFill>
                  <a:schemeClr val="tx1"/>
                </a:solidFill>
              </a:rPr>
              <a:t>Search + Maps</a:t>
            </a:r>
            <a:endParaRPr lang="en-US" sz="1300" dirty="0"/>
          </a:p>
        </p:txBody>
      </p:sp>
      <p:sp>
        <p:nvSpPr>
          <p:cNvPr id="15" name="Shape 11"/>
          <p:cNvSpPr/>
          <p:nvPr/>
        </p:nvSpPr>
        <p:spPr>
          <a:xfrm>
            <a:off x="6080760" y="3355848"/>
            <a:ext cx="0" cy="182880"/>
          </a:xfrm>
          <a:prstGeom prst="line">
            <a:avLst/>
          </a:prstGeom>
          <a:noFill/>
          <a:ln w="9525">
            <a:solidFill>
              <a:schemeClr val="tx1"/>
            </a:solidFill>
            <a:prstDash val="solid"/>
            <a:tailEnd type="triangle"/>
          </a:ln>
        </p:spPr>
      </p:sp>
      <p:sp>
        <p:nvSpPr>
          <p:cNvPr id="16" name="Shape 12"/>
          <p:cNvSpPr/>
          <p:nvPr/>
        </p:nvSpPr>
        <p:spPr>
          <a:xfrm>
            <a:off x="4572000" y="3575304"/>
            <a:ext cx="3017520" cy="402336"/>
          </a:xfrm>
          <a:prstGeom prst="rect">
            <a:avLst/>
          </a:prstGeom>
          <a:solidFill>
            <a:schemeClr val="accent1"/>
          </a:solidFill>
          <a:ln/>
        </p:spPr>
      </p:sp>
      <p:sp>
        <p:nvSpPr>
          <p:cNvPr id="17" name="Text 13"/>
          <p:cNvSpPr txBox="1"/>
          <p:nvPr/>
        </p:nvSpPr>
        <p:spPr>
          <a:xfrm>
            <a:off x="4572000" y="3575304"/>
            <a:ext cx="3017520" cy="402336"/>
          </a:xfrm>
          <a:prstGeom prst="rect">
            <a:avLst/>
          </a:prstGeom>
          <a:noFill/>
          <a:ln/>
        </p:spPr>
        <p:txBody>
          <a:bodyPr wrap="square" lIns="0" tIns="0" rIns="0" bIns="0" rtlCol="0" anchor="ctr"/>
          <a:lstStyle/>
          <a:p>
            <a:pPr algn="ctr" indent="0" marL="0">
              <a:lnSpc>
                <a:spcPct val="112000"/>
              </a:lnSpc>
              <a:buNone/>
            </a:pPr>
            <a:r>
              <a:rPr lang="en-US" sz="1500" dirty="0">
                <a:solidFill>
                  <a:schemeClr val="bg1"/>
                </a:solidFill>
                <a:latin typeface="+mj-lt" pitchFamily="34" charset="0"/>
                <a:ea typeface="+mj-lt" pitchFamily="34" charset="-122"/>
                <a:cs typeface="+mj-lt" pitchFamily="34" charset="-120"/>
              </a:rPr>
              <a:t>MACK website</a:t>
            </a:r>
            <a:endParaRPr lang="en-US" sz="1500" dirty="0"/>
          </a:p>
        </p:txBody>
      </p:sp>
      <p:sp>
        <p:nvSpPr>
          <p:cNvPr id="18" name="Shape 14"/>
          <p:cNvSpPr/>
          <p:nvPr/>
        </p:nvSpPr>
        <p:spPr>
          <a:xfrm>
            <a:off x="6080760" y="4014216"/>
            <a:ext cx="0" cy="182880"/>
          </a:xfrm>
          <a:prstGeom prst="line">
            <a:avLst/>
          </a:prstGeom>
          <a:noFill/>
          <a:ln w="9525">
            <a:solidFill>
              <a:schemeClr val="tx1"/>
            </a:solidFill>
            <a:prstDash val="solid"/>
            <a:tailEnd type="triangle"/>
          </a:ln>
        </p:spPr>
      </p:sp>
      <p:sp>
        <p:nvSpPr>
          <p:cNvPr id="19" name="Shape 15"/>
          <p:cNvSpPr/>
          <p:nvPr/>
        </p:nvSpPr>
        <p:spPr>
          <a:xfrm>
            <a:off x="4572000" y="4233672"/>
            <a:ext cx="3017520" cy="402336"/>
          </a:xfrm>
          <a:prstGeom prst="rect">
            <a:avLst/>
          </a:prstGeom>
          <a:ln w="9525">
            <a:solidFill>
              <a:schemeClr val="tx1"/>
            </a:solidFill>
            <a:prstDash val="solid"/>
          </a:ln>
        </p:spPr>
      </p:sp>
      <p:sp>
        <p:nvSpPr>
          <p:cNvPr id="20" name="Text 16"/>
          <p:cNvSpPr txBox="1"/>
          <p:nvPr/>
        </p:nvSpPr>
        <p:spPr>
          <a:xfrm>
            <a:off x="4572000" y="4233672"/>
            <a:ext cx="3017520" cy="402336"/>
          </a:xfrm>
          <a:prstGeom prst="rect">
            <a:avLst/>
          </a:prstGeom>
          <a:noFill/>
          <a:ln/>
        </p:spPr>
        <p:txBody>
          <a:bodyPr wrap="square" lIns="0" tIns="0" rIns="0" bIns="0" rtlCol="0" anchor="ctr"/>
          <a:lstStyle/>
          <a:p>
            <a:pPr algn="ctr" indent="0" marL="0">
              <a:lnSpc>
                <a:spcPct val="112000"/>
              </a:lnSpc>
              <a:buNone/>
            </a:pPr>
            <a:r>
              <a:rPr lang="en-US" sz="1300" dirty="0">
                <a:solidFill>
                  <a:schemeClr val="tx1"/>
                </a:solidFill>
              </a:rPr>
              <a:t>Projects + credibility</a:t>
            </a:r>
            <a:endParaRPr lang="en-US" sz="1300" dirty="0"/>
          </a:p>
        </p:txBody>
      </p:sp>
      <p:sp>
        <p:nvSpPr>
          <p:cNvPr id="21" name="Shape 17"/>
          <p:cNvSpPr/>
          <p:nvPr/>
        </p:nvSpPr>
        <p:spPr>
          <a:xfrm>
            <a:off x="6080760" y="4672584"/>
            <a:ext cx="0" cy="182880"/>
          </a:xfrm>
          <a:prstGeom prst="line">
            <a:avLst/>
          </a:prstGeom>
          <a:noFill/>
          <a:ln w="9525">
            <a:solidFill>
              <a:schemeClr val="tx1"/>
            </a:solidFill>
            <a:prstDash val="solid"/>
            <a:tailEnd type="triangle"/>
          </a:ln>
        </p:spPr>
      </p:sp>
      <p:sp>
        <p:nvSpPr>
          <p:cNvPr id="22" name="Shape 18"/>
          <p:cNvSpPr/>
          <p:nvPr/>
        </p:nvSpPr>
        <p:spPr>
          <a:xfrm>
            <a:off x="4572000" y="4892040"/>
            <a:ext cx="3017520" cy="402336"/>
          </a:xfrm>
          <a:prstGeom prst="rect">
            <a:avLst/>
          </a:prstGeom>
          <a:ln w="9525">
            <a:solidFill>
              <a:schemeClr val="tx1"/>
            </a:solidFill>
            <a:prstDash val="solid"/>
          </a:ln>
        </p:spPr>
      </p:sp>
      <p:sp>
        <p:nvSpPr>
          <p:cNvPr id="23" name="Text 19"/>
          <p:cNvSpPr txBox="1"/>
          <p:nvPr/>
        </p:nvSpPr>
        <p:spPr>
          <a:xfrm>
            <a:off x="4572000" y="4892040"/>
            <a:ext cx="3017520" cy="402336"/>
          </a:xfrm>
          <a:prstGeom prst="rect">
            <a:avLst/>
          </a:prstGeom>
          <a:noFill/>
          <a:ln/>
        </p:spPr>
        <p:txBody>
          <a:bodyPr wrap="square" lIns="0" tIns="0" rIns="0" bIns="0" rtlCol="0" anchor="ctr"/>
          <a:lstStyle/>
          <a:p>
            <a:pPr algn="ctr" indent="0" marL="0">
              <a:lnSpc>
                <a:spcPct val="112000"/>
              </a:lnSpc>
              <a:buNone/>
            </a:pPr>
            <a:r>
              <a:rPr lang="en-US" sz="1300" dirty="0">
                <a:solidFill>
                  <a:schemeClr val="tx1"/>
                </a:solidFill>
              </a:rPr>
              <a:t>Enquiry · Call · Visit</a:t>
            </a:r>
            <a:endParaRPr lang="en-US" sz="1300" dirty="0"/>
          </a:p>
        </p:txBody>
      </p:sp>
      <p:sp>
        <p:nvSpPr>
          <p:cNvPr id="24" name="Shape 20"/>
          <p:cNvSpPr/>
          <p:nvPr/>
        </p:nvSpPr>
        <p:spPr>
          <a:xfrm>
            <a:off x="6080760" y="5330952"/>
            <a:ext cx="0" cy="182880"/>
          </a:xfrm>
          <a:prstGeom prst="line">
            <a:avLst/>
          </a:prstGeom>
          <a:noFill/>
          <a:ln w="9525">
            <a:solidFill>
              <a:schemeClr val="tx1"/>
            </a:solidFill>
            <a:prstDash val="solid"/>
            <a:tailEnd type="triangle"/>
          </a:ln>
        </p:spPr>
      </p:sp>
      <p:sp>
        <p:nvSpPr>
          <p:cNvPr id="25" name="Shape 21"/>
          <p:cNvSpPr/>
          <p:nvPr/>
        </p:nvSpPr>
        <p:spPr>
          <a:xfrm>
            <a:off x="4572000" y="5550408"/>
            <a:ext cx="3017520" cy="402336"/>
          </a:xfrm>
          <a:prstGeom prst="rect">
            <a:avLst/>
          </a:prstGeom>
          <a:solidFill>
            <a:schemeClr val="bg2"/>
          </a:solidFill>
          <a:ln/>
        </p:spPr>
      </p:sp>
      <p:sp>
        <p:nvSpPr>
          <p:cNvPr id="26" name="Text 22"/>
          <p:cNvSpPr txBox="1"/>
          <p:nvPr/>
        </p:nvSpPr>
        <p:spPr>
          <a:xfrm>
            <a:off x="4572000" y="5550408"/>
            <a:ext cx="3017520" cy="402336"/>
          </a:xfrm>
          <a:prstGeom prst="rect">
            <a:avLst/>
          </a:prstGeom>
          <a:noFill/>
          <a:ln/>
        </p:spPr>
        <p:txBody>
          <a:bodyPr wrap="square" lIns="0" tIns="0" rIns="0" bIns="0" rtlCol="0" anchor="ctr"/>
          <a:lstStyle/>
          <a:p>
            <a:pPr algn="ctr" indent="0" marL="0">
              <a:lnSpc>
                <a:spcPct val="112000"/>
              </a:lnSpc>
              <a:buNone/>
            </a:pPr>
            <a:r>
              <a:rPr lang="en-US" sz="1300" dirty="0">
                <a:solidFill>
                  <a:schemeClr val="tx1"/>
                </a:solidFill>
              </a:rPr>
              <a:t>Analytics</a:t>
            </a:r>
            <a:endParaRPr lang="en-US" sz="1300" dirty="0"/>
          </a:p>
        </p:txBody>
      </p:sp>
      <p:sp>
        <p:nvSpPr>
          <p:cNvPr id="27" name="Shape 23"/>
          <p:cNvSpPr/>
          <p:nvPr/>
        </p:nvSpPr>
        <p:spPr>
          <a:xfrm flipH="1">
            <a:off x="4279392" y="5751576"/>
            <a:ext cx="292608" cy="0"/>
          </a:xfrm>
          <a:prstGeom prst="line">
            <a:avLst/>
          </a:prstGeom>
          <a:noFill/>
          <a:ln w="12700">
            <a:solidFill>
              <a:schemeClr val="accent3"/>
            </a:solidFill>
            <a:prstDash val="solid"/>
          </a:ln>
        </p:spPr>
      </p:sp>
      <p:sp>
        <p:nvSpPr>
          <p:cNvPr id="28" name="Shape 24"/>
          <p:cNvSpPr/>
          <p:nvPr/>
        </p:nvSpPr>
        <p:spPr>
          <a:xfrm flipV="1">
            <a:off x="4279392" y="1801368"/>
            <a:ext cx="0" cy="3950208"/>
          </a:xfrm>
          <a:prstGeom prst="line">
            <a:avLst/>
          </a:prstGeom>
          <a:noFill/>
          <a:ln w="12700">
            <a:solidFill>
              <a:schemeClr val="accent3"/>
            </a:solidFill>
            <a:prstDash val="solid"/>
          </a:ln>
        </p:spPr>
      </p:sp>
      <p:sp>
        <p:nvSpPr>
          <p:cNvPr id="29" name="Shape 25"/>
          <p:cNvSpPr/>
          <p:nvPr/>
        </p:nvSpPr>
        <p:spPr>
          <a:xfrm>
            <a:off x="4279392" y="1801368"/>
            <a:ext cx="256032" cy="0"/>
          </a:xfrm>
          <a:prstGeom prst="line">
            <a:avLst/>
          </a:prstGeom>
          <a:noFill/>
          <a:ln w="12700">
            <a:solidFill>
              <a:schemeClr val="accent3"/>
            </a:solidFill>
            <a:prstDash val="solid"/>
            <a:tailEnd type="triangle"/>
          </a:ln>
        </p:spPr>
      </p:sp>
      <p:sp>
        <p:nvSpPr>
          <p:cNvPr id="30" name="Shape 26"/>
          <p:cNvSpPr/>
          <p:nvPr/>
        </p:nvSpPr>
        <p:spPr>
          <a:xfrm>
            <a:off x="7644384" y="1801368"/>
            <a:ext cx="338328" cy="0"/>
          </a:xfrm>
          <a:prstGeom prst="line">
            <a:avLst/>
          </a:prstGeom>
          <a:noFill/>
          <a:ln w="9525">
            <a:solidFill>
              <a:schemeClr val="accent5"/>
            </a:solidFill>
            <a:prstDash val="solid"/>
          </a:ln>
        </p:spPr>
      </p:sp>
      <p:sp>
        <p:nvSpPr>
          <p:cNvPr id="31" name="Text 27"/>
          <p:cNvSpPr txBox="1"/>
          <p:nvPr/>
        </p:nvSpPr>
        <p:spPr>
          <a:xfrm>
            <a:off x="8092440" y="1527048"/>
            <a:ext cx="3550615" cy="292608"/>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Digital marketing</a:t>
            </a:r>
            <a:endParaRPr lang="en-US" sz="1500" dirty="0"/>
          </a:p>
        </p:txBody>
      </p:sp>
      <p:sp>
        <p:nvSpPr>
          <p:cNvPr id="32" name="Text 28"/>
          <p:cNvSpPr txBox="1"/>
          <p:nvPr/>
        </p:nvSpPr>
        <p:spPr>
          <a:xfrm>
            <a:off x="8092440" y="1819656"/>
            <a:ext cx="3550615" cy="274320"/>
          </a:xfrm>
          <a:prstGeom prst="rect">
            <a:avLst/>
          </a:prstGeom>
          <a:noFill/>
          <a:ln/>
        </p:spPr>
        <p:txBody>
          <a:bodyPr wrap="square" lIns="0" tIns="0" rIns="0" bIns="0" rtlCol="0" anchor="t"/>
          <a:lstStyle/>
          <a:p>
            <a:pPr algn="l" indent="0" marL="0">
              <a:lnSpc>
                <a:spcPct val="112000"/>
              </a:lnSpc>
              <a:buNone/>
            </a:pPr>
            <a:r>
              <a:rPr lang="en-US" sz="1200" dirty="0">
                <a:solidFill>
                  <a:schemeClr val="tx2"/>
                </a:solidFill>
              </a:rPr>
              <a:t>creates and expands discovery</a:t>
            </a:r>
            <a:endParaRPr lang="en-US" sz="1200" dirty="0"/>
          </a:p>
        </p:txBody>
      </p:sp>
      <p:sp>
        <p:nvSpPr>
          <p:cNvPr id="33" name="Shape 29"/>
          <p:cNvSpPr/>
          <p:nvPr/>
        </p:nvSpPr>
        <p:spPr>
          <a:xfrm>
            <a:off x="7644384" y="3118104"/>
            <a:ext cx="338328" cy="0"/>
          </a:xfrm>
          <a:prstGeom prst="line">
            <a:avLst/>
          </a:prstGeom>
          <a:noFill/>
          <a:ln w="9525">
            <a:solidFill>
              <a:schemeClr val="accent5"/>
            </a:solidFill>
            <a:prstDash val="solid"/>
          </a:ln>
        </p:spPr>
      </p:sp>
      <p:sp>
        <p:nvSpPr>
          <p:cNvPr id="34" name="Text 30"/>
          <p:cNvSpPr txBox="1"/>
          <p:nvPr/>
        </p:nvSpPr>
        <p:spPr>
          <a:xfrm>
            <a:off x="8092440" y="2843784"/>
            <a:ext cx="3550615" cy="292608"/>
          </a:xfrm>
          <a:prstGeom prst="rect">
            <a:avLst/>
          </a:prstGeom>
          <a:noFill/>
          <a:ln/>
        </p:spPr>
        <p:txBody>
          <a:bodyPr wrap="square" lIns="0" tIns="0" rIns="0" bIns="0" rtlCol="0" anchor="t"/>
          <a:lstStyle/>
          <a:p>
            <a:pPr algn="l" indent="0" marL="0">
              <a:lnSpc>
                <a:spcPct val="112000"/>
              </a:lnSpc>
              <a:buNone/>
            </a:pPr>
            <a:r>
              <a:rPr lang="en-US" sz="1500" dirty="0">
                <a:solidFill>
                  <a:schemeClr val="accent3"/>
                </a:solidFill>
                <a:latin typeface="+mj-lt" pitchFamily="34" charset="0"/>
                <a:ea typeface="+mj-lt" pitchFamily="34" charset="-122"/>
                <a:cs typeface="+mj-lt" pitchFamily="34" charset="-120"/>
              </a:rPr>
              <a:t>SEO</a:t>
            </a:r>
            <a:endParaRPr lang="en-US" sz="1500" dirty="0"/>
          </a:p>
        </p:txBody>
      </p:sp>
      <p:sp>
        <p:nvSpPr>
          <p:cNvPr id="35" name="Text 31"/>
          <p:cNvSpPr txBox="1"/>
          <p:nvPr/>
        </p:nvSpPr>
        <p:spPr>
          <a:xfrm>
            <a:off x="8092440" y="3136392"/>
            <a:ext cx="3550615" cy="274320"/>
          </a:xfrm>
          <a:prstGeom prst="rect">
            <a:avLst/>
          </a:prstGeom>
          <a:noFill/>
          <a:ln/>
        </p:spPr>
        <p:txBody>
          <a:bodyPr wrap="square" lIns="0" tIns="0" rIns="0" bIns="0" rtlCol="0" anchor="t"/>
          <a:lstStyle/>
          <a:p>
            <a:pPr algn="l" indent="0" marL="0">
              <a:lnSpc>
                <a:spcPct val="112000"/>
              </a:lnSpc>
              <a:buNone/>
            </a:pPr>
            <a:r>
              <a:rPr lang="en-US" sz="1200" dirty="0">
                <a:solidFill>
                  <a:schemeClr val="tx2"/>
                </a:solidFill>
              </a:rPr>
              <a:t>found when people actively search</a:t>
            </a:r>
            <a:endParaRPr lang="en-US" sz="1200" dirty="0"/>
          </a:p>
        </p:txBody>
      </p:sp>
      <p:sp>
        <p:nvSpPr>
          <p:cNvPr id="36" name="Shape 32"/>
          <p:cNvSpPr/>
          <p:nvPr/>
        </p:nvSpPr>
        <p:spPr>
          <a:xfrm>
            <a:off x="7644384" y="3776472"/>
            <a:ext cx="338328" cy="0"/>
          </a:xfrm>
          <a:prstGeom prst="line">
            <a:avLst/>
          </a:prstGeom>
          <a:noFill/>
          <a:ln w="9525">
            <a:solidFill>
              <a:schemeClr val="accent5"/>
            </a:solidFill>
            <a:prstDash val="solid"/>
          </a:ln>
        </p:spPr>
      </p:sp>
      <p:sp>
        <p:nvSpPr>
          <p:cNvPr id="37" name="Text 33"/>
          <p:cNvSpPr txBox="1"/>
          <p:nvPr/>
        </p:nvSpPr>
        <p:spPr>
          <a:xfrm>
            <a:off x="8092440" y="3502152"/>
            <a:ext cx="3550615" cy="292608"/>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Website</a:t>
            </a:r>
            <a:endParaRPr lang="en-US" sz="1500" dirty="0"/>
          </a:p>
        </p:txBody>
      </p:sp>
      <p:sp>
        <p:nvSpPr>
          <p:cNvPr id="38" name="Text 34"/>
          <p:cNvSpPr txBox="1"/>
          <p:nvPr/>
        </p:nvSpPr>
        <p:spPr>
          <a:xfrm>
            <a:off x="8092440" y="3794760"/>
            <a:ext cx="3550615" cy="274320"/>
          </a:xfrm>
          <a:prstGeom prst="rect">
            <a:avLst/>
          </a:prstGeom>
          <a:noFill/>
          <a:ln/>
        </p:spPr>
        <p:txBody>
          <a:bodyPr wrap="square" lIns="0" tIns="0" rIns="0" bIns="0" rtlCol="0" anchor="t"/>
          <a:lstStyle/>
          <a:p>
            <a:pPr algn="l" indent="0" marL="0">
              <a:lnSpc>
                <a:spcPct val="112000"/>
              </a:lnSpc>
              <a:buNone/>
            </a:pPr>
            <a:r>
              <a:rPr lang="en-US" sz="1200" dirty="0">
                <a:solidFill>
                  <a:schemeClr val="tx2"/>
                </a:solidFill>
              </a:rPr>
              <a:t>turns attention into trust</a:t>
            </a:r>
            <a:endParaRPr lang="en-US" sz="1200" dirty="0"/>
          </a:p>
        </p:txBody>
      </p:sp>
      <p:sp>
        <p:nvSpPr>
          <p:cNvPr id="39" name="Shape 35"/>
          <p:cNvSpPr/>
          <p:nvPr/>
        </p:nvSpPr>
        <p:spPr>
          <a:xfrm>
            <a:off x="7644384" y="5093208"/>
            <a:ext cx="338328" cy="0"/>
          </a:xfrm>
          <a:prstGeom prst="line">
            <a:avLst/>
          </a:prstGeom>
          <a:noFill/>
          <a:ln w="9525">
            <a:solidFill>
              <a:schemeClr val="accent5"/>
            </a:solidFill>
            <a:prstDash val="solid"/>
          </a:ln>
        </p:spPr>
      </p:sp>
      <p:sp>
        <p:nvSpPr>
          <p:cNvPr id="40" name="Text 36"/>
          <p:cNvSpPr txBox="1"/>
          <p:nvPr/>
        </p:nvSpPr>
        <p:spPr>
          <a:xfrm>
            <a:off x="8092440" y="4818888"/>
            <a:ext cx="3550615" cy="292608"/>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Google Business Profile</a:t>
            </a:r>
            <a:endParaRPr lang="en-US" sz="1500" dirty="0"/>
          </a:p>
        </p:txBody>
      </p:sp>
      <p:sp>
        <p:nvSpPr>
          <p:cNvPr id="41" name="Text 37"/>
          <p:cNvSpPr txBox="1"/>
          <p:nvPr/>
        </p:nvSpPr>
        <p:spPr>
          <a:xfrm>
            <a:off x="8092440" y="5111496"/>
            <a:ext cx="3550615" cy="274320"/>
          </a:xfrm>
          <a:prstGeom prst="rect">
            <a:avLst/>
          </a:prstGeom>
          <a:noFill/>
          <a:ln/>
        </p:spPr>
        <p:txBody>
          <a:bodyPr wrap="square" lIns="0" tIns="0" rIns="0" bIns="0" rtlCol="0" anchor="t"/>
          <a:lstStyle/>
          <a:p>
            <a:pPr algn="l" indent="0" marL="0">
              <a:lnSpc>
                <a:spcPct val="112000"/>
              </a:lnSpc>
              <a:buNone/>
            </a:pPr>
            <a:r>
              <a:rPr lang="en-US" sz="1200" dirty="0">
                <a:solidFill>
                  <a:schemeClr val="tx2"/>
                </a:solidFill>
              </a:rPr>
              <a:t>calls, directions and visits</a:t>
            </a:r>
            <a:endParaRPr lang="en-US" sz="1200" dirty="0"/>
          </a:p>
        </p:txBody>
      </p:sp>
      <p:sp>
        <p:nvSpPr>
          <p:cNvPr id="42" name="Shape 38"/>
          <p:cNvSpPr/>
          <p:nvPr/>
        </p:nvSpPr>
        <p:spPr>
          <a:xfrm>
            <a:off x="7644384" y="5751576"/>
            <a:ext cx="338328" cy="0"/>
          </a:xfrm>
          <a:prstGeom prst="line">
            <a:avLst/>
          </a:prstGeom>
          <a:noFill/>
          <a:ln w="9525">
            <a:solidFill>
              <a:schemeClr val="accent5"/>
            </a:solidFill>
            <a:prstDash val="solid"/>
          </a:ln>
        </p:spPr>
      </p:sp>
      <p:sp>
        <p:nvSpPr>
          <p:cNvPr id="43" name="Text 39"/>
          <p:cNvSpPr txBox="1"/>
          <p:nvPr/>
        </p:nvSpPr>
        <p:spPr>
          <a:xfrm>
            <a:off x="8092440" y="5477256"/>
            <a:ext cx="3550615" cy="292608"/>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Analytics</a:t>
            </a:r>
            <a:endParaRPr lang="en-US" sz="1500" dirty="0"/>
          </a:p>
        </p:txBody>
      </p:sp>
      <p:sp>
        <p:nvSpPr>
          <p:cNvPr id="44" name="Text 40"/>
          <p:cNvSpPr txBox="1"/>
          <p:nvPr/>
        </p:nvSpPr>
        <p:spPr>
          <a:xfrm>
            <a:off x="8092440" y="5769864"/>
            <a:ext cx="3550615" cy="274320"/>
          </a:xfrm>
          <a:prstGeom prst="rect">
            <a:avLst/>
          </a:prstGeom>
          <a:noFill/>
          <a:ln/>
        </p:spPr>
        <p:txBody>
          <a:bodyPr wrap="square" lIns="0" tIns="0" rIns="0" bIns="0" rtlCol="0" anchor="t"/>
          <a:lstStyle/>
          <a:p>
            <a:pPr algn="l" indent="0" marL="0">
              <a:lnSpc>
                <a:spcPct val="112000"/>
              </a:lnSpc>
              <a:buNone/>
            </a:pPr>
            <a:r>
              <a:rPr lang="en-US" sz="1200" dirty="0">
                <a:solidFill>
                  <a:schemeClr val="tx2"/>
                </a:solidFill>
              </a:rPr>
              <a:t>shows what produces enquiries</a:t>
            </a:r>
            <a:endParaRPr lang="en-US" sz="12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03 — WHAT WE ARE BUILDING</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A complete digital foundation, owned by MACK</a:t>
            </a:r>
            <a:endParaRPr lang="en-US" sz="3200" dirty="0"/>
          </a:p>
        </p:txBody>
      </p:sp>
      <p:sp>
        <p:nvSpPr>
          <p:cNvPr id="5" name="Shape 2"/>
          <p:cNvSpPr/>
          <p:nvPr/>
        </p:nvSpPr>
        <p:spPr>
          <a:xfrm>
            <a:off x="548640" y="1783080"/>
            <a:ext cx="2743200" cy="3886200"/>
          </a:xfrm>
          <a:prstGeom prst="rect">
            <a:avLst/>
          </a:prstGeom>
          <a:solidFill>
            <a:schemeClr val="accent1"/>
          </a:solidFill>
          <a:ln/>
        </p:spPr>
      </p:sp>
      <p:sp>
        <p:nvSpPr>
          <p:cNvPr id="6" name="Text 3"/>
          <p:cNvSpPr txBox="1"/>
          <p:nvPr/>
        </p:nvSpPr>
        <p:spPr>
          <a:xfrm>
            <a:off x="777240" y="2057400"/>
            <a:ext cx="2286000"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4"/>
                </a:solidFill>
              </a:rPr>
              <a:t>THE ROOT</a:t>
            </a:r>
            <a:endParaRPr lang="en-US" sz="950" dirty="0"/>
          </a:p>
        </p:txBody>
      </p:sp>
      <p:sp>
        <p:nvSpPr>
          <p:cNvPr id="7" name="Text 4"/>
          <p:cNvSpPr txBox="1"/>
          <p:nvPr/>
        </p:nvSpPr>
        <p:spPr>
          <a:xfrm>
            <a:off x="777240" y="2350008"/>
            <a:ext cx="2377440" cy="457200"/>
          </a:xfrm>
          <a:prstGeom prst="rect">
            <a:avLst/>
          </a:prstGeom>
          <a:noFill/>
          <a:ln/>
        </p:spPr>
        <p:txBody>
          <a:bodyPr wrap="square" lIns="0" tIns="0" rIns="0" bIns="0" rtlCol="0" anchor="t"/>
          <a:lstStyle/>
          <a:p>
            <a:pPr algn="l" indent="0" marL="0">
              <a:lnSpc>
                <a:spcPct val="112000"/>
              </a:lnSpc>
              <a:buNone/>
            </a:pPr>
            <a:r>
              <a:rPr lang="en-US" sz="2400" dirty="0">
                <a:solidFill>
                  <a:schemeClr val="bg1"/>
                </a:solidFill>
                <a:latin typeface="+mj-lt" pitchFamily="34" charset="0"/>
                <a:ea typeface="+mj-lt" pitchFamily="34" charset="-122"/>
                <a:cs typeface="+mj-lt" pitchFamily="34" charset="-120"/>
              </a:rPr>
              <a:t>Studio domain</a:t>
            </a:r>
            <a:endParaRPr lang="en-US" sz="2400" dirty="0"/>
          </a:p>
        </p:txBody>
      </p:sp>
      <p:sp>
        <p:nvSpPr>
          <p:cNvPr id="8" name="Text 5"/>
          <p:cNvSpPr txBox="1"/>
          <p:nvPr/>
        </p:nvSpPr>
        <p:spPr>
          <a:xfrm>
            <a:off x="777240" y="2880360"/>
            <a:ext cx="2377440" cy="274320"/>
          </a:xfrm>
          <a:prstGeom prst="rect">
            <a:avLst/>
          </a:prstGeom>
          <a:noFill/>
          <a:ln/>
        </p:spPr>
        <p:txBody>
          <a:bodyPr wrap="square" lIns="0" tIns="0" rIns="0" bIns="0" rtlCol="0" anchor="t"/>
          <a:lstStyle/>
          <a:p>
            <a:pPr algn="l" indent="0" marL="0">
              <a:lnSpc>
                <a:spcPct val="112000"/>
              </a:lnSpc>
              <a:buNone/>
            </a:pPr>
            <a:r>
              <a:rPr lang="en-US" sz="1300" dirty="0">
                <a:solidFill>
                  <a:schemeClr val="accent4"/>
                </a:solidFill>
              </a:rPr>
              <a:t>Registered to MACK</a:t>
            </a:r>
            <a:endParaRPr lang="en-US" sz="1300" dirty="0"/>
          </a:p>
        </p:txBody>
      </p:sp>
      <p:sp>
        <p:nvSpPr>
          <p:cNvPr id="9" name="Shape 6"/>
          <p:cNvSpPr/>
          <p:nvPr/>
        </p:nvSpPr>
        <p:spPr>
          <a:xfrm>
            <a:off x="777240" y="4434840"/>
            <a:ext cx="2286000" cy="0"/>
          </a:xfrm>
          <a:prstGeom prst="line">
            <a:avLst/>
          </a:prstGeom>
          <a:noFill/>
          <a:ln w="9525">
            <a:solidFill>
              <a:schemeClr val="accent2"/>
            </a:solidFill>
            <a:prstDash val="solid"/>
          </a:ln>
        </p:spPr>
      </p:sp>
      <p:sp>
        <p:nvSpPr>
          <p:cNvPr id="10" name="Text 7"/>
          <p:cNvSpPr txBox="1"/>
          <p:nvPr/>
        </p:nvSpPr>
        <p:spPr>
          <a:xfrm>
            <a:off x="777240" y="4572000"/>
            <a:ext cx="2331720" cy="914400"/>
          </a:xfrm>
          <a:prstGeom prst="rect">
            <a:avLst/>
          </a:prstGeom>
          <a:noFill/>
          <a:ln/>
        </p:spPr>
        <p:txBody>
          <a:bodyPr wrap="square" lIns="0" tIns="0" rIns="0" bIns="0" rtlCol="0" anchor="t"/>
          <a:lstStyle/>
          <a:p>
            <a:pPr algn="l" indent="0" marL="0">
              <a:lnSpc>
                <a:spcPct val="112000"/>
              </a:lnSpc>
              <a:spcAft>
                <a:spcPts val="400"/>
              </a:spcAft>
              <a:buNone/>
            </a:pPr>
            <a:r>
              <a:rPr lang="en-US" sz="1200" dirty="0">
                <a:solidFill>
                  <a:schemeClr val="accent4"/>
                </a:solidFill>
              </a:rPr>
              <a:t>Every account studio-owned</a:t>
            </a:r>
            <a:endParaRPr lang="en-US" sz="1200" dirty="0"/>
          </a:p>
          <a:p>
            <a:pPr algn="l" indent="0" marL="0">
              <a:lnSpc>
                <a:spcPct val="112000"/>
              </a:lnSpc>
              <a:spcAft>
                <a:spcPts val="400"/>
              </a:spcAft>
              <a:buNone/>
            </a:pPr>
            <a:r>
              <a:rPr lang="en-US" sz="1200" dirty="0">
                <a:solidFill>
                  <a:schemeClr val="accent4"/>
                </a:solidFill>
              </a:rPr>
              <a:t>Access granted to implement</a:t>
            </a:r>
            <a:endParaRPr lang="en-US" sz="1200" dirty="0"/>
          </a:p>
          <a:p>
            <a:pPr algn="l" indent="0" marL="0">
              <a:lnSpc>
                <a:spcPct val="112000"/>
              </a:lnSpc>
              <a:spcAft>
                <a:spcPts val="400"/>
              </a:spcAft>
              <a:buNone/>
            </a:pPr>
            <a:r>
              <a:rPr lang="en-US" sz="1200" dirty="0">
                <a:solidFill>
                  <a:schemeClr val="accent4"/>
                </a:solidFill>
              </a:rPr>
              <a:t>Documented in an access map</a:t>
            </a:r>
            <a:endParaRPr lang="en-US" sz="1200" dirty="0"/>
          </a:p>
        </p:txBody>
      </p:sp>
      <p:sp>
        <p:nvSpPr>
          <p:cNvPr id="11" name="Shape 8"/>
          <p:cNvSpPr/>
          <p:nvPr/>
        </p:nvSpPr>
        <p:spPr>
          <a:xfrm>
            <a:off x="3291840" y="1892808"/>
            <a:ext cx="7107631" cy="0"/>
          </a:xfrm>
          <a:prstGeom prst="line">
            <a:avLst/>
          </a:prstGeom>
          <a:noFill/>
          <a:ln w="9525">
            <a:solidFill>
              <a:schemeClr val="tx1"/>
            </a:solidFill>
            <a:prstDash val="solid"/>
          </a:ln>
        </p:spPr>
      </p:sp>
      <p:sp>
        <p:nvSpPr>
          <p:cNvPr id="12" name="Shape 9"/>
          <p:cNvSpPr/>
          <p:nvPr/>
        </p:nvSpPr>
        <p:spPr>
          <a:xfrm>
            <a:off x="4992624" y="1892808"/>
            <a:ext cx="0" cy="228600"/>
          </a:xfrm>
          <a:prstGeom prst="line">
            <a:avLst/>
          </a:prstGeom>
          <a:noFill/>
          <a:ln w="9525">
            <a:solidFill>
              <a:schemeClr val="tx1"/>
            </a:solidFill>
            <a:prstDash val="solid"/>
          </a:ln>
        </p:spPr>
      </p:sp>
      <p:sp>
        <p:nvSpPr>
          <p:cNvPr id="13" name="Text 10"/>
          <p:cNvSpPr txBox="1"/>
          <p:nvPr/>
        </p:nvSpPr>
        <p:spPr>
          <a:xfrm>
            <a:off x="3749040" y="2221992"/>
            <a:ext cx="2487168" cy="228600"/>
          </a:xfrm>
          <a:prstGeom prst="rect">
            <a:avLst/>
          </a:prstGeom>
          <a:noFill/>
          <a:ln/>
        </p:spPr>
        <p:txBody>
          <a:bodyPr wrap="square" lIns="0" tIns="0" rIns="0" bIns="0" rtlCol="0" anchor="t"/>
          <a:lstStyle/>
          <a:p>
            <a:pPr algn="ctr" indent="0" marL="0">
              <a:lnSpc>
                <a:spcPct val="112000"/>
              </a:lnSpc>
              <a:buNone/>
            </a:pPr>
            <a:r>
              <a:rPr lang="en-US" sz="950" spc="160" kern="0" dirty="0">
                <a:solidFill>
                  <a:schemeClr val="accent2"/>
                </a:solidFill>
              </a:rPr>
              <a:t>IDENTITY</a:t>
            </a:r>
            <a:endParaRPr lang="en-US" sz="950" dirty="0"/>
          </a:p>
        </p:txBody>
      </p:sp>
      <p:sp>
        <p:nvSpPr>
          <p:cNvPr id="14" name="Shape 11"/>
          <p:cNvSpPr/>
          <p:nvPr/>
        </p:nvSpPr>
        <p:spPr>
          <a:xfrm>
            <a:off x="3749040" y="2624328"/>
            <a:ext cx="2487168" cy="868680"/>
          </a:xfrm>
          <a:prstGeom prst="rect">
            <a:avLst/>
          </a:prstGeom>
          <a:ln w="9525">
            <a:solidFill>
              <a:schemeClr val="tx1"/>
            </a:solidFill>
            <a:prstDash val="solid"/>
          </a:ln>
        </p:spPr>
      </p:sp>
      <p:sp>
        <p:nvSpPr>
          <p:cNvPr id="15" name="Text 12"/>
          <p:cNvSpPr txBox="1"/>
          <p:nvPr/>
        </p:nvSpPr>
        <p:spPr>
          <a:xfrm>
            <a:off x="3913632" y="2752344"/>
            <a:ext cx="2212848" cy="329184"/>
          </a:xfrm>
          <a:prstGeom prst="rect">
            <a:avLst/>
          </a:prstGeom>
          <a:noFill/>
          <a:ln/>
        </p:spPr>
        <p:txBody>
          <a:bodyPr wrap="square" lIns="0" tIns="0" rIns="0" bIns="0" rtlCol="0" anchor="t"/>
          <a:lstStyle/>
          <a:p>
            <a:pPr algn="l" indent="0" marL="0">
              <a:lnSpc>
                <a:spcPct val="112000"/>
              </a:lnSpc>
              <a:buNone/>
            </a:pPr>
            <a:r>
              <a:rPr lang="en-US" sz="1600" dirty="0">
                <a:solidFill>
                  <a:schemeClr val="tx1"/>
                </a:solidFill>
                <a:latin typeface="+mj-lt" pitchFamily="34" charset="0"/>
                <a:ea typeface="+mj-lt" pitchFamily="34" charset="-122"/>
                <a:cs typeface="+mj-lt" pitchFamily="34" charset="-120"/>
              </a:rPr>
              <a:t>Professional email</a:t>
            </a:r>
            <a:endParaRPr lang="en-US" sz="1600" dirty="0"/>
          </a:p>
        </p:txBody>
      </p:sp>
      <p:sp>
        <p:nvSpPr>
          <p:cNvPr id="16" name="Text 13"/>
          <p:cNvSpPr txBox="1"/>
          <p:nvPr/>
        </p:nvSpPr>
        <p:spPr>
          <a:xfrm>
            <a:off x="3913632" y="3099816"/>
            <a:ext cx="2212848" cy="274320"/>
          </a:xfrm>
          <a:prstGeom prst="rect">
            <a:avLst/>
          </a:prstGeom>
          <a:noFill/>
          <a:ln/>
        </p:spPr>
        <p:txBody>
          <a:bodyPr wrap="square" lIns="0" tIns="0" rIns="0" bIns="0" rtlCol="0" anchor="t"/>
          <a:lstStyle/>
          <a:p>
            <a:pPr algn="l" indent="0" marL="0">
              <a:lnSpc>
                <a:spcPct val="112000"/>
              </a:lnSpc>
              <a:buNone/>
            </a:pPr>
            <a:r>
              <a:rPr lang="en-US" sz="1200" dirty="0">
                <a:solidFill>
                  <a:schemeClr val="tx2"/>
                </a:solidFill>
              </a:rPr>
              <a:t>name@ the studio domain</a:t>
            </a:r>
            <a:endParaRPr lang="en-US" sz="1200" dirty="0"/>
          </a:p>
        </p:txBody>
      </p:sp>
      <p:sp>
        <p:nvSpPr>
          <p:cNvPr id="17" name="Shape 14"/>
          <p:cNvSpPr/>
          <p:nvPr/>
        </p:nvSpPr>
        <p:spPr>
          <a:xfrm>
            <a:off x="3749040" y="3648456"/>
            <a:ext cx="2487168" cy="868680"/>
          </a:xfrm>
          <a:prstGeom prst="rect">
            <a:avLst/>
          </a:prstGeom>
          <a:ln w="9525">
            <a:solidFill>
              <a:schemeClr val="tx1"/>
            </a:solidFill>
            <a:prstDash val="solid"/>
          </a:ln>
        </p:spPr>
      </p:sp>
      <p:sp>
        <p:nvSpPr>
          <p:cNvPr id="18" name="Text 15"/>
          <p:cNvSpPr txBox="1"/>
          <p:nvPr/>
        </p:nvSpPr>
        <p:spPr>
          <a:xfrm>
            <a:off x="3913632" y="3776472"/>
            <a:ext cx="2212848" cy="329184"/>
          </a:xfrm>
          <a:prstGeom prst="rect">
            <a:avLst/>
          </a:prstGeom>
          <a:noFill/>
          <a:ln/>
        </p:spPr>
        <p:txBody>
          <a:bodyPr wrap="square" lIns="0" tIns="0" rIns="0" bIns="0" rtlCol="0" anchor="t"/>
          <a:lstStyle/>
          <a:p>
            <a:pPr algn="l" indent="0" marL="0">
              <a:lnSpc>
                <a:spcPct val="112000"/>
              </a:lnSpc>
              <a:buNone/>
            </a:pPr>
            <a:r>
              <a:rPr lang="en-US" sz="1600" dirty="0">
                <a:solidFill>
                  <a:schemeClr val="tx1"/>
                </a:solidFill>
                <a:latin typeface="+mj-lt" pitchFamily="34" charset="0"/>
                <a:ea typeface="+mj-lt" pitchFamily="34" charset="-122"/>
                <a:cs typeface="+mj-lt" pitchFamily="34" charset="-120"/>
              </a:rPr>
              <a:t>Website</a:t>
            </a:r>
            <a:endParaRPr lang="en-US" sz="1600" dirty="0"/>
          </a:p>
        </p:txBody>
      </p:sp>
      <p:sp>
        <p:nvSpPr>
          <p:cNvPr id="19" name="Text 16"/>
          <p:cNvSpPr txBox="1"/>
          <p:nvPr/>
        </p:nvSpPr>
        <p:spPr>
          <a:xfrm>
            <a:off x="3913632" y="4123944"/>
            <a:ext cx="2212848" cy="274320"/>
          </a:xfrm>
          <a:prstGeom prst="rect">
            <a:avLst/>
          </a:prstGeom>
          <a:noFill/>
          <a:ln/>
        </p:spPr>
        <p:txBody>
          <a:bodyPr wrap="square" lIns="0" tIns="0" rIns="0" bIns="0" rtlCol="0" anchor="t"/>
          <a:lstStyle/>
          <a:p>
            <a:pPr algn="l" indent="0" marL="0">
              <a:lnSpc>
                <a:spcPct val="112000"/>
              </a:lnSpc>
              <a:buNone/>
            </a:pPr>
            <a:r>
              <a:rPr lang="en-US" sz="1200" dirty="0">
                <a:solidFill>
                  <a:schemeClr val="tx2"/>
                </a:solidFill>
              </a:rPr>
              <a:t>launched and indexed</a:t>
            </a:r>
            <a:endParaRPr lang="en-US" sz="1200" dirty="0"/>
          </a:p>
        </p:txBody>
      </p:sp>
      <p:sp>
        <p:nvSpPr>
          <p:cNvPr id="20" name="Shape 17"/>
          <p:cNvSpPr/>
          <p:nvPr/>
        </p:nvSpPr>
        <p:spPr>
          <a:xfrm>
            <a:off x="7696048" y="1892808"/>
            <a:ext cx="0" cy="228600"/>
          </a:xfrm>
          <a:prstGeom prst="line">
            <a:avLst/>
          </a:prstGeom>
          <a:noFill/>
          <a:ln w="9525">
            <a:solidFill>
              <a:schemeClr val="tx1"/>
            </a:solidFill>
            <a:prstDash val="solid"/>
          </a:ln>
        </p:spPr>
      </p:sp>
      <p:sp>
        <p:nvSpPr>
          <p:cNvPr id="21" name="Text 18"/>
          <p:cNvSpPr txBox="1"/>
          <p:nvPr/>
        </p:nvSpPr>
        <p:spPr>
          <a:xfrm>
            <a:off x="6452464" y="2221992"/>
            <a:ext cx="2487168" cy="228600"/>
          </a:xfrm>
          <a:prstGeom prst="rect">
            <a:avLst/>
          </a:prstGeom>
          <a:noFill/>
          <a:ln/>
        </p:spPr>
        <p:txBody>
          <a:bodyPr wrap="square" lIns="0" tIns="0" rIns="0" bIns="0" rtlCol="0" anchor="t"/>
          <a:lstStyle/>
          <a:p>
            <a:pPr algn="ctr" indent="0" marL="0">
              <a:lnSpc>
                <a:spcPct val="112000"/>
              </a:lnSpc>
              <a:buNone/>
            </a:pPr>
            <a:r>
              <a:rPr lang="en-US" sz="950" spc="160" kern="0" dirty="0">
                <a:solidFill>
                  <a:schemeClr val="accent2"/>
                </a:solidFill>
              </a:rPr>
              <a:t>WORKSPACE</a:t>
            </a:r>
            <a:endParaRPr lang="en-US" sz="950" dirty="0"/>
          </a:p>
        </p:txBody>
      </p:sp>
      <p:sp>
        <p:nvSpPr>
          <p:cNvPr id="22" name="Shape 19"/>
          <p:cNvSpPr/>
          <p:nvPr/>
        </p:nvSpPr>
        <p:spPr>
          <a:xfrm>
            <a:off x="6452464" y="2624328"/>
            <a:ext cx="2487168" cy="868680"/>
          </a:xfrm>
          <a:prstGeom prst="rect">
            <a:avLst/>
          </a:prstGeom>
          <a:ln w="9525">
            <a:solidFill>
              <a:schemeClr val="tx1"/>
            </a:solidFill>
            <a:prstDash val="solid"/>
          </a:ln>
        </p:spPr>
      </p:sp>
      <p:sp>
        <p:nvSpPr>
          <p:cNvPr id="23" name="Text 20"/>
          <p:cNvSpPr txBox="1"/>
          <p:nvPr/>
        </p:nvSpPr>
        <p:spPr>
          <a:xfrm>
            <a:off x="6617056" y="2752344"/>
            <a:ext cx="2212848" cy="329184"/>
          </a:xfrm>
          <a:prstGeom prst="rect">
            <a:avLst/>
          </a:prstGeom>
          <a:noFill/>
          <a:ln/>
        </p:spPr>
        <p:txBody>
          <a:bodyPr wrap="square" lIns="0" tIns="0" rIns="0" bIns="0" rtlCol="0" anchor="t"/>
          <a:lstStyle/>
          <a:p>
            <a:pPr algn="l" indent="0" marL="0">
              <a:lnSpc>
                <a:spcPct val="112000"/>
              </a:lnSpc>
              <a:buNone/>
            </a:pPr>
            <a:r>
              <a:rPr lang="en-US" sz="1600" dirty="0">
                <a:solidFill>
                  <a:schemeClr val="tx1"/>
                </a:solidFill>
                <a:latin typeface="+mj-lt" pitchFamily="34" charset="0"/>
                <a:ea typeface="+mj-lt" pitchFamily="34" charset="-122"/>
                <a:cs typeface="+mj-lt" pitchFamily="34" charset="-120"/>
              </a:rPr>
              <a:t>Cloud workspace</a:t>
            </a:r>
            <a:endParaRPr lang="en-US" sz="1600" dirty="0"/>
          </a:p>
        </p:txBody>
      </p:sp>
      <p:sp>
        <p:nvSpPr>
          <p:cNvPr id="24" name="Text 21"/>
          <p:cNvSpPr txBox="1"/>
          <p:nvPr/>
        </p:nvSpPr>
        <p:spPr>
          <a:xfrm>
            <a:off x="6617056" y="3099816"/>
            <a:ext cx="2212848" cy="274320"/>
          </a:xfrm>
          <a:prstGeom prst="rect">
            <a:avLst/>
          </a:prstGeom>
          <a:noFill/>
          <a:ln/>
        </p:spPr>
        <p:txBody>
          <a:bodyPr wrap="square" lIns="0" tIns="0" rIns="0" bIns="0" rtlCol="0" anchor="t"/>
          <a:lstStyle/>
          <a:p>
            <a:pPr algn="l" indent="0" marL="0">
              <a:lnSpc>
                <a:spcPct val="112000"/>
              </a:lnSpc>
              <a:buNone/>
            </a:pPr>
            <a:r>
              <a:rPr lang="en-US" sz="1200" dirty="0">
                <a:solidFill>
                  <a:schemeClr val="tx2"/>
                </a:solidFill>
              </a:rPr>
              <a:t>2–3 TB, shared by project</a:t>
            </a:r>
            <a:endParaRPr lang="en-US" sz="1200" dirty="0"/>
          </a:p>
        </p:txBody>
      </p:sp>
      <p:sp>
        <p:nvSpPr>
          <p:cNvPr id="25" name="Shape 22"/>
          <p:cNvSpPr/>
          <p:nvPr/>
        </p:nvSpPr>
        <p:spPr>
          <a:xfrm>
            <a:off x="6452464" y="3648456"/>
            <a:ext cx="2487168" cy="868680"/>
          </a:xfrm>
          <a:prstGeom prst="rect">
            <a:avLst/>
          </a:prstGeom>
          <a:solidFill>
            <a:schemeClr val="bg2"/>
          </a:solidFill>
          <a:ln w="9525">
            <a:solidFill>
              <a:schemeClr val="tx1"/>
            </a:solidFill>
            <a:prstDash val="solid"/>
          </a:ln>
        </p:spPr>
      </p:sp>
      <p:sp>
        <p:nvSpPr>
          <p:cNvPr id="26" name="Text 23"/>
          <p:cNvSpPr txBox="1"/>
          <p:nvPr/>
        </p:nvSpPr>
        <p:spPr>
          <a:xfrm>
            <a:off x="6617056" y="3776472"/>
            <a:ext cx="2212848" cy="329184"/>
          </a:xfrm>
          <a:prstGeom prst="rect">
            <a:avLst/>
          </a:prstGeom>
          <a:noFill/>
          <a:ln/>
        </p:spPr>
        <p:txBody>
          <a:bodyPr wrap="square" lIns="0" tIns="0" rIns="0" bIns="0" rtlCol="0" anchor="t"/>
          <a:lstStyle/>
          <a:p>
            <a:pPr algn="l" indent="0" marL="0">
              <a:lnSpc>
                <a:spcPct val="112000"/>
              </a:lnSpc>
              <a:buNone/>
            </a:pPr>
            <a:r>
              <a:rPr lang="en-US" sz="1600" dirty="0">
                <a:solidFill>
                  <a:schemeClr val="tx1"/>
                </a:solidFill>
                <a:latin typeface="+mj-lt" pitchFamily="34" charset="0"/>
                <a:ea typeface="+mj-lt" pitchFamily="34" charset="-122"/>
                <a:cs typeface="+mj-lt" pitchFamily="34" charset="-120"/>
              </a:rPr>
              <a:t>Independent backup</a:t>
            </a:r>
            <a:endParaRPr lang="en-US" sz="1600" dirty="0"/>
          </a:p>
        </p:txBody>
      </p:sp>
      <p:sp>
        <p:nvSpPr>
          <p:cNvPr id="27" name="Text 24"/>
          <p:cNvSpPr txBox="1"/>
          <p:nvPr/>
        </p:nvSpPr>
        <p:spPr>
          <a:xfrm>
            <a:off x="6617056" y="4123944"/>
            <a:ext cx="2212848" cy="274320"/>
          </a:xfrm>
          <a:prstGeom prst="rect">
            <a:avLst/>
          </a:prstGeom>
          <a:noFill/>
          <a:ln/>
        </p:spPr>
        <p:txBody>
          <a:bodyPr wrap="square" lIns="0" tIns="0" rIns="0" bIns="0" rtlCol="0" anchor="t"/>
          <a:lstStyle/>
          <a:p>
            <a:pPr algn="l" indent="0" marL="0">
              <a:lnSpc>
                <a:spcPct val="112000"/>
              </a:lnSpc>
              <a:buNone/>
            </a:pPr>
            <a:r>
              <a:rPr lang="en-US" sz="1200" dirty="0">
                <a:solidFill>
                  <a:schemeClr val="tx2"/>
                </a:solidFill>
              </a:rPr>
              <a:t>versioned, one copy off-site</a:t>
            </a:r>
            <a:endParaRPr lang="en-US" sz="1200" dirty="0"/>
          </a:p>
        </p:txBody>
      </p:sp>
      <p:sp>
        <p:nvSpPr>
          <p:cNvPr id="28" name="Shape 25"/>
          <p:cNvSpPr/>
          <p:nvPr/>
        </p:nvSpPr>
        <p:spPr>
          <a:xfrm>
            <a:off x="10399471" y="1892808"/>
            <a:ext cx="0" cy="228600"/>
          </a:xfrm>
          <a:prstGeom prst="line">
            <a:avLst/>
          </a:prstGeom>
          <a:noFill/>
          <a:ln w="9525">
            <a:solidFill>
              <a:schemeClr val="tx1"/>
            </a:solidFill>
            <a:prstDash val="solid"/>
          </a:ln>
        </p:spPr>
      </p:sp>
      <p:sp>
        <p:nvSpPr>
          <p:cNvPr id="29" name="Text 26"/>
          <p:cNvSpPr txBox="1"/>
          <p:nvPr/>
        </p:nvSpPr>
        <p:spPr>
          <a:xfrm>
            <a:off x="9155887" y="2221992"/>
            <a:ext cx="2487168" cy="228600"/>
          </a:xfrm>
          <a:prstGeom prst="rect">
            <a:avLst/>
          </a:prstGeom>
          <a:noFill/>
          <a:ln/>
        </p:spPr>
        <p:txBody>
          <a:bodyPr wrap="square" lIns="0" tIns="0" rIns="0" bIns="0" rtlCol="0" anchor="t"/>
          <a:lstStyle/>
          <a:p>
            <a:pPr algn="ctr" indent="0" marL="0">
              <a:lnSpc>
                <a:spcPct val="112000"/>
              </a:lnSpc>
              <a:buNone/>
            </a:pPr>
            <a:r>
              <a:rPr lang="en-US" sz="950" spc="160" kern="0" dirty="0">
                <a:solidFill>
                  <a:schemeClr val="accent2"/>
                </a:solidFill>
              </a:rPr>
              <a:t>VISIBILITY</a:t>
            </a:r>
            <a:endParaRPr lang="en-US" sz="950" dirty="0"/>
          </a:p>
        </p:txBody>
      </p:sp>
      <p:sp>
        <p:nvSpPr>
          <p:cNvPr id="30" name="Shape 27"/>
          <p:cNvSpPr/>
          <p:nvPr/>
        </p:nvSpPr>
        <p:spPr>
          <a:xfrm>
            <a:off x="9155887" y="2624328"/>
            <a:ext cx="2487168" cy="868680"/>
          </a:xfrm>
          <a:prstGeom prst="rect">
            <a:avLst/>
          </a:prstGeom>
          <a:ln w="9525">
            <a:solidFill>
              <a:schemeClr val="tx1"/>
            </a:solidFill>
            <a:prstDash val="solid"/>
          </a:ln>
        </p:spPr>
      </p:sp>
      <p:sp>
        <p:nvSpPr>
          <p:cNvPr id="31" name="Text 28"/>
          <p:cNvSpPr txBox="1"/>
          <p:nvPr/>
        </p:nvSpPr>
        <p:spPr>
          <a:xfrm>
            <a:off x="9320479" y="2752344"/>
            <a:ext cx="2212848" cy="329184"/>
          </a:xfrm>
          <a:prstGeom prst="rect">
            <a:avLst/>
          </a:prstGeom>
          <a:noFill/>
          <a:ln/>
        </p:spPr>
        <p:txBody>
          <a:bodyPr wrap="square" lIns="0" tIns="0" rIns="0" bIns="0" rtlCol="0" anchor="t"/>
          <a:lstStyle/>
          <a:p>
            <a:pPr algn="l" indent="0" marL="0">
              <a:lnSpc>
                <a:spcPct val="112000"/>
              </a:lnSpc>
              <a:buNone/>
            </a:pPr>
            <a:r>
              <a:rPr lang="en-US" sz="1600" dirty="0">
                <a:solidFill>
                  <a:schemeClr val="tx1"/>
                </a:solidFill>
                <a:latin typeface="+mj-lt" pitchFamily="34" charset="0"/>
                <a:ea typeface="+mj-lt" pitchFamily="34" charset="-122"/>
                <a:cs typeface="+mj-lt" pitchFamily="34" charset="-120"/>
              </a:rPr>
              <a:t>Search Console</a:t>
            </a:r>
            <a:endParaRPr lang="en-US" sz="1600" dirty="0"/>
          </a:p>
        </p:txBody>
      </p:sp>
      <p:sp>
        <p:nvSpPr>
          <p:cNvPr id="32" name="Text 29"/>
          <p:cNvSpPr txBox="1"/>
          <p:nvPr/>
        </p:nvSpPr>
        <p:spPr>
          <a:xfrm>
            <a:off x="9320479" y="3099816"/>
            <a:ext cx="2212848" cy="274320"/>
          </a:xfrm>
          <a:prstGeom prst="rect">
            <a:avLst/>
          </a:prstGeom>
          <a:noFill/>
          <a:ln/>
        </p:spPr>
        <p:txBody>
          <a:bodyPr wrap="square" lIns="0" tIns="0" rIns="0" bIns="0" rtlCol="0" anchor="t"/>
          <a:lstStyle/>
          <a:p>
            <a:pPr algn="l" indent="0" marL="0">
              <a:lnSpc>
                <a:spcPct val="112000"/>
              </a:lnSpc>
              <a:buNone/>
            </a:pPr>
            <a:r>
              <a:rPr lang="en-US" sz="1200" dirty="0">
                <a:solidFill>
                  <a:schemeClr val="tx2"/>
                </a:solidFill>
              </a:rPr>
              <a:t>how Google sees the site</a:t>
            </a:r>
            <a:endParaRPr lang="en-US" sz="1200" dirty="0"/>
          </a:p>
        </p:txBody>
      </p:sp>
      <p:sp>
        <p:nvSpPr>
          <p:cNvPr id="33" name="Shape 30"/>
          <p:cNvSpPr/>
          <p:nvPr/>
        </p:nvSpPr>
        <p:spPr>
          <a:xfrm>
            <a:off x="9155887" y="3648456"/>
            <a:ext cx="2487168" cy="868680"/>
          </a:xfrm>
          <a:prstGeom prst="rect">
            <a:avLst/>
          </a:prstGeom>
          <a:ln w="9525">
            <a:solidFill>
              <a:schemeClr val="tx1"/>
            </a:solidFill>
            <a:prstDash val="solid"/>
          </a:ln>
        </p:spPr>
      </p:sp>
      <p:sp>
        <p:nvSpPr>
          <p:cNvPr id="34" name="Text 31"/>
          <p:cNvSpPr txBox="1"/>
          <p:nvPr/>
        </p:nvSpPr>
        <p:spPr>
          <a:xfrm>
            <a:off x="9320479" y="3776472"/>
            <a:ext cx="2212848" cy="329184"/>
          </a:xfrm>
          <a:prstGeom prst="rect">
            <a:avLst/>
          </a:prstGeom>
          <a:noFill/>
          <a:ln/>
        </p:spPr>
        <p:txBody>
          <a:bodyPr wrap="square" lIns="0" tIns="0" rIns="0" bIns="0" rtlCol="0" anchor="t"/>
          <a:lstStyle/>
          <a:p>
            <a:pPr algn="l" indent="0" marL="0">
              <a:lnSpc>
                <a:spcPct val="112000"/>
              </a:lnSpc>
              <a:buNone/>
            </a:pPr>
            <a:r>
              <a:rPr lang="en-US" sz="1600" dirty="0">
                <a:solidFill>
                  <a:schemeClr val="tx1"/>
                </a:solidFill>
                <a:latin typeface="+mj-lt" pitchFamily="34" charset="0"/>
                <a:ea typeface="+mj-lt" pitchFamily="34" charset="-122"/>
                <a:cs typeface="+mj-lt" pitchFamily="34" charset="-120"/>
              </a:rPr>
              <a:t>Analytics</a:t>
            </a:r>
            <a:endParaRPr lang="en-US" sz="1600" dirty="0"/>
          </a:p>
        </p:txBody>
      </p:sp>
      <p:sp>
        <p:nvSpPr>
          <p:cNvPr id="35" name="Text 32"/>
          <p:cNvSpPr txBox="1"/>
          <p:nvPr/>
        </p:nvSpPr>
        <p:spPr>
          <a:xfrm>
            <a:off x="9320479" y="4123944"/>
            <a:ext cx="2212848" cy="274320"/>
          </a:xfrm>
          <a:prstGeom prst="rect">
            <a:avLst/>
          </a:prstGeom>
          <a:noFill/>
          <a:ln/>
        </p:spPr>
        <p:txBody>
          <a:bodyPr wrap="square" lIns="0" tIns="0" rIns="0" bIns="0" rtlCol="0" anchor="t"/>
          <a:lstStyle/>
          <a:p>
            <a:pPr algn="l" indent="0" marL="0">
              <a:lnSpc>
                <a:spcPct val="112000"/>
              </a:lnSpc>
              <a:buNone/>
            </a:pPr>
            <a:r>
              <a:rPr lang="en-US" sz="1200" dirty="0">
                <a:solidFill>
                  <a:schemeClr val="tx2"/>
                </a:solidFill>
              </a:rPr>
              <a:t>visits, enquiries, calls</a:t>
            </a:r>
            <a:endParaRPr lang="en-US" sz="1200" dirty="0"/>
          </a:p>
        </p:txBody>
      </p:sp>
      <p:sp>
        <p:nvSpPr>
          <p:cNvPr id="36" name="Shape 33"/>
          <p:cNvSpPr/>
          <p:nvPr/>
        </p:nvSpPr>
        <p:spPr>
          <a:xfrm>
            <a:off x="9155887" y="4672584"/>
            <a:ext cx="2487168" cy="868680"/>
          </a:xfrm>
          <a:prstGeom prst="rect">
            <a:avLst/>
          </a:prstGeom>
          <a:ln w="9525">
            <a:solidFill>
              <a:schemeClr val="tx1"/>
            </a:solidFill>
            <a:prstDash val="solid"/>
          </a:ln>
        </p:spPr>
      </p:sp>
      <p:sp>
        <p:nvSpPr>
          <p:cNvPr id="37" name="Text 34"/>
          <p:cNvSpPr txBox="1"/>
          <p:nvPr/>
        </p:nvSpPr>
        <p:spPr>
          <a:xfrm>
            <a:off x="9320479" y="4800600"/>
            <a:ext cx="2212848" cy="329184"/>
          </a:xfrm>
          <a:prstGeom prst="rect">
            <a:avLst/>
          </a:prstGeom>
          <a:noFill/>
          <a:ln/>
        </p:spPr>
        <p:txBody>
          <a:bodyPr wrap="square" lIns="0" tIns="0" rIns="0" bIns="0" rtlCol="0" anchor="t"/>
          <a:lstStyle/>
          <a:p>
            <a:pPr algn="l" indent="0" marL="0">
              <a:lnSpc>
                <a:spcPct val="112000"/>
              </a:lnSpc>
              <a:buNone/>
            </a:pPr>
            <a:r>
              <a:rPr lang="en-US" sz="1600" dirty="0">
                <a:solidFill>
                  <a:schemeClr val="tx1"/>
                </a:solidFill>
                <a:latin typeface="+mj-lt" pitchFamily="34" charset="0"/>
                <a:ea typeface="+mj-lt" pitchFamily="34" charset="-122"/>
                <a:cs typeface="+mj-lt" pitchFamily="34" charset="-120"/>
              </a:rPr>
              <a:t>Business Profile</a:t>
            </a:r>
            <a:endParaRPr lang="en-US" sz="1600" dirty="0"/>
          </a:p>
        </p:txBody>
      </p:sp>
      <p:sp>
        <p:nvSpPr>
          <p:cNvPr id="38" name="Text 35"/>
          <p:cNvSpPr txBox="1"/>
          <p:nvPr/>
        </p:nvSpPr>
        <p:spPr>
          <a:xfrm>
            <a:off x="9320479" y="5148072"/>
            <a:ext cx="2212848" cy="274320"/>
          </a:xfrm>
          <a:prstGeom prst="rect">
            <a:avLst/>
          </a:prstGeom>
          <a:noFill/>
          <a:ln/>
        </p:spPr>
        <p:txBody>
          <a:bodyPr wrap="square" lIns="0" tIns="0" rIns="0" bIns="0" rtlCol="0" anchor="t"/>
          <a:lstStyle/>
          <a:p>
            <a:pPr algn="l" indent="0" marL="0">
              <a:lnSpc>
                <a:spcPct val="112000"/>
              </a:lnSpc>
              <a:buNone/>
            </a:pPr>
            <a:r>
              <a:rPr lang="en-US" sz="1200" dirty="0">
                <a:solidFill>
                  <a:schemeClr val="tx2"/>
                </a:solidFill>
              </a:rPr>
              <a:t>Google Search and Maps</a:t>
            </a:r>
            <a:endParaRPr lang="en-US" sz="12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04 — SEARCH AND PORTFOLIO</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From technical foundation to discovery</a:t>
            </a:r>
            <a:endParaRPr lang="en-US" sz="3200" dirty="0"/>
          </a:p>
        </p:txBody>
      </p:sp>
      <p:sp>
        <p:nvSpPr>
          <p:cNvPr id="5" name="Shape 2"/>
          <p:cNvSpPr/>
          <p:nvPr/>
        </p:nvSpPr>
        <p:spPr>
          <a:xfrm>
            <a:off x="548640" y="2121408"/>
            <a:ext cx="4297680" cy="603504"/>
          </a:xfrm>
          <a:prstGeom prst="rect">
            <a:avLst/>
          </a:prstGeom>
          <a:ln w="15875">
            <a:solidFill>
              <a:schemeClr val="accent3"/>
            </a:solidFill>
            <a:prstDash val="solid"/>
          </a:ln>
        </p:spPr>
      </p:sp>
      <p:sp>
        <p:nvSpPr>
          <p:cNvPr id="6" name="Text 3"/>
          <p:cNvSpPr txBox="1"/>
          <p:nvPr/>
        </p:nvSpPr>
        <p:spPr>
          <a:xfrm>
            <a:off x="731520" y="2121408"/>
            <a:ext cx="2194560" cy="603504"/>
          </a:xfrm>
          <a:prstGeom prst="rect">
            <a:avLst/>
          </a:prstGeom>
          <a:noFill/>
          <a:ln/>
        </p:spPr>
        <p:txBody>
          <a:bodyPr wrap="square" lIns="0" tIns="0" rIns="0" bIns="0" rtlCol="0" anchor="ctr"/>
          <a:lstStyle/>
          <a:p>
            <a:pPr algn="l" indent="0" marL="0">
              <a:lnSpc>
                <a:spcPct val="112000"/>
              </a:lnSpc>
              <a:buNone/>
            </a:pPr>
            <a:r>
              <a:rPr lang="en-US" sz="1500" dirty="0">
                <a:solidFill>
                  <a:schemeClr val="accent3"/>
                </a:solidFill>
                <a:latin typeface="+mj-lt" pitchFamily="34" charset="0"/>
                <a:ea typeface="+mj-lt" pitchFamily="34" charset="-122"/>
                <a:cs typeface="+mj-lt" pitchFamily="34" charset="-120"/>
              </a:rPr>
              <a:t>Discovery</a:t>
            </a:r>
            <a:endParaRPr lang="en-US" sz="1500" dirty="0"/>
          </a:p>
        </p:txBody>
      </p:sp>
      <p:sp>
        <p:nvSpPr>
          <p:cNvPr id="7" name="Text 4"/>
          <p:cNvSpPr txBox="1"/>
          <p:nvPr/>
        </p:nvSpPr>
        <p:spPr>
          <a:xfrm>
            <a:off x="2880360" y="2121408"/>
            <a:ext cx="1828800" cy="603504"/>
          </a:xfrm>
          <a:prstGeom prst="rect">
            <a:avLst/>
          </a:prstGeom>
          <a:noFill/>
          <a:ln/>
        </p:spPr>
        <p:txBody>
          <a:bodyPr wrap="square" lIns="0" tIns="0" rIns="0" bIns="0" rtlCol="0" anchor="ctr"/>
          <a:lstStyle/>
          <a:p>
            <a:pPr algn="l" indent="0" marL="0">
              <a:lnSpc>
                <a:spcPct val="112000"/>
              </a:lnSpc>
              <a:buNone/>
            </a:pPr>
            <a:r>
              <a:rPr lang="en-US" sz="1200" dirty="0">
                <a:solidFill>
                  <a:schemeClr val="tx2"/>
                </a:solidFill>
              </a:rPr>
              <a:t>found by name, service and project</a:t>
            </a:r>
            <a:endParaRPr lang="en-US" sz="1200" dirty="0"/>
          </a:p>
        </p:txBody>
      </p:sp>
      <p:sp>
        <p:nvSpPr>
          <p:cNvPr id="8" name="Shape 5"/>
          <p:cNvSpPr/>
          <p:nvPr/>
        </p:nvSpPr>
        <p:spPr>
          <a:xfrm>
            <a:off x="548640" y="2798064"/>
            <a:ext cx="4800600" cy="603504"/>
          </a:xfrm>
          <a:prstGeom prst="rect">
            <a:avLst/>
          </a:prstGeom>
          <a:solidFill>
            <a:schemeClr val="bg2"/>
          </a:solidFill>
          <a:ln w="9525">
            <a:solidFill>
              <a:schemeClr val="tx1"/>
            </a:solidFill>
            <a:prstDash val="solid"/>
          </a:ln>
        </p:spPr>
      </p:sp>
      <p:sp>
        <p:nvSpPr>
          <p:cNvPr id="9" name="Text 6"/>
          <p:cNvSpPr txBox="1"/>
          <p:nvPr/>
        </p:nvSpPr>
        <p:spPr>
          <a:xfrm>
            <a:off x="731520" y="2798064"/>
            <a:ext cx="2194560" cy="603504"/>
          </a:xfrm>
          <a:prstGeom prst="rect">
            <a:avLst/>
          </a:prstGeom>
          <a:noFill/>
          <a:ln/>
        </p:spPr>
        <p:txBody>
          <a:bodyPr wrap="square" lIns="0" tIns="0" rIns="0" bIns="0" rtlCol="0" anchor="ctr"/>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Authority</a:t>
            </a:r>
            <a:endParaRPr lang="en-US" sz="1500" dirty="0"/>
          </a:p>
        </p:txBody>
      </p:sp>
      <p:sp>
        <p:nvSpPr>
          <p:cNvPr id="10" name="Text 7"/>
          <p:cNvSpPr txBox="1"/>
          <p:nvPr/>
        </p:nvSpPr>
        <p:spPr>
          <a:xfrm>
            <a:off x="2880360" y="2798064"/>
            <a:ext cx="2331720" cy="603504"/>
          </a:xfrm>
          <a:prstGeom prst="rect">
            <a:avLst/>
          </a:prstGeom>
          <a:noFill/>
          <a:ln/>
        </p:spPr>
        <p:txBody>
          <a:bodyPr wrap="square" lIns="0" tIns="0" rIns="0" bIns="0" rtlCol="0" anchor="ctr"/>
          <a:lstStyle/>
          <a:p>
            <a:pPr algn="l" indent="0" marL="0">
              <a:lnSpc>
                <a:spcPct val="112000"/>
              </a:lnSpc>
              <a:buNone/>
            </a:pPr>
            <a:r>
              <a:rPr lang="en-US" sz="1200" dirty="0">
                <a:solidFill>
                  <a:schemeClr val="tx2"/>
                </a:solidFill>
              </a:rPr>
              <a:t>publications · Archello · Architizer</a:t>
            </a:r>
            <a:endParaRPr lang="en-US" sz="1200" dirty="0"/>
          </a:p>
        </p:txBody>
      </p:sp>
      <p:sp>
        <p:nvSpPr>
          <p:cNvPr id="11" name="Shape 8"/>
          <p:cNvSpPr/>
          <p:nvPr/>
        </p:nvSpPr>
        <p:spPr>
          <a:xfrm>
            <a:off x="548640" y="3474720"/>
            <a:ext cx="5303520" cy="603504"/>
          </a:xfrm>
          <a:prstGeom prst="rect">
            <a:avLst/>
          </a:prstGeom>
          <a:solidFill>
            <a:schemeClr val="bg1"/>
          </a:solidFill>
          <a:ln w="9525">
            <a:solidFill>
              <a:schemeClr val="tx1"/>
            </a:solidFill>
            <a:prstDash val="solid"/>
          </a:ln>
        </p:spPr>
      </p:sp>
      <p:sp>
        <p:nvSpPr>
          <p:cNvPr id="12" name="Text 9"/>
          <p:cNvSpPr txBox="1"/>
          <p:nvPr/>
        </p:nvSpPr>
        <p:spPr>
          <a:xfrm>
            <a:off x="731520" y="3474720"/>
            <a:ext cx="2194560" cy="603504"/>
          </a:xfrm>
          <a:prstGeom prst="rect">
            <a:avLst/>
          </a:prstGeom>
          <a:noFill/>
          <a:ln/>
        </p:spPr>
        <p:txBody>
          <a:bodyPr wrap="square" lIns="0" tIns="0" rIns="0" bIns="0" rtlCol="0" anchor="ctr"/>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Local presence</a:t>
            </a:r>
            <a:endParaRPr lang="en-US" sz="1500" dirty="0"/>
          </a:p>
        </p:txBody>
      </p:sp>
      <p:sp>
        <p:nvSpPr>
          <p:cNvPr id="13" name="Text 10"/>
          <p:cNvSpPr txBox="1"/>
          <p:nvPr/>
        </p:nvSpPr>
        <p:spPr>
          <a:xfrm>
            <a:off x="2880360" y="3474720"/>
            <a:ext cx="2834640" cy="603504"/>
          </a:xfrm>
          <a:prstGeom prst="rect">
            <a:avLst/>
          </a:prstGeom>
          <a:noFill/>
          <a:ln/>
        </p:spPr>
        <p:txBody>
          <a:bodyPr wrap="square" lIns="0" tIns="0" rIns="0" bIns="0" rtlCol="0" anchor="ctr"/>
          <a:lstStyle/>
          <a:p>
            <a:pPr algn="l" indent="0" marL="0">
              <a:lnSpc>
                <a:spcPct val="112000"/>
              </a:lnSpc>
              <a:buNone/>
            </a:pPr>
            <a:r>
              <a:rPr lang="en-US" sz="1200" dirty="0">
                <a:solidFill>
                  <a:schemeClr val="tx2"/>
                </a:solidFill>
              </a:rPr>
              <a:t>Business Profile · reviews · new studios</a:t>
            </a:r>
            <a:endParaRPr lang="en-US" sz="1200" dirty="0"/>
          </a:p>
        </p:txBody>
      </p:sp>
      <p:sp>
        <p:nvSpPr>
          <p:cNvPr id="14" name="Shape 11"/>
          <p:cNvSpPr/>
          <p:nvPr/>
        </p:nvSpPr>
        <p:spPr>
          <a:xfrm>
            <a:off x="548640" y="4151376"/>
            <a:ext cx="5806440" cy="603504"/>
          </a:xfrm>
          <a:prstGeom prst="rect">
            <a:avLst/>
          </a:prstGeom>
          <a:solidFill>
            <a:schemeClr val="bg2"/>
          </a:solidFill>
          <a:ln w="9525">
            <a:solidFill>
              <a:schemeClr val="tx1"/>
            </a:solidFill>
            <a:prstDash val="solid"/>
          </a:ln>
        </p:spPr>
      </p:sp>
      <p:sp>
        <p:nvSpPr>
          <p:cNvPr id="15" name="Text 12"/>
          <p:cNvSpPr txBox="1"/>
          <p:nvPr/>
        </p:nvSpPr>
        <p:spPr>
          <a:xfrm>
            <a:off x="731520" y="4151376"/>
            <a:ext cx="2194560" cy="603504"/>
          </a:xfrm>
          <a:prstGeom prst="rect">
            <a:avLst/>
          </a:prstGeom>
          <a:noFill/>
          <a:ln/>
        </p:spPr>
        <p:txBody>
          <a:bodyPr wrap="square" lIns="0" tIns="0" rIns="0" bIns="0" rtlCol="0" anchor="ctr"/>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Projects</a:t>
            </a:r>
            <a:endParaRPr lang="en-US" sz="1500" dirty="0"/>
          </a:p>
        </p:txBody>
      </p:sp>
      <p:sp>
        <p:nvSpPr>
          <p:cNvPr id="16" name="Text 13"/>
          <p:cNvSpPr txBox="1"/>
          <p:nvPr/>
        </p:nvSpPr>
        <p:spPr>
          <a:xfrm>
            <a:off x="2880360" y="4151376"/>
            <a:ext cx="3337560" cy="603504"/>
          </a:xfrm>
          <a:prstGeom prst="rect">
            <a:avLst/>
          </a:prstGeom>
          <a:noFill/>
          <a:ln/>
        </p:spPr>
        <p:txBody>
          <a:bodyPr wrap="square" lIns="0" tIns="0" rIns="0" bIns="0" rtlCol="0" anchor="ctr"/>
          <a:lstStyle/>
          <a:p>
            <a:pPr algn="l" indent="0" marL="0">
              <a:lnSpc>
                <a:spcPct val="112000"/>
              </a:lnSpc>
              <a:buNone/>
            </a:pPr>
            <a:r>
              <a:rPr lang="en-US" sz="1200" dirty="0">
                <a:solidFill>
                  <a:schemeClr val="tx2"/>
                </a:solidFill>
              </a:rPr>
              <a:t>facts · story · image SEO &amp; credits</a:t>
            </a:r>
            <a:endParaRPr lang="en-US" sz="1200" dirty="0"/>
          </a:p>
        </p:txBody>
      </p:sp>
      <p:sp>
        <p:nvSpPr>
          <p:cNvPr id="17" name="Shape 14"/>
          <p:cNvSpPr/>
          <p:nvPr/>
        </p:nvSpPr>
        <p:spPr>
          <a:xfrm>
            <a:off x="548640" y="4828032"/>
            <a:ext cx="6309360" cy="603504"/>
          </a:xfrm>
          <a:prstGeom prst="rect">
            <a:avLst/>
          </a:prstGeom>
          <a:solidFill>
            <a:schemeClr val="bg1"/>
          </a:solidFill>
          <a:ln w="9525">
            <a:solidFill>
              <a:schemeClr val="tx1"/>
            </a:solidFill>
            <a:prstDash val="solid"/>
          </a:ln>
        </p:spPr>
      </p:sp>
      <p:sp>
        <p:nvSpPr>
          <p:cNvPr id="18" name="Text 15"/>
          <p:cNvSpPr txBox="1"/>
          <p:nvPr/>
        </p:nvSpPr>
        <p:spPr>
          <a:xfrm>
            <a:off x="731520" y="4828032"/>
            <a:ext cx="2194560" cy="603504"/>
          </a:xfrm>
          <a:prstGeom prst="rect">
            <a:avLst/>
          </a:prstGeom>
          <a:noFill/>
          <a:ln/>
        </p:spPr>
        <p:txBody>
          <a:bodyPr wrap="square" lIns="0" tIns="0" rIns="0" bIns="0" rtlCol="0" anchor="ctr"/>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Services</a:t>
            </a:r>
            <a:endParaRPr lang="en-US" sz="1500" dirty="0"/>
          </a:p>
        </p:txBody>
      </p:sp>
      <p:sp>
        <p:nvSpPr>
          <p:cNvPr id="19" name="Text 16"/>
          <p:cNvSpPr txBox="1"/>
          <p:nvPr/>
        </p:nvSpPr>
        <p:spPr>
          <a:xfrm>
            <a:off x="2880360" y="4828032"/>
            <a:ext cx="3840480" cy="603504"/>
          </a:xfrm>
          <a:prstGeom prst="rect">
            <a:avLst/>
          </a:prstGeom>
          <a:noFill/>
          <a:ln/>
        </p:spPr>
        <p:txBody>
          <a:bodyPr wrap="square" lIns="0" tIns="0" rIns="0" bIns="0" rtlCol="0" anchor="ctr"/>
          <a:lstStyle/>
          <a:p>
            <a:pPr algn="l" indent="0" marL="0">
              <a:lnSpc>
                <a:spcPct val="112000"/>
              </a:lnSpc>
              <a:buNone/>
            </a:pPr>
            <a:r>
              <a:rPr lang="en-US" sz="1200" dirty="0">
                <a:solidFill>
                  <a:schemeClr val="tx2"/>
                </a:solidFill>
              </a:rPr>
              <a:t>Architecture · Interiors · Objects</a:t>
            </a:r>
            <a:endParaRPr lang="en-US" sz="1200" dirty="0"/>
          </a:p>
        </p:txBody>
      </p:sp>
      <p:sp>
        <p:nvSpPr>
          <p:cNvPr id="20" name="Shape 17"/>
          <p:cNvSpPr/>
          <p:nvPr/>
        </p:nvSpPr>
        <p:spPr>
          <a:xfrm>
            <a:off x="548640" y="5504688"/>
            <a:ext cx="6812280" cy="603504"/>
          </a:xfrm>
          <a:prstGeom prst="rect">
            <a:avLst/>
          </a:prstGeom>
          <a:solidFill>
            <a:schemeClr val="accent1"/>
          </a:solidFill>
          <a:ln/>
        </p:spPr>
      </p:sp>
      <p:sp>
        <p:nvSpPr>
          <p:cNvPr id="21" name="Text 18"/>
          <p:cNvSpPr txBox="1"/>
          <p:nvPr/>
        </p:nvSpPr>
        <p:spPr>
          <a:xfrm>
            <a:off x="731520" y="5504688"/>
            <a:ext cx="2194560" cy="603504"/>
          </a:xfrm>
          <a:prstGeom prst="rect">
            <a:avLst/>
          </a:prstGeom>
          <a:noFill/>
          <a:ln/>
        </p:spPr>
        <p:txBody>
          <a:bodyPr wrap="square" lIns="0" tIns="0" rIns="0" bIns="0" rtlCol="0" anchor="ctr"/>
          <a:lstStyle/>
          <a:p>
            <a:pPr algn="l" indent="0" marL="0">
              <a:lnSpc>
                <a:spcPct val="112000"/>
              </a:lnSpc>
              <a:buNone/>
            </a:pPr>
            <a:r>
              <a:rPr lang="en-US" sz="1500" dirty="0">
                <a:solidFill>
                  <a:schemeClr val="bg1"/>
                </a:solidFill>
                <a:latin typeface="+mj-lt" pitchFamily="34" charset="0"/>
                <a:ea typeface="+mj-lt" pitchFamily="34" charset="-122"/>
                <a:cs typeface="+mj-lt" pitchFamily="34" charset="-120"/>
              </a:rPr>
              <a:t>Technical foundation</a:t>
            </a:r>
            <a:endParaRPr lang="en-US" sz="1500" dirty="0"/>
          </a:p>
        </p:txBody>
      </p:sp>
      <p:sp>
        <p:nvSpPr>
          <p:cNvPr id="22" name="Text 19"/>
          <p:cNvSpPr txBox="1"/>
          <p:nvPr/>
        </p:nvSpPr>
        <p:spPr>
          <a:xfrm>
            <a:off x="2880360" y="5504688"/>
            <a:ext cx="4343400" cy="603504"/>
          </a:xfrm>
          <a:prstGeom prst="rect">
            <a:avLst/>
          </a:prstGeom>
          <a:noFill/>
          <a:ln/>
        </p:spPr>
        <p:txBody>
          <a:bodyPr wrap="square" lIns="0" tIns="0" rIns="0" bIns="0" rtlCol="0" anchor="ctr"/>
          <a:lstStyle/>
          <a:p>
            <a:pPr algn="l" indent="0" marL="0">
              <a:lnSpc>
                <a:spcPct val="112000"/>
              </a:lnSpc>
              <a:buNone/>
            </a:pPr>
            <a:r>
              <a:rPr lang="en-US" sz="1200" dirty="0">
                <a:solidFill>
                  <a:schemeClr val="accent4"/>
                </a:solidFill>
              </a:rPr>
              <a:t>indexing · structured data · speed</a:t>
            </a:r>
            <a:endParaRPr lang="en-US" sz="1200" dirty="0"/>
          </a:p>
        </p:txBody>
      </p:sp>
      <p:pic>
        <p:nvPicPr>
          <p:cNvPr id="23" name="Image 0" descr="Red Fort Project living room with a valley view (photography)">    </p:cNvPr>
          <p:cNvPicPr>
            <a:picLocks noChangeAspect="1"/>
          </p:cNvPicPr>
          <p:nvPr/>
        </p:nvPicPr>
        <p:blipFill>
          <a:blip r:embed="rId1"/>
          <a:srcRect l="0" r="0" t="0" b="0"/>
          <a:stretch/>
        </p:blipFill>
        <p:spPr>
          <a:xfrm>
            <a:off x="7818120" y="1600200"/>
            <a:ext cx="3824935" cy="2514600"/>
          </a:xfrm>
          <a:prstGeom prst="rect">
            <a:avLst/>
          </a:prstGeom>
        </p:spPr>
      </p:pic>
      <p:sp>
        <p:nvSpPr>
          <p:cNvPr id="24" name="Text 20"/>
          <p:cNvSpPr txBox="1"/>
          <p:nvPr/>
        </p:nvSpPr>
        <p:spPr>
          <a:xfrm>
            <a:off x="7818120" y="4169664"/>
            <a:ext cx="3824935" cy="182880"/>
          </a:xfrm>
          <a:prstGeom prst="rect">
            <a:avLst/>
          </a:prstGeom>
          <a:noFill/>
          <a:ln/>
        </p:spPr>
        <p:txBody>
          <a:bodyPr wrap="square" lIns="0" tIns="0" rIns="0" bIns="0" rtlCol="0" anchor="t"/>
          <a:lstStyle/>
          <a:p>
            <a:pPr algn="l" indent="0" marL="0">
              <a:lnSpc>
                <a:spcPct val="112000"/>
              </a:lnSpc>
              <a:buNone/>
            </a:pPr>
            <a:r>
              <a:rPr lang="en-US" sz="850" dirty="0">
                <a:solidFill>
                  <a:schemeClr val="accent2"/>
                </a:solidFill>
              </a:rPr>
              <a:t>Red Fort Project, Dharampur — photography</a:t>
            </a:r>
            <a:endParaRPr lang="en-US" sz="850" dirty="0"/>
          </a:p>
        </p:txBody>
      </p:sp>
      <p:sp>
        <p:nvSpPr>
          <p:cNvPr id="25" name="Text 21"/>
          <p:cNvSpPr txBox="1"/>
          <p:nvPr/>
        </p:nvSpPr>
        <p:spPr>
          <a:xfrm>
            <a:off x="7818120" y="4526280"/>
            <a:ext cx="3824935" cy="201168"/>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EVERY PROJECT PAGE</a:t>
            </a:r>
            <a:endParaRPr lang="en-US" sz="950" dirty="0"/>
          </a:p>
        </p:txBody>
      </p:sp>
      <p:sp>
        <p:nvSpPr>
          <p:cNvPr id="26" name="Shape 22"/>
          <p:cNvSpPr/>
          <p:nvPr/>
        </p:nvSpPr>
        <p:spPr>
          <a:xfrm>
            <a:off x="7818120" y="4800600"/>
            <a:ext cx="3824935" cy="0"/>
          </a:xfrm>
          <a:prstGeom prst="line">
            <a:avLst/>
          </a:prstGeom>
          <a:noFill/>
          <a:ln w="9525">
            <a:solidFill>
              <a:schemeClr val="tx1"/>
            </a:solidFill>
            <a:prstDash val="solid"/>
          </a:ln>
        </p:spPr>
      </p:sp>
      <p:sp>
        <p:nvSpPr>
          <p:cNvPr id="27" name="Text 23"/>
          <p:cNvSpPr txBox="1"/>
          <p:nvPr/>
        </p:nvSpPr>
        <p:spPr>
          <a:xfrm>
            <a:off x="7818120" y="4846320"/>
            <a:ext cx="3824935" cy="237744"/>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Place · type · year</a:t>
            </a:r>
            <a:endParaRPr lang="en-US" sz="1250" dirty="0"/>
          </a:p>
        </p:txBody>
      </p:sp>
      <p:sp>
        <p:nvSpPr>
          <p:cNvPr id="28" name="Shape 24"/>
          <p:cNvSpPr/>
          <p:nvPr/>
        </p:nvSpPr>
        <p:spPr>
          <a:xfrm>
            <a:off x="7818120" y="5093208"/>
            <a:ext cx="3824935" cy="0"/>
          </a:xfrm>
          <a:prstGeom prst="line">
            <a:avLst/>
          </a:prstGeom>
          <a:noFill/>
          <a:ln w="9525">
            <a:solidFill>
              <a:schemeClr val="accent5"/>
            </a:solidFill>
            <a:prstDash val="solid"/>
          </a:ln>
        </p:spPr>
      </p:sp>
      <p:sp>
        <p:nvSpPr>
          <p:cNvPr id="29" name="Text 25"/>
          <p:cNvSpPr txBox="1"/>
          <p:nvPr/>
        </p:nvSpPr>
        <p:spPr>
          <a:xfrm>
            <a:off x="7818120" y="5138928"/>
            <a:ext cx="3824935" cy="237744"/>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The story of the brief</a:t>
            </a:r>
            <a:endParaRPr lang="en-US" sz="1250" dirty="0"/>
          </a:p>
        </p:txBody>
      </p:sp>
      <p:sp>
        <p:nvSpPr>
          <p:cNvPr id="30" name="Shape 26"/>
          <p:cNvSpPr/>
          <p:nvPr/>
        </p:nvSpPr>
        <p:spPr>
          <a:xfrm>
            <a:off x="7818120" y="5385816"/>
            <a:ext cx="3824935" cy="0"/>
          </a:xfrm>
          <a:prstGeom prst="line">
            <a:avLst/>
          </a:prstGeom>
          <a:noFill/>
          <a:ln w="9525">
            <a:solidFill>
              <a:schemeClr val="accent5"/>
            </a:solidFill>
            <a:prstDash val="solid"/>
          </a:ln>
        </p:spPr>
      </p:sp>
      <p:sp>
        <p:nvSpPr>
          <p:cNvPr id="31" name="Text 27"/>
          <p:cNvSpPr txBox="1"/>
          <p:nvPr/>
        </p:nvSpPr>
        <p:spPr>
          <a:xfrm>
            <a:off x="7818120" y="5431536"/>
            <a:ext cx="3824935" cy="237744"/>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Credited images</a:t>
            </a:r>
            <a:endParaRPr lang="en-US" sz="1250" dirty="0"/>
          </a:p>
        </p:txBody>
      </p:sp>
      <p:sp>
        <p:nvSpPr>
          <p:cNvPr id="32" name="Shape 28"/>
          <p:cNvSpPr/>
          <p:nvPr/>
        </p:nvSpPr>
        <p:spPr>
          <a:xfrm>
            <a:off x="7818120" y="5678424"/>
            <a:ext cx="3824935" cy="0"/>
          </a:xfrm>
          <a:prstGeom prst="line">
            <a:avLst/>
          </a:prstGeom>
          <a:noFill/>
          <a:ln w="9525">
            <a:solidFill>
              <a:schemeClr val="accent5"/>
            </a:solidFill>
            <a:prstDash val="solid"/>
          </a:ln>
        </p:spPr>
      </p:sp>
      <p:sp>
        <p:nvSpPr>
          <p:cNvPr id="33" name="Text 29"/>
          <p:cNvSpPr txBox="1"/>
          <p:nvPr/>
        </p:nvSpPr>
        <p:spPr>
          <a:xfrm>
            <a:off x="7818120" y="5724144"/>
            <a:ext cx="3824935" cy="237744"/>
          </a:xfrm>
          <a:prstGeom prst="rect">
            <a:avLst/>
          </a:prstGeom>
          <a:noFill/>
          <a:ln/>
        </p:spPr>
        <p:txBody>
          <a:bodyPr wrap="square" lIns="0" tIns="0" rIns="0" bIns="0" rtlCol="0" anchor="t"/>
          <a:lstStyle/>
          <a:p>
            <a:pPr algn="l" indent="0" marL="0">
              <a:lnSpc>
                <a:spcPct val="112000"/>
              </a:lnSpc>
              <a:buNone/>
            </a:pPr>
            <a:r>
              <a:rPr lang="en-US" sz="1250" dirty="0">
                <a:solidFill>
                  <a:schemeClr val="tx2"/>
                </a:solidFill>
              </a:rPr>
              <a:t>Related work → enquiry</a:t>
            </a:r>
            <a:endParaRPr lang="en-US" sz="1250" dirty="0"/>
          </a:p>
        </p:txBody>
      </p:sp>
      <p:sp>
        <p:nvSpPr>
          <p:cNvPr id="34" name="Text 30"/>
          <p:cNvSpPr txBox="1"/>
          <p:nvPr/>
        </p:nvSpPr>
        <p:spPr>
          <a:xfrm>
            <a:off x="7818120" y="5989320"/>
            <a:ext cx="3824935" cy="237744"/>
          </a:xfrm>
          <a:prstGeom prst="rect">
            <a:avLst/>
          </a:prstGeom>
          <a:noFill/>
          <a:ln/>
        </p:spPr>
        <p:txBody>
          <a:bodyPr wrap="square" lIns="0" tIns="0" rIns="0" bIns="0" rtlCol="0" anchor="t"/>
          <a:lstStyle/>
          <a:p>
            <a:pPr algn="l" indent="0" marL="0">
              <a:lnSpc>
                <a:spcPct val="112000"/>
              </a:lnSpc>
              <a:buNone/>
            </a:pPr>
            <a:r>
              <a:rPr lang="en-US" sz="1200" i="1" dirty="0">
                <a:solidFill>
                  <a:schemeClr val="accent3"/>
                </a:solidFill>
              </a:rPr>
              <a:t>One publishing system for every new project</a:t>
            </a:r>
            <a:endParaRPr lang="en-US" sz="12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05 — FROM VISIBILITY TO BUSINESS</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From visibility to enquiries, measured monthly</a:t>
            </a:r>
            <a:endParaRPr lang="en-US" sz="3200" dirty="0"/>
          </a:p>
        </p:txBody>
      </p:sp>
      <p:sp>
        <p:nvSpPr>
          <p:cNvPr id="5" name="Shape 2"/>
          <p:cNvSpPr/>
          <p:nvPr/>
        </p:nvSpPr>
        <p:spPr>
          <a:xfrm>
            <a:off x="548640" y="1691640"/>
            <a:ext cx="1920240" cy="731520"/>
          </a:xfrm>
          <a:prstGeom prst="rect">
            <a:avLst/>
          </a:prstGeom>
          <a:ln w="9525">
            <a:solidFill>
              <a:schemeClr val="tx1"/>
            </a:solidFill>
            <a:prstDash val="solid"/>
          </a:ln>
        </p:spPr>
      </p:sp>
      <p:sp>
        <p:nvSpPr>
          <p:cNvPr id="6" name="Text 3"/>
          <p:cNvSpPr txBox="1"/>
          <p:nvPr/>
        </p:nvSpPr>
        <p:spPr>
          <a:xfrm>
            <a:off x="658368" y="1691640"/>
            <a:ext cx="1700784" cy="731520"/>
          </a:xfrm>
          <a:prstGeom prst="rect">
            <a:avLst/>
          </a:prstGeom>
          <a:noFill/>
          <a:ln/>
        </p:spPr>
        <p:txBody>
          <a:bodyPr wrap="square" lIns="0" tIns="0" rIns="0" bIns="0" rtlCol="0" anchor="ctr"/>
          <a:lstStyle/>
          <a:p>
            <a:pPr algn="ctr" indent="0" marL="0">
              <a:lnSpc>
                <a:spcPct val="112000"/>
              </a:lnSpc>
              <a:buNone/>
            </a:pPr>
            <a:r>
              <a:rPr lang="en-US" sz="1400" dirty="0">
                <a:solidFill>
                  <a:schemeClr val="tx1"/>
                </a:solidFill>
                <a:latin typeface="+mj-lt" pitchFamily="34" charset="0"/>
                <a:ea typeface="+mj-lt" pitchFamily="34" charset="-122"/>
                <a:cs typeface="+mj-lt" pitchFamily="34" charset="-120"/>
              </a:rPr>
              <a:t>Search · Maps · Content</a:t>
            </a:r>
            <a:endParaRPr lang="en-US" sz="1400" dirty="0"/>
          </a:p>
        </p:txBody>
      </p:sp>
      <p:sp>
        <p:nvSpPr>
          <p:cNvPr id="7" name="Shape 4"/>
          <p:cNvSpPr/>
          <p:nvPr/>
        </p:nvSpPr>
        <p:spPr>
          <a:xfrm>
            <a:off x="2523744" y="2057400"/>
            <a:ext cx="263576" cy="0"/>
          </a:xfrm>
          <a:prstGeom prst="line">
            <a:avLst/>
          </a:prstGeom>
          <a:noFill/>
          <a:ln w="11430">
            <a:solidFill>
              <a:schemeClr val="tx1"/>
            </a:solidFill>
            <a:prstDash val="solid"/>
            <a:tailEnd type="triangle"/>
          </a:ln>
        </p:spPr>
      </p:sp>
      <p:sp>
        <p:nvSpPr>
          <p:cNvPr id="8" name="Text 5"/>
          <p:cNvSpPr txBox="1"/>
          <p:nvPr/>
        </p:nvSpPr>
        <p:spPr>
          <a:xfrm>
            <a:off x="548640" y="2606040"/>
            <a:ext cx="1920240" cy="228600"/>
          </a:xfrm>
          <a:prstGeom prst="rect">
            <a:avLst/>
          </a:prstGeom>
          <a:noFill/>
          <a:ln/>
        </p:spPr>
        <p:txBody>
          <a:bodyPr wrap="square" lIns="0" tIns="0" rIns="0" bIns="0" rtlCol="0" anchor="t"/>
          <a:lstStyle/>
          <a:p>
            <a:pPr algn="ctr" indent="0" marL="0">
              <a:lnSpc>
                <a:spcPct val="112000"/>
              </a:lnSpc>
              <a:buNone/>
            </a:pPr>
            <a:r>
              <a:rPr lang="en-US" sz="950" spc="160" kern="0" dirty="0">
                <a:solidFill>
                  <a:schemeClr val="accent2"/>
                </a:solidFill>
              </a:rPr>
              <a:t>SEARCH CONSOLE</a:t>
            </a:r>
            <a:endParaRPr lang="en-US" sz="950" dirty="0"/>
          </a:p>
        </p:txBody>
      </p:sp>
      <p:sp>
        <p:nvSpPr>
          <p:cNvPr id="9" name="Text 6"/>
          <p:cNvSpPr txBox="1"/>
          <p:nvPr/>
        </p:nvSpPr>
        <p:spPr>
          <a:xfrm>
            <a:off x="548640" y="2852928"/>
            <a:ext cx="1920240" cy="274320"/>
          </a:xfrm>
          <a:prstGeom prst="rect">
            <a:avLst/>
          </a:prstGeom>
          <a:noFill/>
          <a:ln/>
        </p:spPr>
        <p:txBody>
          <a:bodyPr wrap="square" lIns="0" tIns="0" rIns="0" bIns="0" rtlCol="0" anchor="t"/>
          <a:lstStyle/>
          <a:p>
            <a:pPr algn="ctr" indent="0" marL="0">
              <a:lnSpc>
                <a:spcPct val="112000"/>
              </a:lnSpc>
              <a:buNone/>
            </a:pPr>
            <a:r>
              <a:rPr lang="en-US" sz="1200" dirty="0">
                <a:solidFill>
                  <a:schemeClr val="tx2"/>
                </a:solidFill>
              </a:rPr>
              <a:t>searches and views</a:t>
            </a:r>
            <a:endParaRPr lang="en-US" sz="1200" dirty="0"/>
          </a:p>
        </p:txBody>
      </p:sp>
      <p:sp>
        <p:nvSpPr>
          <p:cNvPr id="10" name="Shape 7"/>
          <p:cNvSpPr/>
          <p:nvPr/>
        </p:nvSpPr>
        <p:spPr>
          <a:xfrm>
            <a:off x="2842184" y="1691640"/>
            <a:ext cx="1920240" cy="731520"/>
          </a:xfrm>
          <a:prstGeom prst="rect">
            <a:avLst/>
          </a:prstGeom>
          <a:solidFill>
            <a:schemeClr val="bg2"/>
          </a:solidFill>
          <a:ln/>
        </p:spPr>
      </p:sp>
      <p:sp>
        <p:nvSpPr>
          <p:cNvPr id="11" name="Text 8"/>
          <p:cNvSpPr txBox="1"/>
          <p:nvPr/>
        </p:nvSpPr>
        <p:spPr>
          <a:xfrm>
            <a:off x="2951912" y="1691640"/>
            <a:ext cx="1700784" cy="731520"/>
          </a:xfrm>
          <a:prstGeom prst="rect">
            <a:avLst/>
          </a:prstGeom>
          <a:noFill/>
          <a:ln/>
        </p:spPr>
        <p:txBody>
          <a:bodyPr wrap="square" lIns="0" tIns="0" rIns="0" bIns="0" rtlCol="0" anchor="ctr"/>
          <a:lstStyle/>
          <a:p>
            <a:pPr algn="ctr" indent="0" marL="0">
              <a:lnSpc>
                <a:spcPct val="112000"/>
              </a:lnSpc>
              <a:buNone/>
            </a:pPr>
            <a:r>
              <a:rPr lang="en-US" sz="1400" dirty="0">
                <a:solidFill>
                  <a:schemeClr val="tx1"/>
                </a:solidFill>
                <a:latin typeface="+mj-lt" pitchFamily="34" charset="0"/>
                <a:ea typeface="+mj-lt" pitchFamily="34" charset="-122"/>
                <a:cs typeface="+mj-lt" pitchFamily="34" charset="-120"/>
              </a:rPr>
              <a:t>Website</a:t>
            </a:r>
            <a:endParaRPr lang="en-US" sz="1400" dirty="0"/>
          </a:p>
        </p:txBody>
      </p:sp>
      <p:sp>
        <p:nvSpPr>
          <p:cNvPr id="12" name="Shape 9"/>
          <p:cNvSpPr/>
          <p:nvPr/>
        </p:nvSpPr>
        <p:spPr>
          <a:xfrm>
            <a:off x="4817288" y="2057400"/>
            <a:ext cx="263576" cy="0"/>
          </a:xfrm>
          <a:prstGeom prst="line">
            <a:avLst/>
          </a:prstGeom>
          <a:noFill/>
          <a:ln w="11430">
            <a:solidFill>
              <a:schemeClr val="tx1"/>
            </a:solidFill>
            <a:prstDash val="solid"/>
            <a:tailEnd type="triangle"/>
          </a:ln>
        </p:spPr>
      </p:sp>
      <p:sp>
        <p:nvSpPr>
          <p:cNvPr id="13" name="Text 10"/>
          <p:cNvSpPr txBox="1"/>
          <p:nvPr/>
        </p:nvSpPr>
        <p:spPr>
          <a:xfrm>
            <a:off x="2842184" y="2606040"/>
            <a:ext cx="1920240" cy="228600"/>
          </a:xfrm>
          <a:prstGeom prst="rect">
            <a:avLst/>
          </a:prstGeom>
          <a:noFill/>
          <a:ln/>
        </p:spPr>
        <p:txBody>
          <a:bodyPr wrap="square" lIns="0" tIns="0" rIns="0" bIns="0" rtlCol="0" anchor="t"/>
          <a:lstStyle/>
          <a:p>
            <a:pPr algn="ctr" indent="0" marL="0">
              <a:lnSpc>
                <a:spcPct val="112000"/>
              </a:lnSpc>
              <a:buNone/>
            </a:pPr>
            <a:r>
              <a:rPr lang="en-US" sz="950" spc="160" kern="0" dirty="0">
                <a:solidFill>
                  <a:schemeClr val="accent2"/>
                </a:solidFill>
              </a:rPr>
              <a:t>ANALYTICS</a:t>
            </a:r>
            <a:endParaRPr lang="en-US" sz="950" dirty="0"/>
          </a:p>
        </p:txBody>
      </p:sp>
      <p:sp>
        <p:nvSpPr>
          <p:cNvPr id="14" name="Text 11"/>
          <p:cNvSpPr txBox="1"/>
          <p:nvPr/>
        </p:nvSpPr>
        <p:spPr>
          <a:xfrm>
            <a:off x="2842184" y="2852928"/>
            <a:ext cx="1920240" cy="274320"/>
          </a:xfrm>
          <a:prstGeom prst="rect">
            <a:avLst/>
          </a:prstGeom>
          <a:noFill/>
          <a:ln/>
        </p:spPr>
        <p:txBody>
          <a:bodyPr wrap="square" lIns="0" tIns="0" rIns="0" bIns="0" rtlCol="0" anchor="t"/>
          <a:lstStyle/>
          <a:p>
            <a:pPr algn="ctr" indent="0" marL="0">
              <a:lnSpc>
                <a:spcPct val="112000"/>
              </a:lnSpc>
              <a:buNone/>
            </a:pPr>
            <a:r>
              <a:rPr lang="en-US" sz="1200" dirty="0">
                <a:solidFill>
                  <a:schemeClr val="tx2"/>
                </a:solidFill>
              </a:rPr>
              <a:t>visits by source</a:t>
            </a:r>
            <a:endParaRPr lang="en-US" sz="1200" dirty="0"/>
          </a:p>
        </p:txBody>
      </p:sp>
      <p:sp>
        <p:nvSpPr>
          <p:cNvPr id="15" name="Shape 12"/>
          <p:cNvSpPr/>
          <p:nvPr/>
        </p:nvSpPr>
        <p:spPr>
          <a:xfrm>
            <a:off x="5135728" y="1691640"/>
            <a:ext cx="1920240" cy="731520"/>
          </a:xfrm>
          <a:prstGeom prst="rect">
            <a:avLst/>
          </a:prstGeom>
          <a:ln w="9525">
            <a:solidFill>
              <a:schemeClr val="tx1"/>
            </a:solidFill>
            <a:prstDash val="solid"/>
          </a:ln>
        </p:spPr>
      </p:sp>
      <p:sp>
        <p:nvSpPr>
          <p:cNvPr id="16" name="Text 13"/>
          <p:cNvSpPr txBox="1"/>
          <p:nvPr/>
        </p:nvSpPr>
        <p:spPr>
          <a:xfrm>
            <a:off x="5245456" y="1691640"/>
            <a:ext cx="1700784" cy="731520"/>
          </a:xfrm>
          <a:prstGeom prst="rect">
            <a:avLst/>
          </a:prstGeom>
          <a:noFill/>
          <a:ln/>
        </p:spPr>
        <p:txBody>
          <a:bodyPr wrap="square" lIns="0" tIns="0" rIns="0" bIns="0" rtlCol="0" anchor="ctr"/>
          <a:lstStyle/>
          <a:p>
            <a:pPr algn="ctr" indent="0" marL="0">
              <a:lnSpc>
                <a:spcPct val="112000"/>
              </a:lnSpc>
              <a:buNone/>
            </a:pPr>
            <a:r>
              <a:rPr lang="en-US" sz="1400" dirty="0">
                <a:solidFill>
                  <a:schemeClr val="tx1"/>
                </a:solidFill>
                <a:latin typeface="+mj-lt" pitchFamily="34" charset="0"/>
                <a:ea typeface="+mj-lt" pitchFamily="34" charset="-122"/>
                <a:cs typeface="+mj-lt" pitchFamily="34" charset="-120"/>
              </a:rPr>
              <a:t>Project exploration</a:t>
            </a:r>
            <a:endParaRPr lang="en-US" sz="1400" dirty="0"/>
          </a:p>
        </p:txBody>
      </p:sp>
      <p:sp>
        <p:nvSpPr>
          <p:cNvPr id="17" name="Shape 14"/>
          <p:cNvSpPr/>
          <p:nvPr/>
        </p:nvSpPr>
        <p:spPr>
          <a:xfrm>
            <a:off x="7110832" y="2057400"/>
            <a:ext cx="263576" cy="0"/>
          </a:xfrm>
          <a:prstGeom prst="line">
            <a:avLst/>
          </a:prstGeom>
          <a:noFill/>
          <a:ln w="11430">
            <a:solidFill>
              <a:schemeClr val="tx1"/>
            </a:solidFill>
            <a:prstDash val="solid"/>
            <a:tailEnd type="triangle"/>
          </a:ln>
        </p:spPr>
      </p:sp>
      <p:sp>
        <p:nvSpPr>
          <p:cNvPr id="18" name="Text 15"/>
          <p:cNvSpPr txBox="1"/>
          <p:nvPr/>
        </p:nvSpPr>
        <p:spPr>
          <a:xfrm>
            <a:off x="5135728" y="2606040"/>
            <a:ext cx="1920240" cy="228600"/>
          </a:xfrm>
          <a:prstGeom prst="rect">
            <a:avLst/>
          </a:prstGeom>
          <a:noFill/>
          <a:ln/>
        </p:spPr>
        <p:txBody>
          <a:bodyPr wrap="square" lIns="0" tIns="0" rIns="0" bIns="0" rtlCol="0" anchor="t"/>
          <a:lstStyle/>
          <a:p>
            <a:pPr algn="ctr" indent="0" marL="0">
              <a:lnSpc>
                <a:spcPct val="112000"/>
              </a:lnSpc>
              <a:buNone/>
            </a:pPr>
            <a:r>
              <a:rPr lang="en-US" sz="950" spc="160" kern="0" dirty="0">
                <a:solidFill>
                  <a:schemeClr val="accent2"/>
                </a:solidFill>
              </a:rPr>
              <a:t>ANALYTICS</a:t>
            </a:r>
            <a:endParaRPr lang="en-US" sz="950" dirty="0"/>
          </a:p>
        </p:txBody>
      </p:sp>
      <p:sp>
        <p:nvSpPr>
          <p:cNvPr id="19" name="Text 16"/>
          <p:cNvSpPr txBox="1"/>
          <p:nvPr/>
        </p:nvSpPr>
        <p:spPr>
          <a:xfrm>
            <a:off x="5135728" y="2852928"/>
            <a:ext cx="1920240" cy="274320"/>
          </a:xfrm>
          <a:prstGeom prst="rect">
            <a:avLst/>
          </a:prstGeom>
          <a:noFill/>
          <a:ln/>
        </p:spPr>
        <p:txBody>
          <a:bodyPr wrap="square" lIns="0" tIns="0" rIns="0" bIns="0" rtlCol="0" anchor="t"/>
          <a:lstStyle/>
          <a:p>
            <a:pPr algn="ctr" indent="0" marL="0">
              <a:lnSpc>
                <a:spcPct val="112000"/>
              </a:lnSpc>
              <a:buNone/>
            </a:pPr>
            <a:r>
              <a:rPr lang="en-US" sz="1200" dirty="0">
                <a:solidFill>
                  <a:schemeClr val="tx2"/>
                </a:solidFill>
              </a:rPr>
              <a:t>most-viewed projects</a:t>
            </a:r>
            <a:endParaRPr lang="en-US" sz="1200" dirty="0"/>
          </a:p>
        </p:txBody>
      </p:sp>
      <p:sp>
        <p:nvSpPr>
          <p:cNvPr id="20" name="Shape 17"/>
          <p:cNvSpPr/>
          <p:nvPr/>
        </p:nvSpPr>
        <p:spPr>
          <a:xfrm>
            <a:off x="7429271" y="1691640"/>
            <a:ext cx="1920240" cy="731520"/>
          </a:xfrm>
          <a:prstGeom prst="rect">
            <a:avLst/>
          </a:prstGeom>
          <a:ln w="9525">
            <a:solidFill>
              <a:schemeClr val="tx1"/>
            </a:solidFill>
            <a:prstDash val="solid"/>
          </a:ln>
        </p:spPr>
      </p:sp>
      <p:sp>
        <p:nvSpPr>
          <p:cNvPr id="21" name="Text 18"/>
          <p:cNvSpPr txBox="1"/>
          <p:nvPr/>
        </p:nvSpPr>
        <p:spPr>
          <a:xfrm>
            <a:off x="7538999" y="1691640"/>
            <a:ext cx="1700784" cy="731520"/>
          </a:xfrm>
          <a:prstGeom prst="rect">
            <a:avLst/>
          </a:prstGeom>
          <a:noFill/>
          <a:ln/>
        </p:spPr>
        <p:txBody>
          <a:bodyPr wrap="square" lIns="0" tIns="0" rIns="0" bIns="0" rtlCol="0" anchor="ctr"/>
          <a:lstStyle/>
          <a:p>
            <a:pPr algn="ctr" indent="0" marL="0">
              <a:lnSpc>
                <a:spcPct val="112000"/>
              </a:lnSpc>
              <a:buNone/>
            </a:pPr>
            <a:r>
              <a:rPr lang="en-US" sz="1400" dirty="0">
                <a:solidFill>
                  <a:schemeClr val="tx1"/>
                </a:solidFill>
                <a:latin typeface="+mj-lt" pitchFamily="34" charset="0"/>
                <a:ea typeface="+mj-lt" pitchFamily="34" charset="-122"/>
                <a:cs typeface="+mj-lt" pitchFamily="34" charset="-120"/>
              </a:rPr>
              <a:t>Enquiry · Call · Directions</a:t>
            </a:r>
            <a:endParaRPr lang="en-US" sz="1400" dirty="0"/>
          </a:p>
        </p:txBody>
      </p:sp>
      <p:sp>
        <p:nvSpPr>
          <p:cNvPr id="22" name="Shape 19"/>
          <p:cNvSpPr/>
          <p:nvPr/>
        </p:nvSpPr>
        <p:spPr>
          <a:xfrm>
            <a:off x="9404375" y="2057400"/>
            <a:ext cx="263576" cy="0"/>
          </a:xfrm>
          <a:prstGeom prst="line">
            <a:avLst/>
          </a:prstGeom>
          <a:noFill/>
          <a:ln w="11430">
            <a:solidFill>
              <a:schemeClr val="tx1"/>
            </a:solidFill>
            <a:prstDash val="solid"/>
            <a:tailEnd type="triangle"/>
          </a:ln>
        </p:spPr>
      </p:sp>
      <p:sp>
        <p:nvSpPr>
          <p:cNvPr id="23" name="Text 20"/>
          <p:cNvSpPr txBox="1"/>
          <p:nvPr/>
        </p:nvSpPr>
        <p:spPr>
          <a:xfrm>
            <a:off x="7429271" y="2606040"/>
            <a:ext cx="1920240" cy="228600"/>
          </a:xfrm>
          <a:prstGeom prst="rect">
            <a:avLst/>
          </a:prstGeom>
          <a:noFill/>
          <a:ln/>
        </p:spPr>
        <p:txBody>
          <a:bodyPr wrap="square" lIns="0" tIns="0" rIns="0" bIns="0" rtlCol="0" anchor="t"/>
          <a:lstStyle/>
          <a:p>
            <a:pPr algn="ctr" indent="0" marL="0">
              <a:lnSpc>
                <a:spcPct val="112000"/>
              </a:lnSpc>
              <a:buNone/>
            </a:pPr>
            <a:r>
              <a:rPr lang="en-US" sz="950" spc="160" kern="0" dirty="0">
                <a:solidFill>
                  <a:schemeClr val="accent2"/>
                </a:solidFill>
              </a:rPr>
              <a:t>ANALYTICS + LOG</a:t>
            </a:r>
            <a:endParaRPr lang="en-US" sz="950" dirty="0"/>
          </a:p>
        </p:txBody>
      </p:sp>
      <p:sp>
        <p:nvSpPr>
          <p:cNvPr id="24" name="Text 21"/>
          <p:cNvSpPr txBox="1"/>
          <p:nvPr/>
        </p:nvSpPr>
        <p:spPr>
          <a:xfrm>
            <a:off x="7429271" y="2852928"/>
            <a:ext cx="1920240" cy="274320"/>
          </a:xfrm>
          <a:prstGeom prst="rect">
            <a:avLst/>
          </a:prstGeom>
          <a:noFill/>
          <a:ln/>
        </p:spPr>
        <p:txBody>
          <a:bodyPr wrap="square" lIns="0" tIns="0" rIns="0" bIns="0" rtlCol="0" anchor="t"/>
          <a:lstStyle/>
          <a:p>
            <a:pPr algn="ctr" indent="0" marL="0">
              <a:lnSpc>
                <a:spcPct val="112000"/>
              </a:lnSpc>
              <a:buNone/>
            </a:pPr>
            <a:r>
              <a:rPr lang="en-US" sz="1200" dirty="0">
                <a:solidFill>
                  <a:schemeClr val="tx2"/>
                </a:solidFill>
              </a:rPr>
              <a:t>enquiries and contact</a:t>
            </a:r>
            <a:endParaRPr lang="en-US" sz="1200" dirty="0"/>
          </a:p>
        </p:txBody>
      </p:sp>
      <p:sp>
        <p:nvSpPr>
          <p:cNvPr id="25" name="Shape 22"/>
          <p:cNvSpPr/>
          <p:nvPr/>
        </p:nvSpPr>
        <p:spPr>
          <a:xfrm>
            <a:off x="9722815" y="1691640"/>
            <a:ext cx="1920240" cy="731520"/>
          </a:xfrm>
          <a:prstGeom prst="rect">
            <a:avLst/>
          </a:prstGeom>
          <a:solidFill>
            <a:schemeClr val="accent1"/>
          </a:solidFill>
          <a:ln/>
        </p:spPr>
      </p:sp>
      <p:sp>
        <p:nvSpPr>
          <p:cNvPr id="26" name="Text 23"/>
          <p:cNvSpPr txBox="1"/>
          <p:nvPr/>
        </p:nvSpPr>
        <p:spPr>
          <a:xfrm>
            <a:off x="9832543" y="1691640"/>
            <a:ext cx="1700784" cy="731520"/>
          </a:xfrm>
          <a:prstGeom prst="rect">
            <a:avLst/>
          </a:prstGeom>
          <a:noFill/>
          <a:ln/>
        </p:spPr>
        <p:txBody>
          <a:bodyPr wrap="square" lIns="0" tIns="0" rIns="0" bIns="0" rtlCol="0" anchor="ctr"/>
          <a:lstStyle/>
          <a:p>
            <a:pPr algn="ctr" indent="0" marL="0">
              <a:lnSpc>
                <a:spcPct val="112000"/>
              </a:lnSpc>
              <a:buNone/>
            </a:pPr>
            <a:r>
              <a:rPr lang="en-US" sz="1400" dirty="0">
                <a:solidFill>
                  <a:schemeClr val="bg1"/>
                </a:solidFill>
                <a:latin typeface="+mj-lt" pitchFamily="34" charset="0"/>
                <a:ea typeface="+mj-lt" pitchFamily="34" charset="-122"/>
                <a:cs typeface="+mj-lt" pitchFamily="34" charset="-120"/>
              </a:rPr>
              <a:t>Measurement</a:t>
            </a:r>
            <a:endParaRPr lang="en-US" sz="1400" dirty="0"/>
          </a:p>
        </p:txBody>
      </p:sp>
      <p:sp>
        <p:nvSpPr>
          <p:cNvPr id="27" name="Text 24"/>
          <p:cNvSpPr txBox="1"/>
          <p:nvPr/>
        </p:nvSpPr>
        <p:spPr>
          <a:xfrm>
            <a:off x="9722815" y="2606040"/>
            <a:ext cx="1920240" cy="228600"/>
          </a:xfrm>
          <a:prstGeom prst="rect">
            <a:avLst/>
          </a:prstGeom>
          <a:noFill/>
          <a:ln/>
        </p:spPr>
        <p:txBody>
          <a:bodyPr wrap="square" lIns="0" tIns="0" rIns="0" bIns="0" rtlCol="0" anchor="t"/>
          <a:lstStyle/>
          <a:p>
            <a:pPr algn="ctr" indent="0" marL="0">
              <a:lnSpc>
                <a:spcPct val="112000"/>
              </a:lnSpc>
              <a:buNone/>
            </a:pPr>
            <a:r>
              <a:rPr lang="en-US" sz="950" spc="160" kern="0" dirty="0">
                <a:solidFill>
                  <a:schemeClr val="accent2"/>
                </a:solidFill>
              </a:rPr>
              <a:t>DASHBOARD</a:t>
            </a:r>
            <a:endParaRPr lang="en-US" sz="950" dirty="0"/>
          </a:p>
        </p:txBody>
      </p:sp>
      <p:sp>
        <p:nvSpPr>
          <p:cNvPr id="28" name="Text 25"/>
          <p:cNvSpPr txBox="1"/>
          <p:nvPr/>
        </p:nvSpPr>
        <p:spPr>
          <a:xfrm>
            <a:off x="9722815" y="2852928"/>
            <a:ext cx="1920240" cy="274320"/>
          </a:xfrm>
          <a:prstGeom prst="rect">
            <a:avLst/>
          </a:prstGeom>
          <a:noFill/>
          <a:ln/>
        </p:spPr>
        <p:txBody>
          <a:bodyPr wrap="square" lIns="0" tIns="0" rIns="0" bIns="0" rtlCol="0" anchor="t"/>
          <a:lstStyle/>
          <a:p>
            <a:pPr algn="ctr" indent="0" marL="0">
              <a:lnSpc>
                <a:spcPct val="112000"/>
              </a:lnSpc>
              <a:buNone/>
            </a:pPr>
            <a:r>
              <a:rPr lang="en-US" sz="1200" dirty="0">
                <a:solidFill>
                  <a:schemeClr val="tx2"/>
                </a:solidFill>
              </a:rPr>
              <a:t>what produces enquiries</a:t>
            </a:r>
            <a:endParaRPr lang="en-US" sz="1200" dirty="0"/>
          </a:p>
        </p:txBody>
      </p:sp>
      <p:pic>
        <p:nvPicPr>
          <p:cNvPr id="29" name="Image 0" descr="RC House street elevation in brick and concrete (visualisation)">    </p:cNvPr>
          <p:cNvPicPr>
            <a:picLocks noChangeAspect="1"/>
          </p:cNvPicPr>
          <p:nvPr/>
        </p:nvPicPr>
        <p:blipFill>
          <a:blip r:embed="rId1"/>
          <a:srcRect l="0" r="0" t="0" b="0"/>
          <a:stretch/>
        </p:blipFill>
        <p:spPr>
          <a:xfrm>
            <a:off x="548640" y="3611880"/>
            <a:ext cx="4206240" cy="2514600"/>
          </a:xfrm>
          <a:prstGeom prst="rect">
            <a:avLst/>
          </a:prstGeom>
        </p:spPr>
      </p:pic>
      <p:sp>
        <p:nvSpPr>
          <p:cNvPr id="30" name="Text 26"/>
          <p:cNvSpPr txBox="1"/>
          <p:nvPr/>
        </p:nvSpPr>
        <p:spPr>
          <a:xfrm>
            <a:off x="548640" y="6172200"/>
            <a:ext cx="4206240" cy="182880"/>
          </a:xfrm>
          <a:prstGeom prst="rect">
            <a:avLst/>
          </a:prstGeom>
          <a:noFill/>
          <a:ln/>
        </p:spPr>
        <p:txBody>
          <a:bodyPr wrap="square" lIns="0" tIns="0" rIns="0" bIns="0" rtlCol="0" anchor="t"/>
          <a:lstStyle/>
          <a:p>
            <a:pPr algn="l" indent="0" marL="0">
              <a:lnSpc>
                <a:spcPct val="112000"/>
              </a:lnSpc>
              <a:buNone/>
            </a:pPr>
            <a:r>
              <a:rPr lang="en-US" sz="850" dirty="0">
                <a:solidFill>
                  <a:schemeClr val="accent2"/>
                </a:solidFill>
              </a:rPr>
              <a:t>RC House — visualisation</a:t>
            </a:r>
            <a:endParaRPr lang="en-US" sz="850" dirty="0"/>
          </a:p>
        </p:txBody>
      </p:sp>
      <p:sp>
        <p:nvSpPr>
          <p:cNvPr id="31" name="Text 27"/>
          <p:cNvSpPr txBox="1"/>
          <p:nvPr/>
        </p:nvSpPr>
        <p:spPr>
          <a:xfrm>
            <a:off x="5257800" y="3611880"/>
            <a:ext cx="6385255" cy="228600"/>
          </a:xfrm>
          <a:prstGeom prst="rect">
            <a:avLst/>
          </a:prstGeom>
          <a:noFill/>
          <a:ln/>
        </p:spPr>
        <p:txBody>
          <a:bodyPr wrap="square" lIns="0" tIns="0" rIns="0" bIns="0" rtlCol="0" anchor="t"/>
          <a:lstStyle/>
          <a:p>
            <a:pPr algn="l" indent="0" marL="0">
              <a:lnSpc>
                <a:spcPct val="112000"/>
              </a:lnSpc>
              <a:buNone/>
            </a:pPr>
            <a:r>
              <a:rPr lang="en-US" sz="950" spc="160" kern="0" dirty="0">
                <a:solidFill>
                  <a:schemeClr val="accent2"/>
                </a:solidFill>
              </a:rPr>
              <a:t>THE MONTHLY REPORT</a:t>
            </a:r>
            <a:endParaRPr lang="en-US" sz="950" dirty="0"/>
          </a:p>
        </p:txBody>
      </p:sp>
      <p:sp>
        <p:nvSpPr>
          <p:cNvPr id="32" name="Shape 28"/>
          <p:cNvSpPr/>
          <p:nvPr/>
        </p:nvSpPr>
        <p:spPr>
          <a:xfrm>
            <a:off x="5257800" y="3941064"/>
            <a:ext cx="6385255" cy="0"/>
          </a:xfrm>
          <a:prstGeom prst="line">
            <a:avLst/>
          </a:prstGeom>
          <a:noFill/>
          <a:ln w="9525">
            <a:solidFill>
              <a:schemeClr val="tx1"/>
            </a:solidFill>
            <a:prstDash val="solid"/>
          </a:ln>
        </p:spPr>
      </p:sp>
      <p:sp>
        <p:nvSpPr>
          <p:cNvPr id="33" name="Text 29"/>
          <p:cNvSpPr txBox="1"/>
          <p:nvPr/>
        </p:nvSpPr>
        <p:spPr>
          <a:xfrm>
            <a:off x="5257800" y="4114800"/>
            <a:ext cx="6385255" cy="457200"/>
          </a:xfrm>
          <a:prstGeom prst="rect">
            <a:avLst/>
          </a:prstGeom>
          <a:noFill/>
          <a:ln/>
        </p:spPr>
        <p:txBody>
          <a:bodyPr wrap="square" lIns="0" tIns="0" rIns="0" bIns="0" rtlCol="0" anchor="t"/>
          <a:lstStyle/>
          <a:p>
            <a:pPr algn="l" indent="0" marL="0">
              <a:lnSpc>
                <a:spcPct val="112000"/>
              </a:lnSpc>
              <a:buNone/>
            </a:pPr>
            <a:r>
              <a:rPr lang="en-US" sz="2400" dirty="0">
                <a:solidFill>
                  <a:schemeClr val="tx1"/>
                </a:solidFill>
                <a:latin typeface="+mj-lt" pitchFamily="34" charset="0"/>
                <a:ea typeface="+mj-lt" pitchFamily="34" charset="-122"/>
                <a:cs typeface="+mj-lt" pitchFamily="34" charset="-120"/>
              </a:rPr>
              <a:t>What changed?</a:t>
            </a:r>
            <a:endParaRPr lang="en-US" sz="2400" dirty="0"/>
          </a:p>
        </p:txBody>
      </p:sp>
      <p:sp>
        <p:nvSpPr>
          <p:cNvPr id="34" name="Text 30"/>
          <p:cNvSpPr txBox="1"/>
          <p:nvPr/>
        </p:nvSpPr>
        <p:spPr>
          <a:xfrm>
            <a:off x="5257800" y="4645152"/>
            <a:ext cx="6385255" cy="457200"/>
          </a:xfrm>
          <a:prstGeom prst="rect">
            <a:avLst/>
          </a:prstGeom>
          <a:noFill/>
          <a:ln/>
        </p:spPr>
        <p:txBody>
          <a:bodyPr wrap="square" lIns="0" tIns="0" rIns="0" bIns="0" rtlCol="0" anchor="t"/>
          <a:lstStyle/>
          <a:p>
            <a:pPr algn="l" indent="0" marL="0">
              <a:lnSpc>
                <a:spcPct val="112000"/>
              </a:lnSpc>
              <a:buNone/>
            </a:pPr>
            <a:r>
              <a:rPr lang="en-US" sz="2400" dirty="0">
                <a:solidFill>
                  <a:schemeClr val="tx1"/>
                </a:solidFill>
                <a:latin typeface="+mj-lt" pitchFamily="34" charset="0"/>
                <a:ea typeface="+mj-lt" pitchFamily="34" charset="-122"/>
                <a:cs typeface="+mj-lt" pitchFamily="34" charset="-120"/>
              </a:rPr>
              <a:t>Why it matters.</a:t>
            </a:r>
            <a:endParaRPr lang="en-US" sz="2400" dirty="0"/>
          </a:p>
        </p:txBody>
      </p:sp>
      <p:sp>
        <p:nvSpPr>
          <p:cNvPr id="35" name="Text 31"/>
          <p:cNvSpPr txBox="1"/>
          <p:nvPr/>
        </p:nvSpPr>
        <p:spPr>
          <a:xfrm>
            <a:off x="5257800" y="5175504"/>
            <a:ext cx="6385255" cy="457200"/>
          </a:xfrm>
          <a:prstGeom prst="rect">
            <a:avLst/>
          </a:prstGeom>
          <a:noFill/>
          <a:ln/>
        </p:spPr>
        <p:txBody>
          <a:bodyPr wrap="square" lIns="0" tIns="0" rIns="0" bIns="0" rtlCol="0" anchor="t"/>
          <a:lstStyle/>
          <a:p>
            <a:pPr algn="l" indent="0" marL="0">
              <a:lnSpc>
                <a:spcPct val="112000"/>
              </a:lnSpc>
              <a:buNone/>
            </a:pPr>
            <a:r>
              <a:rPr lang="en-US" sz="2400" dirty="0">
                <a:solidFill>
                  <a:schemeClr val="accent3"/>
                </a:solidFill>
                <a:latin typeface="+mj-lt" pitchFamily="34" charset="0"/>
                <a:ea typeface="+mj-lt" pitchFamily="34" charset="-122"/>
                <a:cs typeface="+mj-lt" pitchFamily="34" charset="-120"/>
              </a:rPr>
              <a:t>What happens next.</a:t>
            </a:r>
            <a:endParaRPr lang="en-US" sz="2400" dirty="0"/>
          </a:p>
        </p:txBody>
      </p:sp>
      <p:sp>
        <p:nvSpPr>
          <p:cNvPr id="36" name="Shape 32"/>
          <p:cNvSpPr/>
          <p:nvPr/>
        </p:nvSpPr>
        <p:spPr>
          <a:xfrm>
            <a:off x="5257800" y="5788152"/>
            <a:ext cx="6385255" cy="0"/>
          </a:xfrm>
          <a:prstGeom prst="line">
            <a:avLst/>
          </a:prstGeom>
          <a:noFill/>
          <a:ln w="9525">
            <a:solidFill>
              <a:schemeClr val="accent5"/>
            </a:solidFill>
            <a:prstDash val="solid"/>
          </a:ln>
        </p:spPr>
      </p:sp>
      <p:sp>
        <p:nvSpPr>
          <p:cNvPr id="37" name="Text 33"/>
          <p:cNvSpPr txBox="1"/>
          <p:nvPr/>
        </p:nvSpPr>
        <p:spPr>
          <a:xfrm>
            <a:off x="5257800" y="5879592"/>
            <a:ext cx="6385255" cy="256032"/>
          </a:xfrm>
          <a:prstGeom prst="rect">
            <a:avLst/>
          </a:prstGeom>
          <a:noFill/>
          <a:ln/>
        </p:spPr>
        <p:txBody>
          <a:bodyPr wrap="square" lIns="0" tIns="0" rIns="0" bIns="0" rtlCol="0" anchor="t"/>
          <a:lstStyle/>
          <a:p>
            <a:pPr algn="l" indent="0" marL="0">
              <a:lnSpc>
                <a:spcPct val="112000"/>
              </a:lnSpc>
              <a:buNone/>
            </a:pPr>
            <a:r>
              <a:rPr lang="en-US" sz="1200" dirty="0">
                <a:solidFill>
                  <a:schemeClr val="accent2"/>
                </a:solidFill>
              </a:rPr>
              <a:t>One page  ·  live dashboard  ·  owned by the studio</a:t>
            </a:r>
            <a:endParaRPr lang="en-US" sz="12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06 — IMPLEMENTATION ROADMAP</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Six milestones, about three months, then monthly</a:t>
            </a:r>
            <a:endParaRPr lang="en-US" sz="3200" dirty="0"/>
          </a:p>
        </p:txBody>
      </p:sp>
      <p:sp>
        <p:nvSpPr>
          <p:cNvPr id="5" name="Text 2"/>
          <p:cNvSpPr txBox="1"/>
          <p:nvPr/>
        </p:nvSpPr>
        <p:spPr>
          <a:xfrm>
            <a:off x="3429000" y="1691640"/>
            <a:ext cx="2527402" cy="237744"/>
          </a:xfrm>
          <a:prstGeom prst="rect">
            <a:avLst/>
          </a:prstGeom>
          <a:noFill/>
          <a:ln/>
        </p:spPr>
        <p:txBody>
          <a:bodyPr wrap="square" lIns="0" tIns="0" rIns="0" bIns="0" rtlCol="0" anchor="t"/>
          <a:lstStyle/>
          <a:p>
            <a:pPr algn="ctr" indent="0" marL="0">
              <a:lnSpc>
                <a:spcPct val="112000"/>
              </a:lnSpc>
              <a:buNone/>
            </a:pPr>
            <a:r>
              <a:rPr lang="en-US" sz="1050" dirty="0">
                <a:solidFill>
                  <a:schemeClr val="accent2"/>
                </a:solidFill>
              </a:rPr>
              <a:t>Month 1</a:t>
            </a:r>
            <a:endParaRPr lang="en-US" sz="1050" dirty="0"/>
          </a:p>
        </p:txBody>
      </p:sp>
      <p:sp>
        <p:nvSpPr>
          <p:cNvPr id="6" name="Shape 3"/>
          <p:cNvSpPr/>
          <p:nvPr/>
        </p:nvSpPr>
        <p:spPr>
          <a:xfrm>
            <a:off x="3429000" y="2020824"/>
            <a:ext cx="0" cy="3739896"/>
          </a:xfrm>
          <a:prstGeom prst="line">
            <a:avLst/>
          </a:prstGeom>
          <a:noFill/>
          <a:ln w="6350">
            <a:solidFill>
              <a:schemeClr val="accent5"/>
            </a:solidFill>
            <a:prstDash val="solid"/>
          </a:ln>
        </p:spPr>
      </p:sp>
      <p:sp>
        <p:nvSpPr>
          <p:cNvPr id="7" name="Text 4"/>
          <p:cNvSpPr txBox="1"/>
          <p:nvPr/>
        </p:nvSpPr>
        <p:spPr>
          <a:xfrm>
            <a:off x="5956402" y="1691640"/>
            <a:ext cx="2527402" cy="237744"/>
          </a:xfrm>
          <a:prstGeom prst="rect">
            <a:avLst/>
          </a:prstGeom>
          <a:noFill/>
          <a:ln/>
        </p:spPr>
        <p:txBody>
          <a:bodyPr wrap="square" lIns="0" tIns="0" rIns="0" bIns="0" rtlCol="0" anchor="t"/>
          <a:lstStyle/>
          <a:p>
            <a:pPr algn="ctr" indent="0" marL="0">
              <a:lnSpc>
                <a:spcPct val="112000"/>
              </a:lnSpc>
              <a:buNone/>
            </a:pPr>
            <a:r>
              <a:rPr lang="en-US" sz="1050" dirty="0">
                <a:solidFill>
                  <a:schemeClr val="accent2"/>
                </a:solidFill>
              </a:rPr>
              <a:t>Month 2</a:t>
            </a:r>
            <a:endParaRPr lang="en-US" sz="1050" dirty="0"/>
          </a:p>
        </p:txBody>
      </p:sp>
      <p:sp>
        <p:nvSpPr>
          <p:cNvPr id="8" name="Shape 5"/>
          <p:cNvSpPr/>
          <p:nvPr/>
        </p:nvSpPr>
        <p:spPr>
          <a:xfrm>
            <a:off x="5956402" y="2020824"/>
            <a:ext cx="0" cy="3739896"/>
          </a:xfrm>
          <a:prstGeom prst="line">
            <a:avLst/>
          </a:prstGeom>
          <a:noFill/>
          <a:ln w="6350">
            <a:solidFill>
              <a:schemeClr val="accent5"/>
            </a:solidFill>
            <a:prstDash val="solid"/>
          </a:ln>
        </p:spPr>
      </p:sp>
      <p:sp>
        <p:nvSpPr>
          <p:cNvPr id="9" name="Text 6"/>
          <p:cNvSpPr txBox="1"/>
          <p:nvPr/>
        </p:nvSpPr>
        <p:spPr>
          <a:xfrm>
            <a:off x="8483803" y="1691640"/>
            <a:ext cx="2527402" cy="237744"/>
          </a:xfrm>
          <a:prstGeom prst="rect">
            <a:avLst/>
          </a:prstGeom>
          <a:noFill/>
          <a:ln/>
        </p:spPr>
        <p:txBody>
          <a:bodyPr wrap="square" lIns="0" tIns="0" rIns="0" bIns="0" rtlCol="0" anchor="t"/>
          <a:lstStyle/>
          <a:p>
            <a:pPr algn="ctr" indent="0" marL="0">
              <a:lnSpc>
                <a:spcPct val="112000"/>
              </a:lnSpc>
              <a:buNone/>
            </a:pPr>
            <a:r>
              <a:rPr lang="en-US" sz="1050" dirty="0">
                <a:solidFill>
                  <a:schemeClr val="accent2"/>
                </a:solidFill>
              </a:rPr>
              <a:t>Month 3</a:t>
            </a:r>
            <a:endParaRPr lang="en-US" sz="1050" dirty="0"/>
          </a:p>
        </p:txBody>
      </p:sp>
      <p:sp>
        <p:nvSpPr>
          <p:cNvPr id="10" name="Shape 7"/>
          <p:cNvSpPr/>
          <p:nvPr/>
        </p:nvSpPr>
        <p:spPr>
          <a:xfrm>
            <a:off x="8483803" y="2020824"/>
            <a:ext cx="0" cy="3739896"/>
          </a:xfrm>
          <a:prstGeom prst="line">
            <a:avLst/>
          </a:prstGeom>
          <a:noFill/>
          <a:ln w="6350">
            <a:solidFill>
              <a:schemeClr val="accent5"/>
            </a:solidFill>
            <a:prstDash val="solid"/>
          </a:ln>
        </p:spPr>
      </p:sp>
      <p:sp>
        <p:nvSpPr>
          <p:cNvPr id="11" name="Text 8"/>
          <p:cNvSpPr txBox="1"/>
          <p:nvPr/>
        </p:nvSpPr>
        <p:spPr>
          <a:xfrm>
            <a:off x="11011205" y="1691640"/>
            <a:ext cx="631850" cy="237744"/>
          </a:xfrm>
          <a:prstGeom prst="rect">
            <a:avLst/>
          </a:prstGeom>
          <a:noFill/>
          <a:ln/>
        </p:spPr>
        <p:txBody>
          <a:bodyPr wrap="square" lIns="0" tIns="0" rIns="0" bIns="0" rtlCol="0" anchor="t"/>
          <a:lstStyle/>
          <a:p>
            <a:pPr algn="ctr" indent="0" marL="0">
              <a:lnSpc>
                <a:spcPct val="112000"/>
              </a:lnSpc>
              <a:buNone/>
            </a:pPr>
            <a:r>
              <a:rPr lang="en-US" sz="1050" dirty="0">
                <a:solidFill>
                  <a:schemeClr val="accent2"/>
                </a:solidFill>
              </a:rPr>
              <a:t>Ongoing</a:t>
            </a:r>
            <a:endParaRPr lang="en-US" sz="1050" dirty="0"/>
          </a:p>
        </p:txBody>
      </p:sp>
      <p:sp>
        <p:nvSpPr>
          <p:cNvPr id="12" name="Shape 9"/>
          <p:cNvSpPr/>
          <p:nvPr/>
        </p:nvSpPr>
        <p:spPr>
          <a:xfrm>
            <a:off x="11011205" y="2020824"/>
            <a:ext cx="0" cy="3739896"/>
          </a:xfrm>
          <a:prstGeom prst="line">
            <a:avLst/>
          </a:prstGeom>
          <a:noFill/>
          <a:ln w="6350">
            <a:solidFill>
              <a:schemeClr val="accent5"/>
            </a:solidFill>
            <a:prstDash val="solid"/>
          </a:ln>
        </p:spPr>
      </p:sp>
      <p:sp>
        <p:nvSpPr>
          <p:cNvPr id="13" name="Shape 10"/>
          <p:cNvSpPr/>
          <p:nvPr/>
        </p:nvSpPr>
        <p:spPr>
          <a:xfrm>
            <a:off x="11643055" y="2020824"/>
            <a:ext cx="0" cy="3739896"/>
          </a:xfrm>
          <a:prstGeom prst="line">
            <a:avLst/>
          </a:prstGeom>
          <a:noFill/>
          <a:ln w="6350">
            <a:solidFill>
              <a:schemeClr val="accent5"/>
            </a:solidFill>
            <a:prstDash val="solid"/>
          </a:ln>
        </p:spPr>
      </p:sp>
      <p:sp>
        <p:nvSpPr>
          <p:cNvPr id="14" name="Shape 11"/>
          <p:cNvSpPr/>
          <p:nvPr/>
        </p:nvSpPr>
        <p:spPr>
          <a:xfrm>
            <a:off x="548640" y="2020824"/>
            <a:ext cx="11094415" cy="0"/>
          </a:xfrm>
          <a:prstGeom prst="line">
            <a:avLst/>
          </a:prstGeom>
          <a:noFill/>
          <a:ln w="9525">
            <a:solidFill>
              <a:schemeClr val="tx1"/>
            </a:solidFill>
            <a:prstDash val="solid"/>
          </a:ln>
        </p:spPr>
      </p:sp>
      <p:sp>
        <p:nvSpPr>
          <p:cNvPr id="15" name="Text 12"/>
          <p:cNvSpPr txBox="1"/>
          <p:nvPr/>
        </p:nvSpPr>
        <p:spPr>
          <a:xfrm>
            <a:off x="548640" y="2267712"/>
            <a:ext cx="411480" cy="292608"/>
          </a:xfrm>
          <a:prstGeom prst="rect">
            <a:avLst/>
          </a:prstGeom>
          <a:noFill/>
          <a:ln/>
        </p:spPr>
        <p:txBody>
          <a:bodyPr wrap="square" lIns="0" tIns="0" rIns="0" bIns="0" rtlCol="0" anchor="t"/>
          <a:lstStyle/>
          <a:p>
            <a:pPr algn="l" indent="0" marL="0">
              <a:lnSpc>
                <a:spcPct val="112000"/>
              </a:lnSpc>
              <a:buNone/>
            </a:pPr>
            <a:r>
              <a:rPr lang="en-US" sz="1200" dirty="0">
                <a:solidFill>
                  <a:schemeClr val="accent3"/>
                </a:solidFill>
                <a:latin typeface="+mj-lt" pitchFamily="34" charset="0"/>
                <a:ea typeface="+mj-lt" pitchFamily="34" charset="-122"/>
                <a:cs typeface="+mj-lt" pitchFamily="34" charset="-120"/>
              </a:rPr>
              <a:t>01</a:t>
            </a:r>
            <a:endParaRPr lang="en-US" sz="1200" dirty="0"/>
          </a:p>
        </p:txBody>
      </p:sp>
      <p:sp>
        <p:nvSpPr>
          <p:cNvPr id="16" name="Text 13"/>
          <p:cNvSpPr txBox="1"/>
          <p:nvPr/>
        </p:nvSpPr>
        <p:spPr>
          <a:xfrm>
            <a:off x="960120" y="2249424"/>
            <a:ext cx="2331720" cy="329184"/>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Foundation</a:t>
            </a:r>
            <a:endParaRPr lang="en-US" sz="1500" dirty="0"/>
          </a:p>
        </p:txBody>
      </p:sp>
      <p:sp>
        <p:nvSpPr>
          <p:cNvPr id="17" name="Shape 14"/>
          <p:cNvSpPr/>
          <p:nvPr/>
        </p:nvSpPr>
        <p:spPr>
          <a:xfrm>
            <a:off x="3429000" y="2322576"/>
            <a:ext cx="1263701" cy="219456"/>
          </a:xfrm>
          <a:prstGeom prst="rect">
            <a:avLst/>
          </a:prstGeom>
          <a:solidFill>
            <a:schemeClr val="accent1"/>
          </a:solidFill>
          <a:ln/>
        </p:spPr>
      </p:sp>
      <p:sp>
        <p:nvSpPr>
          <p:cNvPr id="18" name="Text 15"/>
          <p:cNvSpPr txBox="1"/>
          <p:nvPr/>
        </p:nvSpPr>
        <p:spPr>
          <a:xfrm>
            <a:off x="4820717" y="2249424"/>
            <a:ext cx="6822338" cy="365760"/>
          </a:xfrm>
          <a:prstGeom prst="rect">
            <a:avLst/>
          </a:prstGeom>
          <a:noFill/>
          <a:ln/>
        </p:spPr>
        <p:txBody>
          <a:bodyPr wrap="square" lIns="0" tIns="0" rIns="0" bIns="0" rtlCol="0" anchor="ctr"/>
          <a:lstStyle/>
          <a:p>
            <a:pPr algn="l" indent="0" marL="0">
              <a:lnSpc>
                <a:spcPct val="112000"/>
              </a:lnSpc>
              <a:buNone/>
            </a:pPr>
            <a:r>
              <a:rPr lang="en-US" sz="1150" dirty="0">
                <a:solidFill>
                  <a:schemeClr val="tx2"/>
                </a:solidFill>
              </a:rPr>
              <a:t>Domain · email · workspace · backup</a:t>
            </a:r>
            <a:endParaRPr lang="en-US" sz="1150" dirty="0"/>
          </a:p>
        </p:txBody>
      </p:sp>
      <p:sp>
        <p:nvSpPr>
          <p:cNvPr id="19" name="Text 16"/>
          <p:cNvSpPr txBox="1"/>
          <p:nvPr/>
        </p:nvSpPr>
        <p:spPr>
          <a:xfrm>
            <a:off x="548640" y="2834640"/>
            <a:ext cx="411480" cy="292608"/>
          </a:xfrm>
          <a:prstGeom prst="rect">
            <a:avLst/>
          </a:prstGeom>
          <a:noFill/>
          <a:ln/>
        </p:spPr>
        <p:txBody>
          <a:bodyPr wrap="square" lIns="0" tIns="0" rIns="0" bIns="0" rtlCol="0" anchor="t"/>
          <a:lstStyle/>
          <a:p>
            <a:pPr algn="l" indent="0" marL="0">
              <a:lnSpc>
                <a:spcPct val="112000"/>
              </a:lnSpc>
              <a:buNone/>
            </a:pPr>
            <a:r>
              <a:rPr lang="en-US" sz="1200" dirty="0">
                <a:solidFill>
                  <a:schemeClr val="accent3"/>
                </a:solidFill>
                <a:latin typeface="+mj-lt" pitchFamily="34" charset="0"/>
                <a:ea typeface="+mj-lt" pitchFamily="34" charset="-122"/>
                <a:cs typeface="+mj-lt" pitchFamily="34" charset="-120"/>
              </a:rPr>
              <a:t>02</a:t>
            </a:r>
            <a:endParaRPr lang="en-US" sz="1200" dirty="0"/>
          </a:p>
        </p:txBody>
      </p:sp>
      <p:sp>
        <p:nvSpPr>
          <p:cNvPr id="20" name="Text 17"/>
          <p:cNvSpPr txBox="1"/>
          <p:nvPr/>
        </p:nvSpPr>
        <p:spPr>
          <a:xfrm>
            <a:off x="960120" y="2816352"/>
            <a:ext cx="2331720" cy="329184"/>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Launch</a:t>
            </a:r>
            <a:endParaRPr lang="en-US" sz="1500" dirty="0"/>
          </a:p>
        </p:txBody>
      </p:sp>
      <p:sp>
        <p:nvSpPr>
          <p:cNvPr id="21" name="Shape 18"/>
          <p:cNvSpPr/>
          <p:nvPr/>
        </p:nvSpPr>
        <p:spPr>
          <a:xfrm>
            <a:off x="4060850" y="2889504"/>
            <a:ext cx="1895551" cy="219456"/>
          </a:xfrm>
          <a:prstGeom prst="rect">
            <a:avLst/>
          </a:prstGeom>
          <a:solidFill>
            <a:schemeClr val="accent1"/>
          </a:solidFill>
          <a:ln/>
        </p:spPr>
      </p:sp>
      <p:sp>
        <p:nvSpPr>
          <p:cNvPr id="22" name="Text 19"/>
          <p:cNvSpPr txBox="1"/>
          <p:nvPr/>
        </p:nvSpPr>
        <p:spPr>
          <a:xfrm>
            <a:off x="6084418" y="2816352"/>
            <a:ext cx="5558638" cy="365760"/>
          </a:xfrm>
          <a:prstGeom prst="rect">
            <a:avLst/>
          </a:prstGeom>
          <a:noFill/>
          <a:ln/>
        </p:spPr>
        <p:txBody>
          <a:bodyPr wrap="square" lIns="0" tIns="0" rIns="0" bIns="0" rtlCol="0" anchor="ctr"/>
          <a:lstStyle/>
          <a:p>
            <a:pPr algn="l" indent="0" marL="0">
              <a:lnSpc>
                <a:spcPct val="112000"/>
              </a:lnSpc>
              <a:buNone/>
            </a:pPr>
            <a:r>
              <a:rPr lang="en-US" sz="1150" dirty="0">
                <a:solidFill>
                  <a:schemeClr val="tx2"/>
                </a:solidFill>
              </a:rPr>
              <a:t>Site live and connected to Google</a:t>
            </a:r>
            <a:endParaRPr lang="en-US" sz="1150" dirty="0"/>
          </a:p>
        </p:txBody>
      </p:sp>
      <p:sp>
        <p:nvSpPr>
          <p:cNvPr id="23" name="Text 20"/>
          <p:cNvSpPr txBox="1"/>
          <p:nvPr/>
        </p:nvSpPr>
        <p:spPr>
          <a:xfrm>
            <a:off x="548640" y="3401568"/>
            <a:ext cx="411480" cy="292608"/>
          </a:xfrm>
          <a:prstGeom prst="rect">
            <a:avLst/>
          </a:prstGeom>
          <a:noFill/>
          <a:ln/>
        </p:spPr>
        <p:txBody>
          <a:bodyPr wrap="square" lIns="0" tIns="0" rIns="0" bIns="0" rtlCol="0" anchor="t"/>
          <a:lstStyle/>
          <a:p>
            <a:pPr algn="l" indent="0" marL="0">
              <a:lnSpc>
                <a:spcPct val="112000"/>
              </a:lnSpc>
              <a:buNone/>
            </a:pPr>
            <a:r>
              <a:rPr lang="en-US" sz="1200" dirty="0">
                <a:solidFill>
                  <a:schemeClr val="accent3"/>
                </a:solidFill>
                <a:latin typeface="+mj-lt" pitchFamily="34" charset="0"/>
                <a:ea typeface="+mj-lt" pitchFamily="34" charset="-122"/>
                <a:cs typeface="+mj-lt" pitchFamily="34" charset="-120"/>
              </a:rPr>
              <a:t>03</a:t>
            </a:r>
            <a:endParaRPr lang="en-US" sz="1200" dirty="0"/>
          </a:p>
        </p:txBody>
      </p:sp>
      <p:sp>
        <p:nvSpPr>
          <p:cNvPr id="24" name="Text 21"/>
          <p:cNvSpPr txBox="1"/>
          <p:nvPr/>
        </p:nvSpPr>
        <p:spPr>
          <a:xfrm>
            <a:off x="960120" y="3383280"/>
            <a:ext cx="2331720" cy="329184"/>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Local presence</a:t>
            </a:r>
            <a:endParaRPr lang="en-US" sz="1500" dirty="0"/>
          </a:p>
        </p:txBody>
      </p:sp>
      <p:sp>
        <p:nvSpPr>
          <p:cNvPr id="25" name="Shape 22"/>
          <p:cNvSpPr/>
          <p:nvPr/>
        </p:nvSpPr>
        <p:spPr>
          <a:xfrm>
            <a:off x="4692701" y="3456432"/>
            <a:ext cx="2527402" cy="219456"/>
          </a:xfrm>
          <a:prstGeom prst="rect">
            <a:avLst/>
          </a:prstGeom>
          <a:solidFill>
            <a:schemeClr val="accent1"/>
          </a:solidFill>
          <a:ln/>
        </p:spPr>
      </p:sp>
      <p:sp>
        <p:nvSpPr>
          <p:cNvPr id="26" name="Text 23"/>
          <p:cNvSpPr txBox="1"/>
          <p:nvPr/>
        </p:nvSpPr>
        <p:spPr>
          <a:xfrm>
            <a:off x="7348118" y="3383280"/>
            <a:ext cx="4294937" cy="365760"/>
          </a:xfrm>
          <a:prstGeom prst="rect">
            <a:avLst/>
          </a:prstGeom>
          <a:noFill/>
          <a:ln/>
        </p:spPr>
        <p:txBody>
          <a:bodyPr wrap="square" lIns="0" tIns="0" rIns="0" bIns="0" rtlCol="0" anchor="ctr"/>
          <a:lstStyle/>
          <a:p>
            <a:pPr algn="l" indent="0" marL="0">
              <a:lnSpc>
                <a:spcPct val="112000"/>
              </a:lnSpc>
              <a:buNone/>
            </a:pPr>
            <a:r>
              <a:rPr lang="en-US" sz="1150" dirty="0">
                <a:solidFill>
                  <a:schemeClr val="tx2"/>
                </a:solidFill>
              </a:rPr>
              <a:t>Verified Google Maps presence</a:t>
            </a:r>
            <a:endParaRPr lang="en-US" sz="1150" dirty="0"/>
          </a:p>
        </p:txBody>
      </p:sp>
      <p:sp>
        <p:nvSpPr>
          <p:cNvPr id="27" name="Text 24"/>
          <p:cNvSpPr txBox="1"/>
          <p:nvPr/>
        </p:nvSpPr>
        <p:spPr>
          <a:xfrm>
            <a:off x="548640" y="3968496"/>
            <a:ext cx="411480" cy="292608"/>
          </a:xfrm>
          <a:prstGeom prst="rect">
            <a:avLst/>
          </a:prstGeom>
          <a:noFill/>
          <a:ln/>
        </p:spPr>
        <p:txBody>
          <a:bodyPr wrap="square" lIns="0" tIns="0" rIns="0" bIns="0" rtlCol="0" anchor="t"/>
          <a:lstStyle/>
          <a:p>
            <a:pPr algn="l" indent="0" marL="0">
              <a:lnSpc>
                <a:spcPct val="112000"/>
              </a:lnSpc>
              <a:buNone/>
            </a:pPr>
            <a:r>
              <a:rPr lang="en-US" sz="1200" dirty="0">
                <a:solidFill>
                  <a:schemeClr val="accent3"/>
                </a:solidFill>
                <a:latin typeface="+mj-lt" pitchFamily="34" charset="0"/>
                <a:ea typeface="+mj-lt" pitchFamily="34" charset="-122"/>
                <a:cs typeface="+mj-lt" pitchFamily="34" charset="-120"/>
              </a:rPr>
              <a:t>04</a:t>
            </a:r>
            <a:endParaRPr lang="en-US" sz="1200" dirty="0"/>
          </a:p>
        </p:txBody>
      </p:sp>
      <p:sp>
        <p:nvSpPr>
          <p:cNvPr id="28" name="Text 25"/>
          <p:cNvSpPr txBox="1"/>
          <p:nvPr/>
        </p:nvSpPr>
        <p:spPr>
          <a:xfrm>
            <a:off x="960120" y="3950208"/>
            <a:ext cx="2331720" cy="329184"/>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Portfolio</a:t>
            </a:r>
            <a:endParaRPr lang="en-US" sz="1500" dirty="0"/>
          </a:p>
        </p:txBody>
      </p:sp>
      <p:sp>
        <p:nvSpPr>
          <p:cNvPr id="29" name="Shape 26"/>
          <p:cNvSpPr/>
          <p:nvPr/>
        </p:nvSpPr>
        <p:spPr>
          <a:xfrm>
            <a:off x="5324551" y="4023360"/>
            <a:ext cx="4422953" cy="219456"/>
          </a:xfrm>
          <a:prstGeom prst="rect">
            <a:avLst/>
          </a:prstGeom>
          <a:solidFill>
            <a:schemeClr val="accent1"/>
          </a:solidFill>
          <a:ln/>
        </p:spPr>
      </p:sp>
      <p:sp>
        <p:nvSpPr>
          <p:cNvPr id="30" name="Text 27"/>
          <p:cNvSpPr txBox="1"/>
          <p:nvPr/>
        </p:nvSpPr>
        <p:spPr>
          <a:xfrm>
            <a:off x="9875520" y="3950208"/>
            <a:ext cx="1767535" cy="365760"/>
          </a:xfrm>
          <a:prstGeom prst="rect">
            <a:avLst/>
          </a:prstGeom>
          <a:noFill/>
          <a:ln/>
        </p:spPr>
        <p:txBody>
          <a:bodyPr wrap="square" lIns="0" tIns="0" rIns="0" bIns="0" rtlCol="0" anchor="ctr"/>
          <a:lstStyle/>
          <a:p>
            <a:pPr algn="l" indent="0" marL="0">
              <a:lnSpc>
                <a:spcPct val="112000"/>
              </a:lnSpc>
              <a:buNone/>
            </a:pPr>
            <a:r>
              <a:rPr lang="en-US" sz="1150" dirty="0">
                <a:solidFill>
                  <a:schemeClr val="tx2"/>
                </a:solidFill>
              </a:rPr>
              <a:t>Projects and services discoverable</a:t>
            </a:r>
            <a:endParaRPr lang="en-US" sz="1150" dirty="0"/>
          </a:p>
        </p:txBody>
      </p:sp>
      <p:sp>
        <p:nvSpPr>
          <p:cNvPr id="31" name="Text 28"/>
          <p:cNvSpPr txBox="1"/>
          <p:nvPr/>
        </p:nvSpPr>
        <p:spPr>
          <a:xfrm>
            <a:off x="548640" y="4535424"/>
            <a:ext cx="411480" cy="292608"/>
          </a:xfrm>
          <a:prstGeom prst="rect">
            <a:avLst/>
          </a:prstGeom>
          <a:noFill/>
          <a:ln/>
        </p:spPr>
        <p:txBody>
          <a:bodyPr wrap="square" lIns="0" tIns="0" rIns="0" bIns="0" rtlCol="0" anchor="t"/>
          <a:lstStyle/>
          <a:p>
            <a:pPr algn="l" indent="0" marL="0">
              <a:lnSpc>
                <a:spcPct val="112000"/>
              </a:lnSpc>
              <a:buNone/>
            </a:pPr>
            <a:r>
              <a:rPr lang="en-US" sz="1200" dirty="0">
                <a:solidFill>
                  <a:schemeClr val="accent3"/>
                </a:solidFill>
                <a:latin typeface="+mj-lt" pitchFamily="34" charset="0"/>
                <a:ea typeface="+mj-lt" pitchFamily="34" charset="-122"/>
                <a:cs typeface="+mj-lt" pitchFamily="34" charset="-120"/>
              </a:rPr>
              <a:t>05</a:t>
            </a:r>
            <a:endParaRPr lang="en-US" sz="1200" dirty="0"/>
          </a:p>
        </p:txBody>
      </p:sp>
      <p:sp>
        <p:nvSpPr>
          <p:cNvPr id="32" name="Text 29"/>
          <p:cNvSpPr txBox="1"/>
          <p:nvPr/>
        </p:nvSpPr>
        <p:spPr>
          <a:xfrm>
            <a:off x="960120" y="4517136"/>
            <a:ext cx="2331720" cy="329184"/>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Authority &amp; digital growth</a:t>
            </a:r>
            <a:endParaRPr lang="en-US" sz="1500" dirty="0"/>
          </a:p>
        </p:txBody>
      </p:sp>
      <p:sp>
        <p:nvSpPr>
          <p:cNvPr id="33" name="Shape 30"/>
          <p:cNvSpPr/>
          <p:nvPr/>
        </p:nvSpPr>
        <p:spPr>
          <a:xfrm>
            <a:off x="8483803" y="4590288"/>
            <a:ext cx="2527402" cy="219456"/>
          </a:xfrm>
          <a:prstGeom prst="rect">
            <a:avLst/>
          </a:prstGeom>
          <a:solidFill>
            <a:schemeClr val="accent1"/>
          </a:solidFill>
          <a:ln/>
        </p:spPr>
      </p:sp>
      <p:sp>
        <p:nvSpPr>
          <p:cNvPr id="34" name="Shape 31"/>
          <p:cNvSpPr/>
          <p:nvPr/>
        </p:nvSpPr>
        <p:spPr>
          <a:xfrm>
            <a:off x="11011205" y="4590288"/>
            <a:ext cx="631850" cy="219456"/>
          </a:xfrm>
          <a:prstGeom prst="rect">
            <a:avLst/>
          </a:prstGeom>
          <a:ln w="9525">
            <a:solidFill>
              <a:schemeClr val="tx1"/>
            </a:solidFill>
            <a:prstDash val="solid"/>
          </a:ln>
        </p:spPr>
      </p:sp>
      <p:sp>
        <p:nvSpPr>
          <p:cNvPr id="35" name="Text 32"/>
          <p:cNvSpPr txBox="1"/>
          <p:nvPr/>
        </p:nvSpPr>
        <p:spPr>
          <a:xfrm>
            <a:off x="3429000" y="4517136"/>
            <a:ext cx="4926787" cy="365760"/>
          </a:xfrm>
          <a:prstGeom prst="rect">
            <a:avLst/>
          </a:prstGeom>
          <a:noFill/>
          <a:ln/>
        </p:spPr>
        <p:txBody>
          <a:bodyPr wrap="square" lIns="0" tIns="0" rIns="0" bIns="0" rtlCol="0" anchor="ctr"/>
          <a:lstStyle/>
          <a:p>
            <a:pPr algn="r" indent="0" marL="0">
              <a:lnSpc>
                <a:spcPct val="112000"/>
              </a:lnSpc>
              <a:buNone/>
            </a:pPr>
            <a:r>
              <a:rPr lang="en-US" sz="1150" dirty="0">
                <a:solidFill>
                  <a:schemeClr val="tx2"/>
                </a:solidFill>
              </a:rPr>
              <a:t>Platforms · publications · reviews</a:t>
            </a:r>
            <a:endParaRPr lang="en-US" sz="1150" dirty="0"/>
          </a:p>
        </p:txBody>
      </p:sp>
      <p:sp>
        <p:nvSpPr>
          <p:cNvPr id="36" name="Text 33"/>
          <p:cNvSpPr txBox="1"/>
          <p:nvPr/>
        </p:nvSpPr>
        <p:spPr>
          <a:xfrm>
            <a:off x="548640" y="5102352"/>
            <a:ext cx="411480" cy="292608"/>
          </a:xfrm>
          <a:prstGeom prst="rect">
            <a:avLst/>
          </a:prstGeom>
          <a:noFill/>
          <a:ln/>
        </p:spPr>
        <p:txBody>
          <a:bodyPr wrap="square" lIns="0" tIns="0" rIns="0" bIns="0" rtlCol="0" anchor="t"/>
          <a:lstStyle/>
          <a:p>
            <a:pPr algn="l" indent="0" marL="0">
              <a:lnSpc>
                <a:spcPct val="112000"/>
              </a:lnSpc>
              <a:buNone/>
            </a:pPr>
            <a:r>
              <a:rPr lang="en-US" sz="1200" dirty="0">
                <a:solidFill>
                  <a:schemeClr val="accent3"/>
                </a:solidFill>
                <a:latin typeface="+mj-lt" pitchFamily="34" charset="0"/>
                <a:ea typeface="+mj-lt" pitchFamily="34" charset="-122"/>
                <a:cs typeface="+mj-lt" pitchFamily="34" charset="-120"/>
              </a:rPr>
              <a:t>06</a:t>
            </a:r>
            <a:endParaRPr lang="en-US" sz="1200" dirty="0"/>
          </a:p>
        </p:txBody>
      </p:sp>
      <p:sp>
        <p:nvSpPr>
          <p:cNvPr id="37" name="Text 34"/>
          <p:cNvSpPr txBox="1"/>
          <p:nvPr/>
        </p:nvSpPr>
        <p:spPr>
          <a:xfrm>
            <a:off x="960120" y="5084064"/>
            <a:ext cx="2331720" cy="329184"/>
          </a:xfrm>
          <a:prstGeom prst="rect">
            <a:avLst/>
          </a:prstGeom>
          <a:noFill/>
          <a:ln/>
        </p:spPr>
        <p:txBody>
          <a:bodyPr wrap="square" lIns="0" tIns="0" rIns="0" bIns="0" rtlCol="0" anchor="t"/>
          <a:lstStyle/>
          <a:p>
            <a:pPr algn="l" indent="0" marL="0">
              <a:lnSpc>
                <a:spcPct val="112000"/>
              </a:lnSpc>
              <a:buNone/>
            </a:pPr>
            <a:r>
              <a:rPr lang="en-US" sz="1500" dirty="0">
                <a:solidFill>
                  <a:schemeClr val="tx1"/>
                </a:solidFill>
                <a:latin typeface="+mj-lt" pitchFamily="34" charset="0"/>
                <a:ea typeface="+mj-lt" pitchFamily="34" charset="-122"/>
                <a:cs typeface="+mj-lt" pitchFamily="34" charset="-120"/>
              </a:rPr>
              <a:t>Measure &amp; improve</a:t>
            </a:r>
            <a:endParaRPr lang="en-US" sz="1500" dirty="0"/>
          </a:p>
        </p:txBody>
      </p:sp>
      <p:sp>
        <p:nvSpPr>
          <p:cNvPr id="38" name="Shape 35"/>
          <p:cNvSpPr/>
          <p:nvPr/>
        </p:nvSpPr>
        <p:spPr>
          <a:xfrm>
            <a:off x="6588252" y="5157216"/>
            <a:ext cx="631850" cy="219456"/>
          </a:xfrm>
          <a:prstGeom prst="rect">
            <a:avLst/>
          </a:prstGeom>
          <a:solidFill>
            <a:schemeClr val="accent1"/>
          </a:solidFill>
          <a:ln/>
        </p:spPr>
      </p:sp>
      <p:sp>
        <p:nvSpPr>
          <p:cNvPr id="39" name="Shape 36"/>
          <p:cNvSpPr/>
          <p:nvPr/>
        </p:nvSpPr>
        <p:spPr>
          <a:xfrm>
            <a:off x="7220102" y="5157216"/>
            <a:ext cx="4422953" cy="219456"/>
          </a:xfrm>
          <a:prstGeom prst="rect">
            <a:avLst/>
          </a:prstGeom>
          <a:ln w="9525">
            <a:solidFill>
              <a:schemeClr val="tx1"/>
            </a:solidFill>
            <a:prstDash val="solid"/>
          </a:ln>
        </p:spPr>
      </p:sp>
      <p:sp>
        <p:nvSpPr>
          <p:cNvPr id="40" name="Text 37"/>
          <p:cNvSpPr txBox="1"/>
          <p:nvPr/>
        </p:nvSpPr>
        <p:spPr>
          <a:xfrm>
            <a:off x="3429000" y="5084064"/>
            <a:ext cx="3031236" cy="365760"/>
          </a:xfrm>
          <a:prstGeom prst="rect">
            <a:avLst/>
          </a:prstGeom>
          <a:noFill/>
          <a:ln/>
        </p:spPr>
        <p:txBody>
          <a:bodyPr wrap="square" lIns="0" tIns="0" rIns="0" bIns="0" rtlCol="0" anchor="ctr"/>
          <a:lstStyle/>
          <a:p>
            <a:pPr algn="r" indent="0" marL="0">
              <a:lnSpc>
                <a:spcPct val="112000"/>
              </a:lnSpc>
              <a:buNone/>
            </a:pPr>
            <a:r>
              <a:rPr lang="en-US" sz="1150" dirty="0">
                <a:solidFill>
                  <a:schemeClr val="tx2"/>
                </a:solidFill>
              </a:rPr>
              <a:t>Dashboard · monthly report</a:t>
            </a:r>
            <a:endParaRPr lang="en-US" sz="1150" dirty="0"/>
          </a:p>
        </p:txBody>
      </p:sp>
      <p:sp>
        <p:nvSpPr>
          <p:cNvPr id="41" name="Shape 38"/>
          <p:cNvSpPr/>
          <p:nvPr/>
        </p:nvSpPr>
        <p:spPr>
          <a:xfrm>
            <a:off x="548640" y="5760720"/>
            <a:ext cx="11094415" cy="0"/>
          </a:xfrm>
          <a:prstGeom prst="line">
            <a:avLst/>
          </a:prstGeom>
          <a:noFill/>
          <a:ln w="9525">
            <a:solidFill>
              <a:schemeClr val="accent5"/>
            </a:solidFill>
            <a:prstDash val="solid"/>
          </a:ln>
        </p:spPr>
      </p:sp>
      <p:sp>
        <p:nvSpPr>
          <p:cNvPr id="42" name="Text 39"/>
          <p:cNvSpPr txBox="1"/>
          <p:nvPr/>
        </p:nvSpPr>
        <p:spPr>
          <a:xfrm>
            <a:off x="548640" y="5870448"/>
            <a:ext cx="11094415" cy="274320"/>
          </a:xfrm>
          <a:prstGeom prst="rect">
            <a:avLst/>
          </a:prstGeom>
          <a:noFill/>
          <a:ln/>
        </p:spPr>
        <p:txBody>
          <a:bodyPr wrap="square" lIns="0" tIns="0" rIns="0" bIns="0" rtlCol="0" anchor="t"/>
          <a:lstStyle/>
          <a:p>
            <a:pPr algn="l" indent="0" marL="0">
              <a:lnSpc>
                <a:spcPct val="112000"/>
              </a:lnSpc>
              <a:buNone/>
            </a:pPr>
            <a:r>
              <a:rPr lang="en-US" sz="1100" b="1" dirty="0">
                <a:solidFill>
                  <a:schemeClr val="tx1"/>
                </a:solidFill>
              </a:rPr>
              <a:t>Solid</a:t>
            </a:r>
            <a:pPr algn="l" indent="0" marL="0">
              <a:lnSpc>
                <a:spcPct val="112000"/>
              </a:lnSpc>
              <a:buNone/>
            </a:pPr>
            <a:r>
              <a:rPr lang="en-US" sz="1100" dirty="0">
                <a:solidFill>
                  <a:schemeClr val="accent2"/>
                </a:solidFill>
              </a:rPr>
              <a:t> — implementation    </a:t>
            </a:r>
            <a:pPr algn="l" indent="0" marL="0">
              <a:lnSpc>
                <a:spcPct val="112000"/>
              </a:lnSpc>
              <a:buNone/>
            </a:pPr>
            <a:r>
              <a:rPr lang="en-US" sz="1100" b="1" dirty="0">
                <a:solidFill>
                  <a:schemeClr val="tx1"/>
                </a:solidFill>
              </a:rPr>
              <a:t>Outlined</a:t>
            </a:r>
            <a:pPr algn="l" indent="0" marL="0">
              <a:lnSpc>
                <a:spcPct val="112000"/>
              </a:lnSpc>
              <a:buNone/>
            </a:pPr>
            <a:r>
              <a:rPr lang="en-US" sz="1100" dirty="0">
                <a:solidFill>
                  <a:schemeClr val="accent2"/>
                </a:solidFill>
              </a:rPr>
              <a:t> — ongoing, every month    ·    Begins after alignment and access</a:t>
            </a:r>
            <a:endParaRPr lang="en-US" sz="11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2"/>
                </a:solidFill>
              </a:rPr>
              <a:t>07 — WHAT MACK RECEIVES</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tx1"/>
                </a:solidFill>
              </a:rPr>
              <a:t>Everything in place, owned by the studio</a:t>
            </a:r>
            <a:endParaRPr lang="en-US" sz="3200" dirty="0"/>
          </a:p>
        </p:txBody>
      </p:sp>
      <p:pic>
        <p:nvPicPr>
          <p:cNvPr id="5" name="Image 0" descr="Sculptural spiral staircase, Agra Fort Project (photography)">    </p:cNvPr>
          <p:cNvPicPr>
            <a:picLocks noChangeAspect="1"/>
          </p:cNvPicPr>
          <p:nvPr/>
        </p:nvPicPr>
        <p:blipFill>
          <a:blip r:embed="rId1"/>
          <a:srcRect l="0" r="0" t="0" b="0"/>
          <a:stretch/>
        </p:blipFill>
        <p:spPr>
          <a:xfrm>
            <a:off x="548640" y="1600200"/>
            <a:ext cx="3246120" cy="4526280"/>
          </a:xfrm>
          <a:prstGeom prst="rect">
            <a:avLst/>
          </a:prstGeom>
        </p:spPr>
      </p:pic>
      <p:sp>
        <p:nvSpPr>
          <p:cNvPr id="6" name="Text 2"/>
          <p:cNvSpPr txBox="1"/>
          <p:nvPr/>
        </p:nvSpPr>
        <p:spPr>
          <a:xfrm>
            <a:off x="548640" y="6172200"/>
            <a:ext cx="3246120" cy="182880"/>
          </a:xfrm>
          <a:prstGeom prst="rect">
            <a:avLst/>
          </a:prstGeom>
          <a:noFill/>
          <a:ln/>
        </p:spPr>
        <p:txBody>
          <a:bodyPr wrap="square" lIns="0" tIns="0" rIns="0" bIns="0" rtlCol="0" anchor="t"/>
          <a:lstStyle/>
          <a:p>
            <a:pPr algn="l" indent="0" marL="0">
              <a:lnSpc>
                <a:spcPct val="112000"/>
              </a:lnSpc>
              <a:buNone/>
            </a:pPr>
            <a:r>
              <a:rPr lang="en-US" sz="850" dirty="0">
                <a:solidFill>
                  <a:schemeClr val="accent2"/>
                </a:solidFill>
              </a:rPr>
              <a:t>Agra Fort Project — photography</a:t>
            </a:r>
            <a:endParaRPr lang="en-US" sz="850" dirty="0"/>
          </a:p>
        </p:txBody>
      </p:sp>
      <p:sp>
        <p:nvSpPr>
          <p:cNvPr id="7" name="Text 3"/>
          <p:cNvSpPr txBox="1"/>
          <p:nvPr/>
        </p:nvSpPr>
        <p:spPr>
          <a:xfrm>
            <a:off x="4206240" y="1600200"/>
            <a:ext cx="3512668" cy="365760"/>
          </a:xfrm>
          <a:prstGeom prst="rect">
            <a:avLst/>
          </a:prstGeom>
          <a:noFill/>
          <a:ln/>
        </p:spPr>
        <p:txBody>
          <a:bodyPr wrap="square" lIns="0" tIns="0" rIns="0" bIns="0" rtlCol="0" anchor="t"/>
          <a:lstStyle/>
          <a:p>
            <a:pPr algn="l" indent="0" marL="0">
              <a:lnSpc>
                <a:spcPct val="112000"/>
              </a:lnSpc>
              <a:buNone/>
            </a:pPr>
            <a:r>
              <a:rPr lang="en-US" sz="1700" dirty="0">
                <a:solidFill>
                  <a:schemeClr val="accent3"/>
                </a:solidFill>
                <a:latin typeface="+mj-lt" pitchFamily="34" charset="0"/>
                <a:ea typeface="+mj-lt" pitchFamily="34" charset="-122"/>
                <a:cs typeface="+mj-lt" pitchFamily="34" charset="-120"/>
              </a:rPr>
              <a:t>Identity &amp; workspace</a:t>
            </a:r>
            <a:endParaRPr lang="en-US" sz="1700" dirty="0"/>
          </a:p>
        </p:txBody>
      </p:sp>
      <p:sp>
        <p:nvSpPr>
          <p:cNvPr id="8" name="Shape 4"/>
          <p:cNvSpPr/>
          <p:nvPr/>
        </p:nvSpPr>
        <p:spPr>
          <a:xfrm>
            <a:off x="4206240" y="2020824"/>
            <a:ext cx="3512668" cy="0"/>
          </a:xfrm>
          <a:prstGeom prst="line">
            <a:avLst/>
          </a:prstGeom>
          <a:noFill/>
          <a:ln w="9525">
            <a:solidFill>
              <a:schemeClr val="tx1"/>
            </a:solidFill>
            <a:prstDash val="solid"/>
          </a:ln>
        </p:spPr>
      </p:sp>
      <p:sp>
        <p:nvSpPr>
          <p:cNvPr id="9" name="Text 5"/>
          <p:cNvSpPr txBox="1"/>
          <p:nvPr/>
        </p:nvSpPr>
        <p:spPr>
          <a:xfrm>
            <a:off x="4206240" y="2148840"/>
            <a:ext cx="3512668" cy="1600200"/>
          </a:xfrm>
          <a:prstGeom prst="rect">
            <a:avLst/>
          </a:prstGeom>
          <a:noFill/>
          <a:ln/>
        </p:spPr>
        <p:txBody>
          <a:bodyPr wrap="square" lIns="0" tIns="0" rIns="0" bIns="0" rtlCol="0" anchor="t"/>
          <a:lstStyle/>
          <a:p>
            <a:pPr algn="l" indent="0" marL="0">
              <a:lnSpc>
                <a:spcPct val="110000"/>
              </a:lnSpc>
              <a:spcAft>
                <a:spcPts val="500"/>
              </a:spcAft>
              <a:buNone/>
            </a:pPr>
            <a:r>
              <a:rPr lang="en-US" sz="1300" dirty="0">
                <a:solidFill>
                  <a:schemeClr val="tx2"/>
                </a:solidFill>
              </a:rPr>
              <a:t>Studio-owned domain</a:t>
            </a:r>
            <a:endParaRPr lang="en-US" sz="1300" dirty="0"/>
          </a:p>
          <a:p>
            <a:pPr algn="l" indent="0" marL="0">
              <a:lnSpc>
                <a:spcPct val="110000"/>
              </a:lnSpc>
              <a:spcAft>
                <a:spcPts val="500"/>
              </a:spcAft>
              <a:buNone/>
            </a:pPr>
            <a:r>
              <a:rPr lang="en-US" sz="1300" dirty="0">
                <a:solidFill>
                  <a:schemeClr val="tx2"/>
                </a:solidFill>
              </a:rPr>
              <a:t>Professional email</a:t>
            </a:r>
            <a:endParaRPr lang="en-US" sz="1300" dirty="0"/>
          </a:p>
          <a:p>
            <a:pPr algn="l" indent="0" marL="0">
              <a:lnSpc>
                <a:spcPct val="110000"/>
              </a:lnSpc>
              <a:spcAft>
                <a:spcPts val="500"/>
              </a:spcAft>
              <a:buNone/>
            </a:pPr>
            <a:r>
              <a:rPr lang="en-US" sz="1300" dirty="0">
                <a:solidFill>
                  <a:schemeClr val="tx2"/>
                </a:solidFill>
              </a:rPr>
              <a:t>2–3 TB cloud workspace</a:t>
            </a:r>
            <a:endParaRPr lang="en-US" sz="1300" dirty="0"/>
          </a:p>
          <a:p>
            <a:pPr algn="l" indent="0" marL="0">
              <a:lnSpc>
                <a:spcPct val="110000"/>
              </a:lnSpc>
              <a:spcAft>
                <a:spcPts val="500"/>
              </a:spcAft>
              <a:buNone/>
            </a:pPr>
            <a:r>
              <a:rPr lang="en-US" sz="1300" dirty="0">
                <a:solidFill>
                  <a:schemeClr val="tx2"/>
                </a:solidFill>
              </a:rPr>
              <a:t>Independent, tested backup</a:t>
            </a:r>
            <a:endParaRPr lang="en-US" sz="1300" dirty="0"/>
          </a:p>
          <a:p>
            <a:pPr algn="l" indent="0" marL="0">
              <a:lnSpc>
                <a:spcPct val="110000"/>
              </a:lnSpc>
              <a:spcAft>
                <a:spcPts val="500"/>
              </a:spcAft>
              <a:buNone/>
            </a:pPr>
            <a:r>
              <a:rPr lang="en-US" sz="1300" dirty="0">
                <a:solidFill>
                  <a:schemeClr val="tx2"/>
                </a:solidFill>
              </a:rPr>
              <a:t>Access map — MACK owns every account</a:t>
            </a:r>
            <a:endParaRPr lang="en-US" sz="1300" dirty="0"/>
          </a:p>
        </p:txBody>
      </p:sp>
      <p:sp>
        <p:nvSpPr>
          <p:cNvPr id="10" name="Text 6"/>
          <p:cNvSpPr txBox="1"/>
          <p:nvPr/>
        </p:nvSpPr>
        <p:spPr>
          <a:xfrm>
            <a:off x="8130388" y="1600200"/>
            <a:ext cx="3512668" cy="365760"/>
          </a:xfrm>
          <a:prstGeom prst="rect">
            <a:avLst/>
          </a:prstGeom>
          <a:noFill/>
          <a:ln/>
        </p:spPr>
        <p:txBody>
          <a:bodyPr wrap="square" lIns="0" tIns="0" rIns="0" bIns="0" rtlCol="0" anchor="t"/>
          <a:lstStyle/>
          <a:p>
            <a:pPr algn="l" indent="0" marL="0">
              <a:lnSpc>
                <a:spcPct val="112000"/>
              </a:lnSpc>
              <a:buNone/>
            </a:pPr>
            <a:r>
              <a:rPr lang="en-US" sz="1700" dirty="0">
                <a:solidFill>
                  <a:schemeClr val="tx1"/>
                </a:solidFill>
                <a:latin typeface="+mj-lt" pitchFamily="34" charset="0"/>
                <a:ea typeface="+mj-lt" pitchFamily="34" charset="-122"/>
                <a:cs typeface="+mj-lt" pitchFamily="34" charset="-120"/>
              </a:rPr>
              <a:t>Website &amp; search</a:t>
            </a:r>
            <a:endParaRPr lang="en-US" sz="1700" dirty="0"/>
          </a:p>
        </p:txBody>
      </p:sp>
      <p:sp>
        <p:nvSpPr>
          <p:cNvPr id="11" name="Shape 7"/>
          <p:cNvSpPr/>
          <p:nvPr/>
        </p:nvSpPr>
        <p:spPr>
          <a:xfrm>
            <a:off x="8130388" y="2020824"/>
            <a:ext cx="3512668" cy="0"/>
          </a:xfrm>
          <a:prstGeom prst="line">
            <a:avLst/>
          </a:prstGeom>
          <a:noFill/>
          <a:ln w="9525">
            <a:solidFill>
              <a:schemeClr val="tx1"/>
            </a:solidFill>
            <a:prstDash val="solid"/>
          </a:ln>
        </p:spPr>
      </p:sp>
      <p:sp>
        <p:nvSpPr>
          <p:cNvPr id="12" name="Text 8"/>
          <p:cNvSpPr txBox="1"/>
          <p:nvPr/>
        </p:nvSpPr>
        <p:spPr>
          <a:xfrm>
            <a:off x="8130388" y="2148840"/>
            <a:ext cx="3512668" cy="1600200"/>
          </a:xfrm>
          <a:prstGeom prst="rect">
            <a:avLst/>
          </a:prstGeom>
          <a:noFill/>
          <a:ln/>
        </p:spPr>
        <p:txBody>
          <a:bodyPr wrap="square" lIns="0" tIns="0" rIns="0" bIns="0" rtlCol="0" anchor="t"/>
          <a:lstStyle/>
          <a:p>
            <a:pPr algn="l" indent="0" marL="0">
              <a:lnSpc>
                <a:spcPct val="110000"/>
              </a:lnSpc>
              <a:spcAft>
                <a:spcPts val="500"/>
              </a:spcAft>
              <a:buNone/>
            </a:pPr>
            <a:r>
              <a:rPr lang="en-US" sz="1300" dirty="0">
                <a:solidFill>
                  <a:schemeClr val="tx2"/>
                </a:solidFill>
              </a:rPr>
              <a:t>Site launched and indexed</a:t>
            </a:r>
            <a:endParaRPr lang="en-US" sz="1300" dirty="0"/>
          </a:p>
          <a:p>
            <a:pPr algn="l" indent="0" marL="0">
              <a:lnSpc>
                <a:spcPct val="110000"/>
              </a:lnSpc>
              <a:spcAft>
                <a:spcPts val="500"/>
              </a:spcAft>
              <a:buNone/>
            </a:pPr>
            <a:r>
              <a:rPr lang="en-US" sz="1300" dirty="0">
                <a:solidFill>
                  <a:schemeClr val="tx2"/>
                </a:solidFill>
              </a:rPr>
              <a:t>Technical SEO and structured data</a:t>
            </a:r>
            <a:endParaRPr lang="en-US" sz="1300" dirty="0"/>
          </a:p>
          <a:p>
            <a:pPr algn="l" indent="0" marL="0">
              <a:lnSpc>
                <a:spcPct val="110000"/>
              </a:lnSpc>
              <a:spcAft>
                <a:spcPts val="500"/>
              </a:spcAft>
              <a:buNone/>
            </a:pPr>
            <a:r>
              <a:rPr lang="en-US" sz="1300" dirty="0">
                <a:solidFill>
                  <a:schemeClr val="tx2"/>
                </a:solidFill>
              </a:rPr>
              <a:t>Service and project pages</a:t>
            </a:r>
            <a:endParaRPr lang="en-US" sz="1300" dirty="0"/>
          </a:p>
          <a:p>
            <a:pPr algn="l" indent="0" marL="0">
              <a:lnSpc>
                <a:spcPct val="110000"/>
              </a:lnSpc>
              <a:spcAft>
                <a:spcPts val="500"/>
              </a:spcAft>
              <a:buNone/>
            </a:pPr>
            <a:r>
              <a:rPr lang="en-US" sz="1300" dirty="0">
                <a:solidFill>
                  <a:schemeClr val="tx2"/>
                </a:solidFill>
              </a:rPr>
              <a:t>Image SEO and credits</a:t>
            </a:r>
            <a:endParaRPr lang="en-US" sz="1300" dirty="0"/>
          </a:p>
          <a:p>
            <a:pPr algn="l" indent="0" marL="0">
              <a:lnSpc>
                <a:spcPct val="110000"/>
              </a:lnSpc>
              <a:spcAft>
                <a:spcPts val="500"/>
              </a:spcAft>
              <a:buNone/>
            </a:pPr>
            <a:r>
              <a:rPr lang="en-US" sz="1300" dirty="0">
                <a:solidFill>
                  <a:schemeClr val="tx2"/>
                </a:solidFill>
              </a:rPr>
              <a:t>Project publishing system</a:t>
            </a:r>
            <a:endParaRPr lang="en-US" sz="1300" dirty="0"/>
          </a:p>
        </p:txBody>
      </p:sp>
      <p:sp>
        <p:nvSpPr>
          <p:cNvPr id="13" name="Text 9"/>
          <p:cNvSpPr txBox="1"/>
          <p:nvPr/>
        </p:nvSpPr>
        <p:spPr>
          <a:xfrm>
            <a:off x="4206240" y="3931920"/>
            <a:ext cx="3512668" cy="365760"/>
          </a:xfrm>
          <a:prstGeom prst="rect">
            <a:avLst/>
          </a:prstGeom>
          <a:noFill/>
          <a:ln/>
        </p:spPr>
        <p:txBody>
          <a:bodyPr wrap="square" lIns="0" tIns="0" rIns="0" bIns="0" rtlCol="0" anchor="t"/>
          <a:lstStyle/>
          <a:p>
            <a:pPr algn="l" indent="0" marL="0">
              <a:lnSpc>
                <a:spcPct val="112000"/>
              </a:lnSpc>
              <a:buNone/>
            </a:pPr>
            <a:r>
              <a:rPr lang="en-US" sz="1700" dirty="0">
                <a:solidFill>
                  <a:schemeClr val="tx1"/>
                </a:solidFill>
                <a:latin typeface="+mj-lt" pitchFamily="34" charset="0"/>
                <a:ea typeface="+mj-lt" pitchFamily="34" charset="-122"/>
                <a:cs typeface="+mj-lt" pitchFamily="34" charset="-120"/>
              </a:rPr>
              <a:t>Local presence &amp; authority</a:t>
            </a:r>
            <a:endParaRPr lang="en-US" sz="1700" dirty="0"/>
          </a:p>
        </p:txBody>
      </p:sp>
      <p:sp>
        <p:nvSpPr>
          <p:cNvPr id="14" name="Shape 10"/>
          <p:cNvSpPr/>
          <p:nvPr/>
        </p:nvSpPr>
        <p:spPr>
          <a:xfrm>
            <a:off x="4206240" y="4352544"/>
            <a:ext cx="3512668" cy="0"/>
          </a:xfrm>
          <a:prstGeom prst="line">
            <a:avLst/>
          </a:prstGeom>
          <a:noFill/>
          <a:ln w="9525">
            <a:solidFill>
              <a:schemeClr val="tx1"/>
            </a:solidFill>
            <a:prstDash val="solid"/>
          </a:ln>
        </p:spPr>
      </p:sp>
      <p:sp>
        <p:nvSpPr>
          <p:cNvPr id="15" name="Text 11"/>
          <p:cNvSpPr txBox="1"/>
          <p:nvPr/>
        </p:nvSpPr>
        <p:spPr>
          <a:xfrm>
            <a:off x="4206240" y="4480560"/>
            <a:ext cx="3512668" cy="1600200"/>
          </a:xfrm>
          <a:prstGeom prst="rect">
            <a:avLst/>
          </a:prstGeom>
          <a:noFill/>
          <a:ln/>
        </p:spPr>
        <p:txBody>
          <a:bodyPr wrap="square" lIns="0" tIns="0" rIns="0" bIns="0" rtlCol="0" anchor="t"/>
          <a:lstStyle/>
          <a:p>
            <a:pPr algn="l" indent="0" marL="0">
              <a:lnSpc>
                <a:spcPct val="110000"/>
              </a:lnSpc>
              <a:spcAft>
                <a:spcPts val="500"/>
              </a:spcAft>
              <a:buNone/>
            </a:pPr>
            <a:r>
              <a:rPr lang="en-US" sz="1300" dirty="0">
                <a:solidFill>
                  <a:schemeClr val="tx2"/>
                </a:solidFill>
              </a:rPr>
              <a:t>Verified Google Business Profile</a:t>
            </a:r>
            <a:endParaRPr lang="en-US" sz="1300" dirty="0"/>
          </a:p>
          <a:p>
            <a:pPr algn="l" indent="0" marL="0">
              <a:lnSpc>
                <a:spcPct val="110000"/>
              </a:lnSpc>
              <a:spcAft>
                <a:spcPts val="500"/>
              </a:spcAft>
              <a:buNone/>
            </a:pPr>
            <a:r>
              <a:rPr lang="en-US" sz="1300" dirty="0">
                <a:solidFill>
                  <a:schemeClr val="tx2"/>
                </a:solidFill>
              </a:rPr>
              <a:t>Consistent studio details</a:t>
            </a:r>
            <a:endParaRPr lang="en-US" sz="1300" dirty="0"/>
          </a:p>
          <a:p>
            <a:pPr algn="l" indent="0" marL="0">
              <a:lnSpc>
                <a:spcPct val="110000"/>
              </a:lnSpc>
              <a:spcAft>
                <a:spcPts val="500"/>
              </a:spcAft>
              <a:buNone/>
            </a:pPr>
            <a:r>
              <a:rPr lang="en-US" sz="1300" dirty="0">
                <a:solidFill>
                  <a:schemeClr val="tx2"/>
                </a:solidFill>
              </a:rPr>
              <a:t>Review process</a:t>
            </a:r>
            <a:endParaRPr lang="en-US" sz="1300" dirty="0"/>
          </a:p>
          <a:p>
            <a:pPr algn="l" indent="0" marL="0">
              <a:lnSpc>
                <a:spcPct val="110000"/>
              </a:lnSpc>
              <a:spcAft>
                <a:spcPts val="500"/>
              </a:spcAft>
              <a:buNone/>
            </a:pPr>
            <a:r>
              <a:rPr lang="en-US" sz="1300" dirty="0">
                <a:solidFill>
                  <a:schemeClr val="tx2"/>
                </a:solidFill>
              </a:rPr>
              <a:t>Architecture platforms and publications</a:t>
            </a:r>
            <a:endParaRPr lang="en-US" sz="1300" dirty="0"/>
          </a:p>
          <a:p>
            <a:pPr algn="l" indent="0" marL="0">
              <a:lnSpc>
                <a:spcPct val="110000"/>
              </a:lnSpc>
              <a:spcAft>
                <a:spcPts val="500"/>
              </a:spcAft>
              <a:buNone/>
            </a:pPr>
            <a:r>
              <a:rPr lang="en-US" sz="1300" dirty="0">
                <a:solidFill>
                  <a:schemeClr val="tx2"/>
                </a:solidFill>
              </a:rPr>
              <a:t>Google presence for each new studio</a:t>
            </a:r>
            <a:endParaRPr lang="en-US" sz="1300" dirty="0"/>
          </a:p>
        </p:txBody>
      </p:sp>
      <p:sp>
        <p:nvSpPr>
          <p:cNvPr id="16" name="Text 12"/>
          <p:cNvSpPr txBox="1"/>
          <p:nvPr/>
        </p:nvSpPr>
        <p:spPr>
          <a:xfrm>
            <a:off x="8130388" y="3931920"/>
            <a:ext cx="3512668" cy="365760"/>
          </a:xfrm>
          <a:prstGeom prst="rect">
            <a:avLst/>
          </a:prstGeom>
          <a:noFill/>
          <a:ln/>
        </p:spPr>
        <p:txBody>
          <a:bodyPr wrap="square" lIns="0" tIns="0" rIns="0" bIns="0" rtlCol="0" anchor="t"/>
          <a:lstStyle/>
          <a:p>
            <a:pPr algn="l" indent="0" marL="0">
              <a:lnSpc>
                <a:spcPct val="112000"/>
              </a:lnSpc>
              <a:buNone/>
            </a:pPr>
            <a:r>
              <a:rPr lang="en-US" sz="1700" dirty="0">
                <a:solidFill>
                  <a:schemeClr val="tx1"/>
                </a:solidFill>
                <a:latin typeface="+mj-lt" pitchFamily="34" charset="0"/>
                <a:ea typeface="+mj-lt" pitchFamily="34" charset="-122"/>
                <a:cs typeface="+mj-lt" pitchFamily="34" charset="-120"/>
              </a:rPr>
              <a:t>Measurement &amp; care</a:t>
            </a:r>
            <a:endParaRPr lang="en-US" sz="1700" dirty="0"/>
          </a:p>
        </p:txBody>
      </p:sp>
      <p:sp>
        <p:nvSpPr>
          <p:cNvPr id="17" name="Shape 13"/>
          <p:cNvSpPr/>
          <p:nvPr/>
        </p:nvSpPr>
        <p:spPr>
          <a:xfrm>
            <a:off x="8130388" y="4352544"/>
            <a:ext cx="3512668" cy="0"/>
          </a:xfrm>
          <a:prstGeom prst="line">
            <a:avLst/>
          </a:prstGeom>
          <a:noFill/>
          <a:ln w="9525">
            <a:solidFill>
              <a:schemeClr val="tx1"/>
            </a:solidFill>
            <a:prstDash val="solid"/>
          </a:ln>
        </p:spPr>
      </p:sp>
      <p:sp>
        <p:nvSpPr>
          <p:cNvPr id="18" name="Text 14"/>
          <p:cNvSpPr txBox="1"/>
          <p:nvPr/>
        </p:nvSpPr>
        <p:spPr>
          <a:xfrm>
            <a:off x="8130388" y="4480560"/>
            <a:ext cx="3512668" cy="1600200"/>
          </a:xfrm>
          <a:prstGeom prst="rect">
            <a:avLst/>
          </a:prstGeom>
          <a:noFill/>
          <a:ln/>
        </p:spPr>
        <p:txBody>
          <a:bodyPr wrap="square" lIns="0" tIns="0" rIns="0" bIns="0" rtlCol="0" anchor="t"/>
          <a:lstStyle/>
          <a:p>
            <a:pPr algn="l" indent="0" marL="0">
              <a:lnSpc>
                <a:spcPct val="110000"/>
              </a:lnSpc>
              <a:spcAft>
                <a:spcPts val="500"/>
              </a:spcAft>
              <a:buNone/>
            </a:pPr>
            <a:r>
              <a:rPr lang="en-US" sz="1300" dirty="0">
                <a:solidFill>
                  <a:schemeClr val="tx2"/>
                </a:solidFill>
              </a:rPr>
              <a:t>Search Console and Analytics</a:t>
            </a:r>
            <a:endParaRPr lang="en-US" sz="1300" dirty="0"/>
          </a:p>
          <a:p>
            <a:pPr algn="l" indent="0" marL="0">
              <a:lnSpc>
                <a:spcPct val="110000"/>
              </a:lnSpc>
              <a:spcAft>
                <a:spcPts val="500"/>
              </a:spcAft>
              <a:buNone/>
            </a:pPr>
            <a:r>
              <a:rPr lang="en-US" sz="1300" dirty="0">
                <a:solidFill>
                  <a:schemeClr val="tx2"/>
                </a:solidFill>
              </a:rPr>
              <a:t>Enquiry and call tracking</a:t>
            </a:r>
            <a:endParaRPr lang="en-US" sz="1300" dirty="0"/>
          </a:p>
          <a:p>
            <a:pPr algn="l" indent="0" marL="0">
              <a:lnSpc>
                <a:spcPct val="110000"/>
              </a:lnSpc>
              <a:spcAft>
                <a:spcPts val="500"/>
              </a:spcAft>
              <a:buNone/>
            </a:pPr>
            <a:r>
              <a:rPr lang="en-US" sz="1300" dirty="0">
                <a:solidFill>
                  <a:schemeClr val="tx2"/>
                </a:solidFill>
              </a:rPr>
              <a:t>Live dashboard</a:t>
            </a:r>
            <a:endParaRPr lang="en-US" sz="1300" dirty="0"/>
          </a:p>
          <a:p>
            <a:pPr algn="l" indent="0" marL="0">
              <a:lnSpc>
                <a:spcPct val="110000"/>
              </a:lnSpc>
              <a:spcAft>
                <a:spcPts val="500"/>
              </a:spcAft>
              <a:buNone/>
            </a:pPr>
            <a:r>
              <a:rPr lang="en-US" sz="1300" dirty="0">
                <a:solidFill>
                  <a:schemeClr val="tx2"/>
                </a:solidFill>
              </a:rPr>
              <a:t>Monthly report</a:t>
            </a:r>
            <a:endParaRPr lang="en-US" sz="1300" dirty="0"/>
          </a:p>
          <a:p>
            <a:pPr algn="l" indent="0" marL="0">
              <a:lnSpc>
                <a:spcPct val="110000"/>
              </a:lnSpc>
              <a:spcAft>
                <a:spcPts val="500"/>
              </a:spcAft>
              <a:buNone/>
            </a:pPr>
            <a:r>
              <a:rPr lang="en-US" sz="1300" dirty="0">
                <a:solidFill>
                  <a:schemeClr val="tx2"/>
                </a:solidFill>
              </a:rPr>
              <a:t>Monthly maintenance and improvement</a:t>
            </a:r>
            <a:endParaRPr lang="en-US" sz="13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20624"/>
            <a:ext cx="8229600" cy="228600"/>
          </a:xfrm>
          <a:prstGeom prst="rect">
            <a:avLst/>
          </a:prstGeom>
          <a:noFill/>
          <a:ln/>
        </p:spPr>
        <p:txBody>
          <a:bodyPr wrap="square" lIns="0" tIns="0" rIns="0" bIns="0" rtlCol="0" anchor="t"/>
          <a:lstStyle/>
          <a:p>
            <a:pPr indent="0" marL="0">
              <a:buNone/>
            </a:pPr>
            <a:r>
              <a:rPr lang="en-US" sz="950" spc="160" kern="0" dirty="0">
                <a:solidFill>
                  <a:schemeClr val="accent4"/>
                </a:solidFill>
              </a:rPr>
              <a:t>08 — NEXT STEPS</a:t>
            </a:r>
            <a:endParaRPr lang="en-US" sz="95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200" dirty="0">
                <a:solidFill>
                  <a:schemeClr val="bg1"/>
                </a:solidFill>
              </a:rPr>
              <a:t>Next steps</a:t>
            </a:r>
            <a:endParaRPr lang="en-US" sz="3200" dirty="0"/>
          </a:p>
        </p:txBody>
      </p:sp>
      <p:sp>
        <p:nvSpPr>
          <p:cNvPr id="5" name="Text 2"/>
          <p:cNvSpPr txBox="1"/>
          <p:nvPr/>
        </p:nvSpPr>
        <p:spPr>
          <a:xfrm>
            <a:off x="548640" y="2514600"/>
            <a:ext cx="731520" cy="411480"/>
          </a:xfrm>
          <a:prstGeom prst="rect">
            <a:avLst/>
          </a:prstGeom>
          <a:noFill/>
          <a:ln/>
        </p:spPr>
        <p:txBody>
          <a:bodyPr wrap="square" lIns="0" tIns="0" rIns="0" bIns="0" rtlCol="0" anchor="t"/>
          <a:lstStyle/>
          <a:p>
            <a:pPr algn="l" indent="0" marL="0">
              <a:lnSpc>
                <a:spcPct val="112000"/>
              </a:lnSpc>
              <a:buNone/>
            </a:pPr>
            <a:r>
              <a:rPr lang="en-US" sz="2600" dirty="0">
                <a:solidFill>
                  <a:schemeClr val="accent3"/>
                </a:solidFill>
                <a:latin typeface="+mj-lt" pitchFamily="34" charset="0"/>
                <a:ea typeface="+mj-lt" pitchFamily="34" charset="-122"/>
                <a:cs typeface="+mj-lt" pitchFamily="34" charset="-120"/>
              </a:rPr>
              <a:t>01</a:t>
            </a:r>
            <a:endParaRPr lang="en-US" sz="2600" dirty="0"/>
          </a:p>
        </p:txBody>
      </p:sp>
      <p:sp>
        <p:nvSpPr>
          <p:cNvPr id="6" name="Shape 3"/>
          <p:cNvSpPr/>
          <p:nvPr/>
        </p:nvSpPr>
        <p:spPr>
          <a:xfrm>
            <a:off x="1261872" y="2743200"/>
            <a:ext cx="1466012" cy="0"/>
          </a:xfrm>
          <a:prstGeom prst="line">
            <a:avLst/>
          </a:prstGeom>
          <a:noFill/>
          <a:ln w="9525">
            <a:solidFill>
              <a:schemeClr val="accent4"/>
            </a:solidFill>
            <a:prstDash val="solid"/>
            <a:tailEnd type="triangle"/>
          </a:ln>
        </p:spPr>
      </p:sp>
      <p:sp>
        <p:nvSpPr>
          <p:cNvPr id="7" name="Text 4"/>
          <p:cNvSpPr txBox="1"/>
          <p:nvPr/>
        </p:nvSpPr>
        <p:spPr>
          <a:xfrm>
            <a:off x="548640" y="3108960"/>
            <a:ext cx="2011680" cy="548640"/>
          </a:xfrm>
          <a:prstGeom prst="rect">
            <a:avLst/>
          </a:prstGeom>
          <a:noFill/>
          <a:ln/>
        </p:spPr>
        <p:txBody>
          <a:bodyPr wrap="square" lIns="0" tIns="0" rIns="0" bIns="0" rtlCol="0" anchor="t"/>
          <a:lstStyle/>
          <a:p>
            <a:pPr algn="l" indent="0" marL="0">
              <a:lnSpc>
                <a:spcPct val="112000"/>
              </a:lnSpc>
              <a:buNone/>
            </a:pPr>
            <a:r>
              <a:rPr lang="en-US" sz="3000" dirty="0">
                <a:solidFill>
                  <a:schemeClr val="bg1"/>
                </a:solidFill>
                <a:latin typeface="+mj-lt" pitchFamily="34" charset="0"/>
                <a:ea typeface="+mj-lt" pitchFamily="34" charset="-122"/>
                <a:cs typeface="+mj-lt" pitchFamily="34" charset="-120"/>
              </a:rPr>
              <a:t>Align</a:t>
            </a:r>
            <a:endParaRPr lang="en-US" sz="3000" dirty="0"/>
          </a:p>
        </p:txBody>
      </p:sp>
      <p:sp>
        <p:nvSpPr>
          <p:cNvPr id="8" name="Shape 5"/>
          <p:cNvSpPr/>
          <p:nvPr/>
        </p:nvSpPr>
        <p:spPr>
          <a:xfrm>
            <a:off x="548640" y="3822192"/>
            <a:ext cx="2011680" cy="0"/>
          </a:xfrm>
          <a:prstGeom prst="line">
            <a:avLst/>
          </a:prstGeom>
          <a:noFill/>
          <a:ln w="9525">
            <a:solidFill>
              <a:schemeClr val="accent2"/>
            </a:solidFill>
            <a:prstDash val="solid"/>
          </a:ln>
        </p:spPr>
      </p:sp>
      <p:sp>
        <p:nvSpPr>
          <p:cNvPr id="9" name="Text 6"/>
          <p:cNvSpPr txBox="1"/>
          <p:nvPr/>
        </p:nvSpPr>
        <p:spPr>
          <a:xfrm>
            <a:off x="548640" y="3950208"/>
            <a:ext cx="1920240" cy="640080"/>
          </a:xfrm>
          <a:prstGeom prst="rect">
            <a:avLst/>
          </a:prstGeom>
          <a:noFill/>
          <a:ln/>
        </p:spPr>
        <p:txBody>
          <a:bodyPr wrap="square" lIns="0" tIns="0" rIns="0" bIns="0" rtlCol="0" anchor="t"/>
          <a:lstStyle/>
          <a:p>
            <a:pPr algn="l" indent="0" marL="0">
              <a:lnSpc>
                <a:spcPct val="115000"/>
              </a:lnSpc>
              <a:buNone/>
            </a:pPr>
            <a:r>
              <a:rPr lang="en-US" sz="1350" dirty="0">
                <a:solidFill>
                  <a:schemeClr val="accent4"/>
                </a:solidFill>
              </a:rPr>
              <a:t>Studio name, domain and services</a:t>
            </a:r>
            <a:endParaRPr lang="en-US" sz="1350" dirty="0"/>
          </a:p>
        </p:txBody>
      </p:sp>
      <p:sp>
        <p:nvSpPr>
          <p:cNvPr id="10" name="Text 7"/>
          <p:cNvSpPr txBox="1"/>
          <p:nvPr/>
        </p:nvSpPr>
        <p:spPr>
          <a:xfrm>
            <a:off x="2819324" y="2514600"/>
            <a:ext cx="731520" cy="411480"/>
          </a:xfrm>
          <a:prstGeom prst="rect">
            <a:avLst/>
          </a:prstGeom>
          <a:noFill/>
          <a:ln/>
        </p:spPr>
        <p:txBody>
          <a:bodyPr wrap="square" lIns="0" tIns="0" rIns="0" bIns="0" rtlCol="0" anchor="t"/>
          <a:lstStyle/>
          <a:p>
            <a:pPr algn="l" indent="0" marL="0">
              <a:lnSpc>
                <a:spcPct val="112000"/>
              </a:lnSpc>
              <a:buNone/>
            </a:pPr>
            <a:r>
              <a:rPr lang="en-US" sz="2600" dirty="0">
                <a:solidFill>
                  <a:schemeClr val="accent3"/>
                </a:solidFill>
                <a:latin typeface="+mj-lt" pitchFamily="34" charset="0"/>
                <a:ea typeface="+mj-lt" pitchFamily="34" charset="-122"/>
                <a:cs typeface="+mj-lt" pitchFamily="34" charset="-120"/>
              </a:rPr>
              <a:t>02</a:t>
            </a:r>
            <a:endParaRPr lang="en-US" sz="2600" dirty="0"/>
          </a:p>
        </p:txBody>
      </p:sp>
      <p:sp>
        <p:nvSpPr>
          <p:cNvPr id="11" name="Shape 8"/>
          <p:cNvSpPr/>
          <p:nvPr/>
        </p:nvSpPr>
        <p:spPr>
          <a:xfrm>
            <a:off x="3532556" y="2743200"/>
            <a:ext cx="1466012" cy="0"/>
          </a:xfrm>
          <a:prstGeom prst="line">
            <a:avLst/>
          </a:prstGeom>
          <a:noFill/>
          <a:ln w="9525">
            <a:solidFill>
              <a:schemeClr val="accent4"/>
            </a:solidFill>
            <a:prstDash val="solid"/>
            <a:tailEnd type="triangle"/>
          </a:ln>
        </p:spPr>
      </p:sp>
      <p:sp>
        <p:nvSpPr>
          <p:cNvPr id="12" name="Text 9"/>
          <p:cNvSpPr txBox="1"/>
          <p:nvPr/>
        </p:nvSpPr>
        <p:spPr>
          <a:xfrm>
            <a:off x="2819324" y="3108960"/>
            <a:ext cx="2011680" cy="548640"/>
          </a:xfrm>
          <a:prstGeom prst="rect">
            <a:avLst/>
          </a:prstGeom>
          <a:noFill/>
          <a:ln/>
        </p:spPr>
        <p:txBody>
          <a:bodyPr wrap="square" lIns="0" tIns="0" rIns="0" bIns="0" rtlCol="0" anchor="t"/>
          <a:lstStyle/>
          <a:p>
            <a:pPr algn="l" indent="0" marL="0">
              <a:lnSpc>
                <a:spcPct val="112000"/>
              </a:lnSpc>
              <a:buNone/>
            </a:pPr>
            <a:r>
              <a:rPr lang="en-US" sz="3000" dirty="0">
                <a:solidFill>
                  <a:schemeClr val="bg1"/>
                </a:solidFill>
                <a:latin typeface="+mj-lt" pitchFamily="34" charset="0"/>
                <a:ea typeface="+mj-lt" pitchFamily="34" charset="-122"/>
                <a:cs typeface="+mj-lt" pitchFamily="34" charset="-120"/>
              </a:rPr>
              <a:t>Access</a:t>
            </a:r>
            <a:endParaRPr lang="en-US" sz="3000" dirty="0"/>
          </a:p>
        </p:txBody>
      </p:sp>
      <p:sp>
        <p:nvSpPr>
          <p:cNvPr id="13" name="Shape 10"/>
          <p:cNvSpPr/>
          <p:nvPr/>
        </p:nvSpPr>
        <p:spPr>
          <a:xfrm>
            <a:off x="2819324" y="3822192"/>
            <a:ext cx="2011680" cy="0"/>
          </a:xfrm>
          <a:prstGeom prst="line">
            <a:avLst/>
          </a:prstGeom>
          <a:noFill/>
          <a:ln w="9525">
            <a:solidFill>
              <a:schemeClr val="accent2"/>
            </a:solidFill>
            <a:prstDash val="solid"/>
          </a:ln>
        </p:spPr>
      </p:sp>
      <p:sp>
        <p:nvSpPr>
          <p:cNvPr id="14" name="Text 11"/>
          <p:cNvSpPr txBox="1"/>
          <p:nvPr/>
        </p:nvSpPr>
        <p:spPr>
          <a:xfrm>
            <a:off x="2819324" y="3950208"/>
            <a:ext cx="1920240" cy="640080"/>
          </a:xfrm>
          <a:prstGeom prst="rect">
            <a:avLst/>
          </a:prstGeom>
          <a:noFill/>
          <a:ln/>
        </p:spPr>
        <p:txBody>
          <a:bodyPr wrap="square" lIns="0" tIns="0" rIns="0" bIns="0" rtlCol="0" anchor="t"/>
          <a:lstStyle/>
          <a:p>
            <a:pPr algn="l" indent="0" marL="0">
              <a:lnSpc>
                <a:spcPct val="115000"/>
              </a:lnSpc>
              <a:buNone/>
            </a:pPr>
            <a:r>
              <a:rPr lang="en-US" sz="1350" dirty="0">
                <a:solidFill>
                  <a:schemeClr val="accent4"/>
                </a:solidFill>
              </a:rPr>
              <a:t>Accounts in MACK’s name, access granted</a:t>
            </a:r>
            <a:endParaRPr lang="en-US" sz="1350" dirty="0"/>
          </a:p>
        </p:txBody>
      </p:sp>
      <p:sp>
        <p:nvSpPr>
          <p:cNvPr id="15" name="Text 12"/>
          <p:cNvSpPr txBox="1"/>
          <p:nvPr/>
        </p:nvSpPr>
        <p:spPr>
          <a:xfrm>
            <a:off x="5090008" y="2514600"/>
            <a:ext cx="731520" cy="411480"/>
          </a:xfrm>
          <a:prstGeom prst="rect">
            <a:avLst/>
          </a:prstGeom>
          <a:noFill/>
          <a:ln/>
        </p:spPr>
        <p:txBody>
          <a:bodyPr wrap="square" lIns="0" tIns="0" rIns="0" bIns="0" rtlCol="0" anchor="t"/>
          <a:lstStyle/>
          <a:p>
            <a:pPr algn="l" indent="0" marL="0">
              <a:lnSpc>
                <a:spcPct val="112000"/>
              </a:lnSpc>
              <a:buNone/>
            </a:pPr>
            <a:r>
              <a:rPr lang="en-US" sz="2600" dirty="0">
                <a:solidFill>
                  <a:schemeClr val="accent3"/>
                </a:solidFill>
                <a:latin typeface="+mj-lt" pitchFamily="34" charset="0"/>
                <a:ea typeface="+mj-lt" pitchFamily="34" charset="-122"/>
                <a:cs typeface="+mj-lt" pitchFamily="34" charset="-120"/>
              </a:rPr>
              <a:t>03</a:t>
            </a:r>
            <a:endParaRPr lang="en-US" sz="2600" dirty="0"/>
          </a:p>
        </p:txBody>
      </p:sp>
      <p:sp>
        <p:nvSpPr>
          <p:cNvPr id="16" name="Shape 13"/>
          <p:cNvSpPr/>
          <p:nvPr/>
        </p:nvSpPr>
        <p:spPr>
          <a:xfrm>
            <a:off x="5803240" y="2743200"/>
            <a:ext cx="1466012" cy="0"/>
          </a:xfrm>
          <a:prstGeom prst="line">
            <a:avLst/>
          </a:prstGeom>
          <a:noFill/>
          <a:ln w="9525">
            <a:solidFill>
              <a:schemeClr val="accent4"/>
            </a:solidFill>
            <a:prstDash val="solid"/>
            <a:tailEnd type="triangle"/>
          </a:ln>
        </p:spPr>
      </p:sp>
      <p:sp>
        <p:nvSpPr>
          <p:cNvPr id="17" name="Text 14"/>
          <p:cNvSpPr txBox="1"/>
          <p:nvPr/>
        </p:nvSpPr>
        <p:spPr>
          <a:xfrm>
            <a:off x="5090008" y="3108960"/>
            <a:ext cx="2011680" cy="548640"/>
          </a:xfrm>
          <a:prstGeom prst="rect">
            <a:avLst/>
          </a:prstGeom>
          <a:noFill/>
          <a:ln/>
        </p:spPr>
        <p:txBody>
          <a:bodyPr wrap="square" lIns="0" tIns="0" rIns="0" bIns="0" rtlCol="0" anchor="t"/>
          <a:lstStyle/>
          <a:p>
            <a:pPr algn="l" indent="0" marL="0">
              <a:lnSpc>
                <a:spcPct val="112000"/>
              </a:lnSpc>
              <a:buNone/>
            </a:pPr>
            <a:r>
              <a:rPr lang="en-US" sz="3000" dirty="0">
                <a:solidFill>
                  <a:schemeClr val="bg1"/>
                </a:solidFill>
                <a:latin typeface="+mj-lt" pitchFamily="34" charset="0"/>
                <a:ea typeface="+mj-lt" pitchFamily="34" charset="-122"/>
                <a:cs typeface="+mj-lt" pitchFamily="34" charset="-120"/>
              </a:rPr>
              <a:t>Implement</a:t>
            </a:r>
            <a:endParaRPr lang="en-US" sz="3000" dirty="0"/>
          </a:p>
        </p:txBody>
      </p:sp>
      <p:sp>
        <p:nvSpPr>
          <p:cNvPr id="18" name="Shape 15"/>
          <p:cNvSpPr/>
          <p:nvPr/>
        </p:nvSpPr>
        <p:spPr>
          <a:xfrm>
            <a:off x="5090008" y="3822192"/>
            <a:ext cx="2011680" cy="0"/>
          </a:xfrm>
          <a:prstGeom prst="line">
            <a:avLst/>
          </a:prstGeom>
          <a:noFill/>
          <a:ln w="9525">
            <a:solidFill>
              <a:schemeClr val="accent2"/>
            </a:solidFill>
            <a:prstDash val="solid"/>
          </a:ln>
        </p:spPr>
      </p:sp>
      <p:sp>
        <p:nvSpPr>
          <p:cNvPr id="19" name="Text 16"/>
          <p:cNvSpPr txBox="1"/>
          <p:nvPr/>
        </p:nvSpPr>
        <p:spPr>
          <a:xfrm>
            <a:off x="5090008" y="3950208"/>
            <a:ext cx="1920240" cy="640080"/>
          </a:xfrm>
          <a:prstGeom prst="rect">
            <a:avLst/>
          </a:prstGeom>
          <a:noFill/>
          <a:ln/>
        </p:spPr>
        <p:txBody>
          <a:bodyPr wrap="square" lIns="0" tIns="0" rIns="0" bIns="0" rtlCol="0" anchor="t"/>
          <a:lstStyle/>
          <a:p>
            <a:pPr algn="l" indent="0" marL="0">
              <a:lnSpc>
                <a:spcPct val="115000"/>
              </a:lnSpc>
              <a:buNone/>
            </a:pPr>
            <a:r>
              <a:rPr lang="en-US" sz="1350" dirty="0">
                <a:solidFill>
                  <a:schemeClr val="accent4"/>
                </a:solidFill>
              </a:rPr>
              <a:t>Milestones one to six</a:t>
            </a:r>
            <a:endParaRPr lang="en-US" sz="1350" dirty="0"/>
          </a:p>
        </p:txBody>
      </p:sp>
      <p:sp>
        <p:nvSpPr>
          <p:cNvPr id="20" name="Text 17"/>
          <p:cNvSpPr txBox="1"/>
          <p:nvPr/>
        </p:nvSpPr>
        <p:spPr>
          <a:xfrm>
            <a:off x="7360691" y="2514600"/>
            <a:ext cx="731520" cy="411480"/>
          </a:xfrm>
          <a:prstGeom prst="rect">
            <a:avLst/>
          </a:prstGeom>
          <a:noFill/>
          <a:ln/>
        </p:spPr>
        <p:txBody>
          <a:bodyPr wrap="square" lIns="0" tIns="0" rIns="0" bIns="0" rtlCol="0" anchor="t"/>
          <a:lstStyle/>
          <a:p>
            <a:pPr algn="l" indent="0" marL="0">
              <a:lnSpc>
                <a:spcPct val="112000"/>
              </a:lnSpc>
              <a:buNone/>
            </a:pPr>
            <a:r>
              <a:rPr lang="en-US" sz="2600" dirty="0">
                <a:solidFill>
                  <a:schemeClr val="accent3"/>
                </a:solidFill>
                <a:latin typeface="+mj-lt" pitchFamily="34" charset="0"/>
                <a:ea typeface="+mj-lt" pitchFamily="34" charset="-122"/>
                <a:cs typeface="+mj-lt" pitchFamily="34" charset="-120"/>
              </a:rPr>
              <a:t>04</a:t>
            </a:r>
            <a:endParaRPr lang="en-US" sz="2600" dirty="0"/>
          </a:p>
        </p:txBody>
      </p:sp>
      <p:sp>
        <p:nvSpPr>
          <p:cNvPr id="21" name="Shape 18"/>
          <p:cNvSpPr/>
          <p:nvPr/>
        </p:nvSpPr>
        <p:spPr>
          <a:xfrm>
            <a:off x="8073923" y="2743200"/>
            <a:ext cx="1466012" cy="0"/>
          </a:xfrm>
          <a:prstGeom prst="line">
            <a:avLst/>
          </a:prstGeom>
          <a:noFill/>
          <a:ln w="9525">
            <a:solidFill>
              <a:schemeClr val="accent4"/>
            </a:solidFill>
            <a:prstDash val="solid"/>
            <a:tailEnd type="triangle"/>
          </a:ln>
        </p:spPr>
      </p:sp>
      <p:sp>
        <p:nvSpPr>
          <p:cNvPr id="22" name="Text 19"/>
          <p:cNvSpPr txBox="1"/>
          <p:nvPr/>
        </p:nvSpPr>
        <p:spPr>
          <a:xfrm>
            <a:off x="7360691" y="3108960"/>
            <a:ext cx="2011680" cy="548640"/>
          </a:xfrm>
          <a:prstGeom prst="rect">
            <a:avLst/>
          </a:prstGeom>
          <a:noFill/>
          <a:ln/>
        </p:spPr>
        <p:txBody>
          <a:bodyPr wrap="square" lIns="0" tIns="0" rIns="0" bIns="0" rtlCol="0" anchor="t"/>
          <a:lstStyle/>
          <a:p>
            <a:pPr algn="l" indent="0" marL="0">
              <a:lnSpc>
                <a:spcPct val="112000"/>
              </a:lnSpc>
              <a:buNone/>
            </a:pPr>
            <a:r>
              <a:rPr lang="en-US" sz="3000" dirty="0">
                <a:solidFill>
                  <a:schemeClr val="bg1"/>
                </a:solidFill>
                <a:latin typeface="+mj-lt" pitchFamily="34" charset="0"/>
                <a:ea typeface="+mj-lt" pitchFamily="34" charset="-122"/>
                <a:cs typeface="+mj-lt" pitchFamily="34" charset="-120"/>
              </a:rPr>
              <a:t>Measure</a:t>
            </a:r>
            <a:endParaRPr lang="en-US" sz="3000" dirty="0"/>
          </a:p>
        </p:txBody>
      </p:sp>
      <p:sp>
        <p:nvSpPr>
          <p:cNvPr id="23" name="Shape 20"/>
          <p:cNvSpPr/>
          <p:nvPr/>
        </p:nvSpPr>
        <p:spPr>
          <a:xfrm>
            <a:off x="7360691" y="3822192"/>
            <a:ext cx="2011680" cy="0"/>
          </a:xfrm>
          <a:prstGeom prst="line">
            <a:avLst/>
          </a:prstGeom>
          <a:noFill/>
          <a:ln w="9525">
            <a:solidFill>
              <a:schemeClr val="accent2"/>
            </a:solidFill>
            <a:prstDash val="solid"/>
          </a:ln>
        </p:spPr>
      </p:sp>
      <p:sp>
        <p:nvSpPr>
          <p:cNvPr id="24" name="Text 21"/>
          <p:cNvSpPr txBox="1"/>
          <p:nvPr/>
        </p:nvSpPr>
        <p:spPr>
          <a:xfrm>
            <a:off x="7360691" y="3950208"/>
            <a:ext cx="1920240" cy="640080"/>
          </a:xfrm>
          <a:prstGeom prst="rect">
            <a:avLst/>
          </a:prstGeom>
          <a:noFill/>
          <a:ln/>
        </p:spPr>
        <p:txBody>
          <a:bodyPr wrap="square" lIns="0" tIns="0" rIns="0" bIns="0" rtlCol="0" anchor="t"/>
          <a:lstStyle/>
          <a:p>
            <a:pPr algn="l" indent="0" marL="0">
              <a:lnSpc>
                <a:spcPct val="115000"/>
              </a:lnSpc>
              <a:buNone/>
            </a:pPr>
            <a:r>
              <a:rPr lang="en-US" sz="1350" dirty="0">
                <a:solidFill>
                  <a:schemeClr val="accent4"/>
                </a:solidFill>
              </a:rPr>
              <a:t>Dashboard and monthly report</a:t>
            </a:r>
            <a:endParaRPr lang="en-US" sz="1350" dirty="0"/>
          </a:p>
        </p:txBody>
      </p:sp>
      <p:sp>
        <p:nvSpPr>
          <p:cNvPr id="25" name="Text 22"/>
          <p:cNvSpPr txBox="1"/>
          <p:nvPr/>
        </p:nvSpPr>
        <p:spPr>
          <a:xfrm>
            <a:off x="9631375" y="2514600"/>
            <a:ext cx="731520" cy="411480"/>
          </a:xfrm>
          <a:prstGeom prst="rect">
            <a:avLst/>
          </a:prstGeom>
          <a:noFill/>
          <a:ln/>
        </p:spPr>
        <p:txBody>
          <a:bodyPr wrap="square" lIns="0" tIns="0" rIns="0" bIns="0" rtlCol="0" anchor="t"/>
          <a:lstStyle/>
          <a:p>
            <a:pPr algn="l" indent="0" marL="0">
              <a:lnSpc>
                <a:spcPct val="112000"/>
              </a:lnSpc>
              <a:buNone/>
            </a:pPr>
            <a:r>
              <a:rPr lang="en-US" sz="2600" dirty="0">
                <a:solidFill>
                  <a:schemeClr val="accent3"/>
                </a:solidFill>
                <a:latin typeface="+mj-lt" pitchFamily="34" charset="0"/>
                <a:ea typeface="+mj-lt" pitchFamily="34" charset="-122"/>
                <a:cs typeface="+mj-lt" pitchFamily="34" charset="-120"/>
              </a:rPr>
              <a:t>05</a:t>
            </a:r>
            <a:endParaRPr lang="en-US" sz="2600" dirty="0"/>
          </a:p>
        </p:txBody>
      </p:sp>
      <p:sp>
        <p:nvSpPr>
          <p:cNvPr id="26" name="Text 23"/>
          <p:cNvSpPr txBox="1"/>
          <p:nvPr/>
        </p:nvSpPr>
        <p:spPr>
          <a:xfrm>
            <a:off x="9631375" y="3108960"/>
            <a:ext cx="2011680" cy="548640"/>
          </a:xfrm>
          <a:prstGeom prst="rect">
            <a:avLst/>
          </a:prstGeom>
          <a:noFill/>
          <a:ln/>
        </p:spPr>
        <p:txBody>
          <a:bodyPr wrap="square" lIns="0" tIns="0" rIns="0" bIns="0" rtlCol="0" anchor="t"/>
          <a:lstStyle/>
          <a:p>
            <a:pPr algn="l" indent="0" marL="0">
              <a:lnSpc>
                <a:spcPct val="112000"/>
              </a:lnSpc>
              <a:buNone/>
            </a:pPr>
            <a:r>
              <a:rPr lang="en-US" sz="3000" dirty="0">
                <a:solidFill>
                  <a:schemeClr val="bg1"/>
                </a:solidFill>
                <a:latin typeface="+mj-lt" pitchFamily="34" charset="0"/>
                <a:ea typeface="+mj-lt" pitchFamily="34" charset="-122"/>
                <a:cs typeface="+mj-lt" pitchFamily="34" charset="-120"/>
              </a:rPr>
              <a:t>Improve</a:t>
            </a:r>
            <a:endParaRPr lang="en-US" sz="3000" dirty="0"/>
          </a:p>
        </p:txBody>
      </p:sp>
      <p:sp>
        <p:nvSpPr>
          <p:cNvPr id="27" name="Shape 24"/>
          <p:cNvSpPr/>
          <p:nvPr/>
        </p:nvSpPr>
        <p:spPr>
          <a:xfrm>
            <a:off x="9631375" y="3822192"/>
            <a:ext cx="2011680" cy="0"/>
          </a:xfrm>
          <a:prstGeom prst="line">
            <a:avLst/>
          </a:prstGeom>
          <a:noFill/>
          <a:ln w="9525">
            <a:solidFill>
              <a:schemeClr val="accent2"/>
            </a:solidFill>
            <a:prstDash val="solid"/>
          </a:ln>
        </p:spPr>
      </p:sp>
      <p:sp>
        <p:nvSpPr>
          <p:cNvPr id="28" name="Text 25"/>
          <p:cNvSpPr txBox="1"/>
          <p:nvPr/>
        </p:nvSpPr>
        <p:spPr>
          <a:xfrm>
            <a:off x="9631375" y="3950208"/>
            <a:ext cx="1920240" cy="640080"/>
          </a:xfrm>
          <a:prstGeom prst="rect">
            <a:avLst/>
          </a:prstGeom>
          <a:noFill/>
          <a:ln/>
        </p:spPr>
        <p:txBody>
          <a:bodyPr wrap="square" lIns="0" tIns="0" rIns="0" bIns="0" rtlCol="0" anchor="t"/>
          <a:lstStyle/>
          <a:p>
            <a:pPr algn="l" indent="0" marL="0">
              <a:lnSpc>
                <a:spcPct val="115000"/>
              </a:lnSpc>
              <a:buNone/>
            </a:pPr>
            <a:r>
              <a:rPr lang="en-US" sz="1350" dirty="0">
                <a:solidFill>
                  <a:schemeClr val="accent4"/>
                </a:solidFill>
              </a:rPr>
              <a:t>Refined every month</a:t>
            </a:r>
            <a:endParaRPr lang="en-US" sz="1350" dirty="0"/>
          </a:p>
        </p:txBody>
      </p:sp>
      <p:pic>
        <p:nvPicPr>
          <p:cNvPr id="29" name="Image 0" descr="MACK monogram">    </p:cNvPr>
          <p:cNvPicPr>
            <a:picLocks noChangeAspect="1"/>
          </p:cNvPicPr>
          <p:nvPr/>
        </p:nvPicPr>
        <p:blipFill>
          <a:blip r:embed="rId1"/>
          <a:stretch>
            <a:fillRect/>
          </a:stretch>
        </p:blipFill>
        <p:spPr>
          <a:xfrm>
            <a:off x="548640" y="5440680"/>
            <a:ext cx="457200" cy="442516"/>
          </a:xfrm>
          <a:prstGeom prst="rect">
            <a:avLst/>
          </a:prstGeom>
        </p:spPr>
      </p:pic>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MACK Digital Foundation">
  <a:themeElements>
    <a:clrScheme name="MACK Digital Foundation">
      <a:dk1>
        <a:srgbClr val="1A1916"/>
      </a:dk1>
      <a:lt1>
        <a:srgbClr val="EFECE6"/>
      </a:lt1>
      <a:dk2>
        <a:srgbClr val="4A463F"/>
      </a:dk2>
      <a:lt2>
        <a:srgbClr val="E5E1D9"/>
      </a:lt2>
      <a:accent1>
        <a:srgbClr val="161513"/>
      </a:accent1>
      <a:accent2>
        <a:srgbClr val="6B665E"/>
      </a:accent2>
      <a:accent3>
        <a:srgbClr val="9C6A47"/>
      </a:accent3>
      <a:accent4>
        <a:srgbClr val="A8A297"/>
      </a:accent4>
      <a:accent5>
        <a:srgbClr val="C9C3B7"/>
      </a:accent5>
      <a:accent6>
        <a:srgbClr val="F8F6F2"/>
      </a:accent6>
      <a:hlink>
        <a:srgbClr val="1A1916"/>
      </a:hlink>
      <a:folHlink>
        <a:srgbClr val="4A463F"/>
      </a:folHlink>
    </a:clrScheme>
    <a:fontScheme name="MACK Digital Foundatio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Foundation — MACK &amp; Co Architects</dc:title>
  <dc:subject>Search visibility, local presence, measurement and studio infrastructure</dc:subject>
  <dc:creator>Yash Sharma</dc:creator>
  <cp:lastModifiedBy>Yash Sharma</cp:lastModifiedBy>
  <cp:revision>1</cp:revision>
  <dcterms:created xsi:type="dcterms:W3CDTF">2026-10-14T23:47:55Z</dcterms:created>
  <dcterms:modified xsi:type="dcterms:W3CDTF">2026-10-14T23:47:55Z</dcterms:modified>
</cp:coreProperties>
</file>
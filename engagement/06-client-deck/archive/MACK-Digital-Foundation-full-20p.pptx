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981c56-5f5c-56dd-ba1c-12105ef2c894}">
          <p14:sldIdLst>
            <p14:sldId id="256"/>
          </p14:sldIdLst>
        </p14:section>
        <p14:section name="Context" id="{ca049712-e865-a17b-bf42-93398b8cac8a}">
          <p14:sldIdLst>
            <p14:sldId id="257"/>
          </p14:sldIdLst>
        </p14:section>
        <p14:section name="The system" id="{da928631-e1fe-bf52-4b7c-142fe155f017}">
          <p14:sldIdLst>
            <p14:sldId id="258"/>
            <p14:sldId id="259"/>
          </p14:sldIdLst>
        </p14:section>
        <p14:section name="Search" id="{48e25efd-7486-6c9e-2aa6-eccf1e68f725}">
          <p14:sldIdLst>
            <p14:sldId id="260"/>
            <p14:sldId id="261"/>
            <p14:sldId id="262"/>
            <p14:sldId id="263"/>
            <p14:sldId id="264"/>
            <p14:sldId id="265"/>
          </p14:sldIdLst>
        </p14:section>
        <p14:section name="Infrastructure" id="{e2b68104-d2fa-0d01-b7d1-2240f21c1085}">
          <p14:sldIdLst>
            <p14:sldId id="266"/>
          </p14:sldIdLst>
        </p14:section>
        <p14:section name="Measurement" id="{f2d94b53-7fca-13d6-d2e6-705ec42d474b}">
          <p14:sldIdLst>
            <p14:sldId id="267"/>
            <p14:sldId id="268"/>
          </p14:sldIdLst>
        </p14:section>
        <p14:section name="Roadmap" id="{cf638bca-67f6-46ab-4e4b-9354d6c153b1}">
          <p14:sldIdLst>
            <p14:sldId id="269"/>
            <p14:sldId id="270"/>
            <p14:sldId id="271"/>
          </p14:sldIdLst>
        </p14:section>
        <p14:section name="Engagement" id="{461284db-403e-7cee-56e6-368a3e11ec55}">
          <p14:sldIdLst>
            <p14:sldId id="272"/>
            <p14:sldId id="273"/>
            <p14:sldId id="274"/>
          </p14:sldIdLst>
        </p14:section>
        <p14:section name="Next step" id="{a3192bfb-89a7-eee5-5e4b-7a392827fd34}">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working plan for what happens if we proceed. Structure: where MACK stands today, how clients find a studio, what needs to be in place, how it will be implemented in milestones, how progress is measured, and the next step. The plan is based on Google's official documentation and on checks of MACK's current site carried out in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checked in October 2026. Search: the live site carries a "noindex" instruction, so Google is told not to list it. Maps: the map link on the site opens a Google listing named "Karan Desai, Architecture + Design" at the studio's address — the studio decides how its Google listing should represent MACK. Identity: contact email is a Gmail address. Portfolio: 6 of 10 projects state no location, only 2 have a written description. Measurement: nothing is tracked. The positive: the new site already has the technical groundwork — the work now is switching it on, connecting it and filling it with real project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new clients of a studio arrive through a recommendation, Instagram or a publication — and then search the studio's name before getting in touch. So the website is the destination every channel leads to, and its first job is to confirm the recommendation. Left to right: discovery channels, the website, what visitors explore, the actions they take, and the consultation. The bottom row shows where each piece of the plan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the root: the website, email, Search Console verification and the workspace all depend on it. That is why it is registered in MACK's name and decided first. Principle: MACK owns every account; I am given access to do the work. If I am unavailable, the studio loses nothing. Search Console, Analytics and the Business Profile feed one monthly report. Backup sits apart from the cloud workspace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visibility as a building section. 01 technical: Google can find, read and index every page quickly. 02 structure: each page clearly says what it is (titles, headings, structured data). 03 relevance: pages that match how people actually search — services and projects. 04 local: the Business Profile and consistent details for Maps. 05 authority: publications, platforms and reviews. Measurement runs alongside all of them. Today: layers 01–02 are largely built into the new site; 03–05 depend on the studio's project information, a verified profile and published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someone already heard of MACK and searches the name — this is the fastest and most controllable win, and it supports the referrals MACK already gets. Note: "MACK" alone is ambiguous (there is a Mark Mack architecture practice in the US), so the full name is used consistently. Shortlist: local commercial searches like "architect in Andheri West" — decided largely in Google Maps by relevance, distance and prominence; competitive, built over months. Discover: project, typology, place and image searches — long-tail and compounding, but only possible once projects carry real information. Example queries are illustrations to be validated, not targets already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 as a concrete list of work. Technical items are mostly about switching on and verifying what the new site already supports. Pages: titles, headings, service pages and internal links. Portfolio: the biggest gap — real facts and a short written story per project; renders labelled as visualisation and photographers credited, which is also what editors and Google ask for. Local and authority: profile, consistency, reviews within Google's rules, free platform profiles, and publication 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activity in the plan, read left to right: the work, what it immediately produces, and the business effect it makes possible. The right-hand column describes what becomes possible and measurable — not a guaranteed number. Technical SEO makes MACK eligible to appear at all; the Business Profile makes calls and directions possible from Google; project pages let the portfolio be found for what it is; analytics and the enquiry log turn opinions into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Profile is what appears beside the website when someone searches the studio's name, and in Maps. First task: settle the existing listing at the studio's address — Google allows one profile per business per location; duplicates can lead to suspension. Hours: Google's own guidelines say businesses that operate only by appointment should not list opening hours — the profile shows how to book instead. New studios: a profile can be set up with an opening date up to a year ahead and appears 90 days before opening — only for a real, staffed location with signage. Local ranking: Google says it is based on relevance, distance and prominence, and that there is no way to pay for better local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most visitors can only find MACK by name. Each project page, written properly, becomes its own entry point: someone searching for a resort in Rajasthan, a second home in Dharampur, or a particular detail can land on MACK's work, explore related projects and get in touch. What the studio provides: about ten minutes per project through a short form — place, type, status, year, the brief, what MACK did, credits, and whether the client allows publication. Renders are always labelled as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moving from a Gmail address to the studio's domain, authenticated so mail is trusted. Storage: 2–3 TB of project files in shared drives with one folder system per project and access by role; clients and consultants only see what has been issued to them. If Revit worksharing is used, central models need a different setup (Autodesk advises against cloud-sync folders). Backup: the cloud keeps old versions only for a limited time (Google Drive: 30 days or 100 versions; deleted items recoverable by an admin for 25 days). A separate, versioned copy — with one copy off-site — is what protects the studio's archive. Restores are tested every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each with its source. Visibility and discovery come from Google Search Console and the Business Profile; engagement and actions from Google Analytics; the outcome — qualified enquiries — only from the studio's own enquiry log, because online tools can't see a referral conversation or a studio visit. Branded and new (non-branded) searches are always reported separately: one reflects reputation, the other shows the search work reaching new people. Direction requests are an intent-to-visit signal, not a count of studio visits — reported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of the monthly report, shown without numbers on purpose: values fill from launch, starting from a recorded baseline in month zero. No figures are projected. Three lines at the top answer what changed, why it matters and what happens next. Then a short scorecard, the most-discovered projects, health checks, the work completed and the next actions with owners. A live dashboard sits alongside it, owned by the studio. Reading it takes about twenty minutes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0 is alignment and access. M1 digital foundation in the first two weeks; M2 launch and search foundation by week four; M3 local presence from week three — Google's verification time varies; M4 portfolio from week four, paced by how quickly project information arrives; M5 authority from around month three and ongoing; M6 measurement — dashboard by week six, then a report every month. Timings depend on decisions and inputs arriving on time — the usual cause of delay is waiting for access or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milestone: what is delivered, what is needed from the studio, and how we know it is complete. The "complete when" row is deliberately checkable — a test, a status, a report — not a feeling. M3 depends on one decision only the studio can make: how the existing Google listing at the studio's address should represent MACK.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is paced by the studio's project information — it cannot be completed from my side alone. M5: professional photography of completed projects is the single most valuable authority investment, and the studio's decision; publication is never guaranteed. M6 turns everything into a monthly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Everything listed is a thing the studio can open, check or use — not a vague service. All accounts remain the studio's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and launch happen once. After that the work runs as a monthly cycle: measure, improve, report — and repeat. Every month: Search Console and indexing review, Business Profile upkeep and review replies, new projects published, site, form and backup checks, and the one-page report with next actions. Every quarter: a review meeting, refresh of the search-intent map, an access audit and a test restore of the backup. The studio's part is small but essential: project information, approvals and twenty minutes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Committed: the work in every milestone, done to Google's guidelines, on the agreed timeline given inputs, with transparent monthly measurement — and the studio owns everything. Not promised: positions such as "number one on Google", traffic or lead numbers, a particular Maps position (distance from the searcher is part of how Google ranks), or publication by editors. What usually happens: pages indexed within days to weeks of launch; the studio's name returning its own site within weeks; new searches starting to show in one to three months; compounding visibility over three to twelve months. Search builds up over time, and the progress is measured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a working session of about ninety minutes to settle the identity questions (studio name, domain, the existing Google listing), agree who owns each account and grant access. Then the baseline audit is recorded, and Milestone 1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CK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rtlCol="0"/>
          <a:lstStyle>
            <a:lvl1pPr indent="0" marL="0">
              <a:buNone/>
              <a:defRPr lang="en-US" sz="950" dirty="0">
                <a:solidFill>
                  <a:schemeClr val="accent2"/>
                </a:solidFill>
              </a:defRPr>
            </a:lvl1pPr>
          </a:lstStyle>
          <a:p>
            <a:pPr indent="0" marL="0">
              <a:buNone/>
            </a:pP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4" name="Text 0"/>
          <p:cNvSpPr txBox="1"/>
          <p:nvPr/>
        </p:nvSpPr>
        <p:spPr>
          <a:xfrm>
            <a:off x="548640" y="6400800"/>
            <a:ext cx="5486400" cy="201168"/>
          </a:xfrm>
          <a:prstGeom prst="rect">
            <a:avLst/>
          </a:prstGeom>
          <a:noFill/>
          <a:ln/>
        </p:spPr>
        <p:txBody>
          <a:bodyPr wrap="square" lIns="0" tIns="0" rIns="0" bIns="0" rtlCol="0" anchor="ctr"/>
          <a:lstStyle/>
          <a:p>
            <a:pPr indent="0" marL="0">
              <a:buNone/>
            </a:pPr>
            <a:r>
              <a:rPr lang="en-US" sz="850" spc="100" kern="0" dirty="0">
                <a:solidFill>
                  <a:schemeClr val="accent2"/>
                </a:solidFill>
              </a:rPr>
              <a:t>MACK &amp; Co Architects  ·  Digital Foundation</a:t>
            </a:r>
            <a:endParaRPr lang="en-US" sz="8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CK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rtlCol="0"/>
          <a:lstStyle>
            <a:lvl1pPr indent="0" marL="0">
              <a:buNone/>
              <a:defRPr lang="en-US" sz="950" dirty="0">
                <a:solidFill>
                  <a:schemeClr val="accent4"/>
                </a:solidFill>
              </a:defRPr>
            </a:lvl1pPr>
          </a:lstStyle>
          <a:p>
            <a:pPr indent="0" marL="0">
              <a:buNone/>
            </a:pP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
        <p:nvSpPr>
          <p:cNvPr id="4" name="Text 0"/>
          <p:cNvSpPr txBox="1"/>
          <p:nvPr/>
        </p:nvSpPr>
        <p:spPr>
          <a:xfrm>
            <a:off x="548640" y="6400800"/>
            <a:ext cx="5486400" cy="201168"/>
          </a:xfrm>
          <a:prstGeom prst="rect">
            <a:avLst/>
          </a:prstGeom>
          <a:noFill/>
          <a:ln/>
        </p:spPr>
        <p:txBody>
          <a:bodyPr wrap="square" lIns="0" tIns="0" rIns="0" bIns="0" rtlCol="0" anchor="ctr"/>
          <a:lstStyle/>
          <a:p>
            <a:pPr indent="0" marL="0">
              <a:buNone/>
            </a:pPr>
            <a:r>
              <a:rPr lang="en-US" sz="850" spc="100" kern="0" dirty="0">
                <a:solidFill>
                  <a:schemeClr val="accent4"/>
                </a:solidFill>
              </a:rPr>
              <a:t>MACK &amp; Co Architects  ·  Digital Foundation</a:t>
            </a:r>
            <a:endParaRPr lang="en-US" sz="8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CK_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gra Fort Project living room under a circular skylight (photography)">    </p:cNvPr>
          <p:cNvPicPr>
            <a:picLocks noChangeAspect="1"/>
          </p:cNvPicPr>
          <p:nvPr/>
        </p:nvPicPr>
        <p:blipFill>
          <a:blip r:embed="rId1"/>
          <a:srcRect l="0" r="0" t="0" b="0"/>
          <a:stretch/>
        </p:blipFill>
        <p:spPr>
          <a:xfrm>
            <a:off x="5806440" y="0"/>
            <a:ext cx="6385255" cy="6858000"/>
          </a:xfrm>
          <a:prstGeom prst="rect">
            <a:avLst/>
          </a:prstGeom>
        </p:spPr>
      </p:pic>
      <p:pic>
        <p:nvPicPr>
          <p:cNvPr id="3" name="Image 1" descr="MACK monogram">    </p:cNvPr>
          <p:cNvPicPr>
            <a:picLocks noChangeAspect="1"/>
          </p:cNvPicPr>
          <p:nvPr/>
        </p:nvPicPr>
        <p:blipFill>
          <a:blip r:embed="rId2"/>
          <a:stretch>
            <a:fillRect/>
          </a:stretch>
        </p:blipFill>
        <p:spPr>
          <a:xfrm>
            <a:off x="640080" y="640080"/>
            <a:ext cx="475488" cy="460217"/>
          </a:xfrm>
          <a:prstGeom prst="rect">
            <a:avLst/>
          </a:prstGeom>
        </p:spPr>
      </p:pic>
      <p:sp>
        <p:nvSpPr>
          <p:cNvPr id="4" name="Text 0"/>
          <p:cNvSpPr txBox="1"/>
          <p:nvPr/>
        </p:nvSpPr>
        <p:spPr>
          <a:xfrm>
            <a:off x="1325880" y="749808"/>
            <a:ext cx="3657600" cy="274320"/>
          </a:xfrm>
          <a:prstGeom prst="rect">
            <a:avLst/>
          </a:prstGeom>
          <a:noFill/>
          <a:ln/>
        </p:spPr>
        <p:txBody>
          <a:bodyPr wrap="square" lIns="0" tIns="0" rIns="0" bIns="0" rtlCol="0" anchor="t"/>
          <a:lstStyle/>
          <a:p>
            <a:pPr algn="l" indent="0" marL="0">
              <a:lnSpc>
                <a:spcPct val="112000"/>
              </a:lnSpc>
              <a:buNone/>
            </a:pPr>
            <a:r>
              <a:rPr lang="en-US" sz="1000" spc="240" kern="0" dirty="0">
                <a:solidFill>
                  <a:schemeClr val="bg1"/>
                </a:solidFill>
              </a:rPr>
              <a:t>MACK &amp; CO ARCHITECTS</a:t>
            </a:r>
            <a:endParaRPr lang="en-US" sz="1000" dirty="0"/>
          </a:p>
        </p:txBody>
      </p:sp>
      <p:sp>
        <p:nvSpPr>
          <p:cNvPr id="5" name="Text 1"/>
          <p:cNvSpPr txBox="1"/>
          <p:nvPr/>
        </p:nvSpPr>
        <p:spPr>
          <a:xfrm>
            <a:off x="640080" y="1828800"/>
            <a:ext cx="4937760" cy="1463040"/>
          </a:xfrm>
          <a:prstGeom prst="rect">
            <a:avLst/>
          </a:prstGeom>
          <a:noFill/>
          <a:ln/>
        </p:spPr>
        <p:txBody>
          <a:bodyPr wrap="square" lIns="0" tIns="0" rIns="0" bIns="0" rtlCol="0" anchor="t"/>
          <a:lstStyle/>
          <a:p>
            <a:pPr algn="l" indent="0" marL="0">
              <a:lnSpc>
                <a:spcPct val="98000"/>
              </a:lnSpc>
              <a:buNone/>
            </a:pPr>
            <a:r>
              <a:rPr lang="en-US" sz="5000" dirty="0">
                <a:solidFill>
                  <a:schemeClr val="bg1"/>
                </a:solidFill>
                <a:latin typeface="+mj-lt" pitchFamily="34" charset="0"/>
                <a:ea typeface="+mj-lt" pitchFamily="34" charset="-122"/>
                <a:cs typeface="+mj-lt" pitchFamily="34" charset="-120"/>
              </a:rPr>
              <a:t>Digital</a:t>
            </a:r>
            <a:endParaRPr lang="en-US" sz="5000" dirty="0"/>
          </a:p>
          <a:p>
            <a:pPr algn="l" indent="0" marL="0">
              <a:lnSpc>
                <a:spcPct val="98000"/>
              </a:lnSpc>
              <a:buNone/>
            </a:pPr>
            <a:r>
              <a:rPr lang="en-US" sz="5000" dirty="0">
                <a:solidFill>
                  <a:schemeClr val="bg1"/>
                </a:solidFill>
                <a:latin typeface="+mj-lt" pitchFamily="34" charset="0"/>
                <a:ea typeface="+mj-lt" pitchFamily="34" charset="-122"/>
                <a:cs typeface="+mj-lt" pitchFamily="34" charset="-120"/>
              </a:rPr>
              <a:t>Foundation</a:t>
            </a:r>
            <a:endParaRPr lang="en-US" sz="5000" dirty="0"/>
          </a:p>
        </p:txBody>
      </p:sp>
      <p:sp>
        <p:nvSpPr>
          <p:cNvPr id="6" name="Text 2"/>
          <p:cNvSpPr txBox="1"/>
          <p:nvPr/>
        </p:nvSpPr>
        <p:spPr>
          <a:xfrm>
            <a:off x="640080" y="3520440"/>
            <a:ext cx="4572000" cy="822960"/>
          </a:xfrm>
          <a:prstGeom prst="rect">
            <a:avLst/>
          </a:prstGeom>
          <a:noFill/>
          <a:ln/>
        </p:spPr>
        <p:txBody>
          <a:bodyPr wrap="square" lIns="0" tIns="0" rIns="0" bIns="0" rtlCol="0" anchor="t"/>
          <a:lstStyle/>
          <a:p>
            <a:pPr algn="l" indent="0" marL="0">
              <a:lnSpc>
                <a:spcPct val="120000"/>
              </a:lnSpc>
              <a:buNone/>
            </a:pPr>
            <a:r>
              <a:rPr lang="en-US" sz="1600" dirty="0">
                <a:solidFill>
                  <a:schemeClr val="accent4"/>
                </a:solidFill>
              </a:rPr>
              <a:t>A working plan for search visibility, local presence, measurement and studio infrastructure</a:t>
            </a:r>
            <a:endParaRPr lang="en-US" sz="1600" dirty="0"/>
          </a:p>
        </p:txBody>
      </p:sp>
      <p:sp>
        <p:nvSpPr>
          <p:cNvPr id="7" name="Shape 3"/>
          <p:cNvSpPr/>
          <p:nvPr/>
        </p:nvSpPr>
        <p:spPr>
          <a:xfrm>
            <a:off x="640080" y="5440680"/>
            <a:ext cx="4572000" cy="0"/>
          </a:xfrm>
          <a:prstGeom prst="line">
            <a:avLst/>
          </a:prstGeom>
          <a:noFill/>
          <a:ln w="9525">
            <a:solidFill>
              <a:schemeClr val="accent2"/>
            </a:solidFill>
            <a:prstDash val="solid"/>
          </a:ln>
        </p:spPr>
      </p:sp>
      <p:sp>
        <p:nvSpPr>
          <p:cNvPr id="8" name="Text 4"/>
          <p:cNvSpPr txBox="1"/>
          <p:nvPr/>
        </p:nvSpPr>
        <p:spPr>
          <a:xfrm>
            <a:off x="640080" y="5559552"/>
            <a:ext cx="4754880" cy="256032"/>
          </a:xfrm>
          <a:prstGeom prst="rect">
            <a:avLst/>
          </a:prstGeom>
          <a:noFill/>
          <a:ln/>
        </p:spPr>
        <p:txBody>
          <a:bodyPr wrap="square" lIns="0" tIns="0" rIns="0" bIns="0" rtlCol="0" anchor="t"/>
          <a:lstStyle/>
          <a:p>
            <a:pPr algn="l" indent="0" marL="0">
              <a:lnSpc>
                <a:spcPct val="112000"/>
              </a:lnSpc>
              <a:buNone/>
            </a:pPr>
            <a:r>
              <a:rPr lang="en-US" sz="1100" dirty="0">
                <a:solidFill>
                  <a:schemeClr val="bg1"/>
                </a:solidFill>
              </a:rPr>
              <a:t>Prepared for Ayushi and the MACK &amp; Co team</a:t>
            </a:r>
            <a:endParaRPr lang="en-US" sz="1100" dirty="0"/>
          </a:p>
        </p:txBody>
      </p:sp>
      <p:sp>
        <p:nvSpPr>
          <p:cNvPr id="9" name="Text 5"/>
          <p:cNvSpPr txBox="1"/>
          <p:nvPr/>
        </p:nvSpPr>
        <p:spPr>
          <a:xfrm>
            <a:off x="640080" y="5852160"/>
            <a:ext cx="475488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4"/>
                </a:solidFill>
              </a:rPr>
              <a:t>October 2026  ·  Yash Sharma</a:t>
            </a:r>
            <a:endParaRPr lang="en-US" sz="1100" dirty="0"/>
          </a:p>
        </p:txBody>
      </p:sp>
      <p:sp>
        <p:nvSpPr>
          <p:cNvPr id="10" name="Text 6"/>
          <p:cNvSpPr txBox="1"/>
          <p:nvPr/>
        </p:nvSpPr>
        <p:spPr>
          <a:xfrm>
            <a:off x="640080" y="6355080"/>
            <a:ext cx="4754880" cy="201168"/>
          </a:xfrm>
          <a:prstGeom prst="rect">
            <a:avLst/>
          </a:prstGeom>
          <a:noFill/>
          <a:ln/>
        </p:spPr>
        <p:txBody>
          <a:bodyPr wrap="square" lIns="0" tIns="0" rIns="0" bIns="0" rtlCol="0" anchor="t"/>
          <a:lstStyle/>
          <a:p>
            <a:pPr algn="l" indent="0" marL="0">
              <a:lnSpc>
                <a:spcPct val="112000"/>
              </a:lnSpc>
              <a:buNone/>
            </a:pPr>
            <a:r>
              <a:rPr lang="en-US" sz="850" dirty="0">
                <a:solidFill>
                  <a:schemeClr val="accent4"/>
                </a:solidFill>
              </a:rPr>
              <a:t>Cover: Agra Fort Project, Dharampur — photography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01 — STARTING POINT</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Where MACK stands today</a:t>
            </a:r>
            <a:endParaRPr lang="en-US" sz="3200" dirty="0"/>
          </a:p>
        </p:txBody>
      </p:sp>
      <p:sp>
        <p:nvSpPr>
          <p:cNvPr id="5" name="Text 2"/>
          <p:cNvSpPr txBox="1"/>
          <p:nvPr/>
        </p:nvSpPr>
        <p:spPr>
          <a:xfrm>
            <a:off x="548640" y="1444752"/>
            <a:ext cx="9692640" cy="457200"/>
          </a:xfrm>
          <a:prstGeom prst="rect">
            <a:avLst/>
          </a:prstGeom>
          <a:noFill/>
          <a:ln/>
        </p:spPr>
        <p:txBody>
          <a:bodyPr wrap="square" lIns="0" tIns="0" rIns="0" bIns="0" rtlCol="0" anchor="t"/>
          <a:lstStyle/>
          <a:p>
            <a:pPr algn="l" indent="0" marL="0">
              <a:lnSpc>
                <a:spcPct val="115000"/>
              </a:lnSpc>
              <a:buNone/>
            </a:pPr>
            <a:r>
              <a:rPr lang="en-US" sz="1500" dirty="0">
                <a:solidFill>
                  <a:schemeClr val="tx2"/>
                </a:solidFill>
              </a:rPr>
              <a:t>A new website is ready. Search, maps, identity and measurement around it are not yet in place.</a:t>
            </a:r>
            <a:endParaRPr lang="en-US" sz="1500" dirty="0"/>
          </a:p>
        </p:txBody>
      </p:sp>
      <p:sp>
        <p:nvSpPr>
          <p:cNvPr id="6" name="Text 3"/>
          <p:cNvSpPr txBox="1"/>
          <p:nvPr/>
        </p:nvSpPr>
        <p:spPr>
          <a:xfrm>
            <a:off x="548640" y="2148840"/>
            <a:ext cx="17373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AREA</a:t>
            </a:r>
            <a:endParaRPr lang="en-US" sz="950" dirty="0"/>
          </a:p>
        </p:txBody>
      </p:sp>
      <p:sp>
        <p:nvSpPr>
          <p:cNvPr id="7" name="Text 4"/>
          <p:cNvSpPr txBox="1"/>
          <p:nvPr/>
        </p:nvSpPr>
        <p:spPr>
          <a:xfrm>
            <a:off x="2468880" y="2148840"/>
            <a:ext cx="41148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TODAY</a:t>
            </a:r>
            <a:endParaRPr lang="en-US" sz="950" dirty="0"/>
          </a:p>
        </p:txBody>
      </p:sp>
      <p:sp>
        <p:nvSpPr>
          <p:cNvPr id="8" name="Text 5"/>
          <p:cNvSpPr txBox="1"/>
          <p:nvPr/>
        </p:nvSpPr>
        <p:spPr>
          <a:xfrm>
            <a:off x="6858000" y="2148840"/>
            <a:ext cx="4782312"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IT MEANS</a:t>
            </a:r>
            <a:endParaRPr lang="en-US" sz="950" dirty="0"/>
          </a:p>
        </p:txBody>
      </p:sp>
      <p:sp>
        <p:nvSpPr>
          <p:cNvPr id="9" name="Shape 6"/>
          <p:cNvSpPr/>
          <p:nvPr/>
        </p:nvSpPr>
        <p:spPr>
          <a:xfrm>
            <a:off x="548640" y="2478024"/>
            <a:ext cx="11094415" cy="0"/>
          </a:xfrm>
          <a:prstGeom prst="line">
            <a:avLst/>
          </a:prstGeom>
          <a:noFill/>
          <a:ln w="9525">
            <a:solidFill>
              <a:schemeClr val="tx1"/>
            </a:solidFill>
            <a:prstDash val="solid"/>
          </a:ln>
        </p:spPr>
      </p:sp>
      <p:sp>
        <p:nvSpPr>
          <p:cNvPr id="10" name="Text 7"/>
          <p:cNvSpPr txBox="1"/>
          <p:nvPr/>
        </p:nvSpPr>
        <p:spPr>
          <a:xfrm>
            <a:off x="548640" y="2587752"/>
            <a:ext cx="1737360" cy="38404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Search</a:t>
            </a:r>
            <a:endParaRPr lang="en-US" sz="1500" dirty="0"/>
          </a:p>
        </p:txBody>
      </p:sp>
      <p:sp>
        <p:nvSpPr>
          <p:cNvPr id="11" name="Text 8"/>
          <p:cNvSpPr txBox="1"/>
          <p:nvPr/>
        </p:nvSpPr>
        <p:spPr>
          <a:xfrm>
            <a:off x="2468880" y="2606040"/>
            <a:ext cx="4114800" cy="384048"/>
          </a:xfrm>
          <a:prstGeom prst="rect">
            <a:avLst/>
          </a:prstGeom>
          <a:noFill/>
          <a:ln/>
        </p:spPr>
        <p:txBody>
          <a:bodyPr wrap="square" lIns="0" tIns="0" rIns="0" bIns="0" rtlCol="0" anchor="t"/>
          <a:lstStyle/>
          <a:p>
            <a:pPr algn="l" indent="0" marL="0">
              <a:lnSpc>
                <a:spcPct val="112000"/>
              </a:lnSpc>
              <a:buNone/>
            </a:pPr>
            <a:r>
              <a:rPr lang="en-US" sz="1350" dirty="0">
                <a:solidFill>
                  <a:schemeClr val="tx2"/>
                </a:solidFill>
              </a:rPr>
              <a:t>The live site asks Google not to list it</a:t>
            </a:r>
            <a:endParaRPr lang="en-US" sz="1350" dirty="0"/>
          </a:p>
        </p:txBody>
      </p:sp>
      <p:sp>
        <p:nvSpPr>
          <p:cNvPr id="12" name="Text 9"/>
          <p:cNvSpPr txBox="1"/>
          <p:nvPr/>
        </p:nvSpPr>
        <p:spPr>
          <a:xfrm>
            <a:off x="6858000" y="2606040"/>
            <a:ext cx="4782312" cy="384048"/>
          </a:xfrm>
          <a:prstGeom prst="rect">
            <a:avLst/>
          </a:prstGeom>
          <a:noFill/>
          <a:ln/>
        </p:spPr>
        <p:txBody>
          <a:bodyPr wrap="square" lIns="0" tIns="0" rIns="0" bIns="0" rtlCol="0" anchor="t"/>
          <a:lstStyle/>
          <a:p>
            <a:pPr algn="l" indent="0" marL="0">
              <a:lnSpc>
                <a:spcPct val="112000"/>
              </a:lnSpc>
              <a:buNone/>
            </a:pPr>
            <a:r>
              <a:rPr lang="en-US" sz="1350" dirty="0">
                <a:solidFill>
                  <a:schemeClr val="tx1"/>
                </a:solidFill>
              </a:rPr>
              <a:t>MACK cannot appear in Google results yet</a:t>
            </a:r>
            <a:endParaRPr lang="en-US" sz="1350" dirty="0"/>
          </a:p>
        </p:txBody>
      </p:sp>
      <p:sp>
        <p:nvSpPr>
          <p:cNvPr id="13" name="Shape 10"/>
          <p:cNvSpPr/>
          <p:nvPr/>
        </p:nvSpPr>
        <p:spPr>
          <a:xfrm>
            <a:off x="548640" y="2990088"/>
            <a:ext cx="11094415" cy="0"/>
          </a:xfrm>
          <a:prstGeom prst="line">
            <a:avLst/>
          </a:prstGeom>
          <a:noFill/>
          <a:ln w="9525">
            <a:solidFill>
              <a:schemeClr val="accent5"/>
            </a:solidFill>
            <a:prstDash val="solid"/>
          </a:ln>
        </p:spPr>
      </p:sp>
      <p:sp>
        <p:nvSpPr>
          <p:cNvPr id="14" name="Text 11"/>
          <p:cNvSpPr txBox="1"/>
          <p:nvPr/>
        </p:nvSpPr>
        <p:spPr>
          <a:xfrm>
            <a:off x="548640" y="3099816"/>
            <a:ext cx="1737360" cy="38404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Maps</a:t>
            </a:r>
            <a:endParaRPr lang="en-US" sz="1500" dirty="0"/>
          </a:p>
        </p:txBody>
      </p:sp>
      <p:sp>
        <p:nvSpPr>
          <p:cNvPr id="15" name="Text 12"/>
          <p:cNvSpPr txBox="1"/>
          <p:nvPr/>
        </p:nvSpPr>
        <p:spPr>
          <a:xfrm>
            <a:off x="2468880" y="3118104"/>
            <a:ext cx="4114800" cy="384048"/>
          </a:xfrm>
          <a:prstGeom prst="rect">
            <a:avLst/>
          </a:prstGeom>
          <a:noFill/>
          <a:ln/>
        </p:spPr>
        <p:txBody>
          <a:bodyPr wrap="square" lIns="0" tIns="0" rIns="0" bIns="0" rtlCol="0" anchor="t"/>
          <a:lstStyle/>
          <a:p>
            <a:pPr algn="l" indent="0" marL="0">
              <a:lnSpc>
                <a:spcPct val="112000"/>
              </a:lnSpc>
              <a:buNone/>
            </a:pPr>
            <a:r>
              <a:rPr lang="en-US" sz="1350" dirty="0">
                <a:solidFill>
                  <a:schemeClr val="tx2"/>
                </a:solidFill>
              </a:rPr>
              <a:t>The map link opens a listing under another name</a:t>
            </a:r>
            <a:endParaRPr lang="en-US" sz="1350" dirty="0"/>
          </a:p>
        </p:txBody>
      </p:sp>
      <p:sp>
        <p:nvSpPr>
          <p:cNvPr id="16" name="Text 13"/>
          <p:cNvSpPr txBox="1"/>
          <p:nvPr/>
        </p:nvSpPr>
        <p:spPr>
          <a:xfrm>
            <a:off x="6858000" y="3118104"/>
            <a:ext cx="4782312" cy="384048"/>
          </a:xfrm>
          <a:prstGeom prst="rect">
            <a:avLst/>
          </a:prstGeom>
          <a:noFill/>
          <a:ln/>
        </p:spPr>
        <p:txBody>
          <a:bodyPr wrap="square" lIns="0" tIns="0" rIns="0" bIns="0" rtlCol="0" anchor="t"/>
          <a:lstStyle/>
          <a:p>
            <a:pPr algn="l" indent="0" marL="0">
              <a:lnSpc>
                <a:spcPct val="112000"/>
              </a:lnSpc>
              <a:buNone/>
            </a:pPr>
            <a:r>
              <a:rPr lang="en-US" sz="1350" dirty="0">
                <a:solidFill>
                  <a:schemeClr val="tx1"/>
                </a:solidFill>
              </a:rPr>
              <a:t>Name and Google listing need to be aligned</a:t>
            </a:r>
            <a:endParaRPr lang="en-US" sz="1350" dirty="0"/>
          </a:p>
        </p:txBody>
      </p:sp>
      <p:sp>
        <p:nvSpPr>
          <p:cNvPr id="17" name="Shape 14"/>
          <p:cNvSpPr/>
          <p:nvPr/>
        </p:nvSpPr>
        <p:spPr>
          <a:xfrm>
            <a:off x="548640" y="3502152"/>
            <a:ext cx="11094415" cy="0"/>
          </a:xfrm>
          <a:prstGeom prst="line">
            <a:avLst/>
          </a:prstGeom>
          <a:noFill/>
          <a:ln w="9525">
            <a:solidFill>
              <a:schemeClr val="accent5"/>
            </a:solidFill>
            <a:prstDash val="solid"/>
          </a:ln>
        </p:spPr>
      </p:sp>
      <p:sp>
        <p:nvSpPr>
          <p:cNvPr id="18" name="Text 15"/>
          <p:cNvSpPr txBox="1"/>
          <p:nvPr/>
        </p:nvSpPr>
        <p:spPr>
          <a:xfrm>
            <a:off x="548640" y="3611880"/>
            <a:ext cx="1737360" cy="38404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Identity</a:t>
            </a:r>
            <a:endParaRPr lang="en-US" sz="1500" dirty="0"/>
          </a:p>
        </p:txBody>
      </p:sp>
      <p:sp>
        <p:nvSpPr>
          <p:cNvPr id="19" name="Text 16"/>
          <p:cNvSpPr txBox="1"/>
          <p:nvPr/>
        </p:nvSpPr>
        <p:spPr>
          <a:xfrm>
            <a:off x="2468880" y="3630168"/>
            <a:ext cx="4114800" cy="384048"/>
          </a:xfrm>
          <a:prstGeom prst="rect">
            <a:avLst/>
          </a:prstGeom>
          <a:noFill/>
          <a:ln/>
        </p:spPr>
        <p:txBody>
          <a:bodyPr wrap="square" lIns="0" tIns="0" rIns="0" bIns="0" rtlCol="0" anchor="t"/>
          <a:lstStyle/>
          <a:p>
            <a:pPr algn="l" indent="0" marL="0">
              <a:lnSpc>
                <a:spcPct val="112000"/>
              </a:lnSpc>
              <a:buNone/>
            </a:pPr>
            <a:r>
              <a:rPr lang="en-US" sz="1350" dirty="0">
                <a:solidFill>
                  <a:schemeClr val="tx2"/>
                </a:solidFill>
              </a:rPr>
              <a:t>A Gmail address; no studio domain in use</a:t>
            </a:r>
            <a:endParaRPr lang="en-US" sz="1350" dirty="0"/>
          </a:p>
        </p:txBody>
      </p:sp>
      <p:sp>
        <p:nvSpPr>
          <p:cNvPr id="20" name="Text 17"/>
          <p:cNvSpPr txBox="1"/>
          <p:nvPr/>
        </p:nvSpPr>
        <p:spPr>
          <a:xfrm>
            <a:off x="6858000" y="3630168"/>
            <a:ext cx="4782312" cy="384048"/>
          </a:xfrm>
          <a:prstGeom prst="rect">
            <a:avLst/>
          </a:prstGeom>
          <a:noFill/>
          <a:ln/>
        </p:spPr>
        <p:txBody>
          <a:bodyPr wrap="square" lIns="0" tIns="0" rIns="0" bIns="0" rtlCol="0" anchor="t"/>
          <a:lstStyle/>
          <a:p>
            <a:pPr algn="l" indent="0" marL="0">
              <a:lnSpc>
                <a:spcPct val="112000"/>
              </a:lnSpc>
              <a:buNone/>
            </a:pPr>
            <a:r>
              <a:rPr lang="en-US" sz="1350" dirty="0">
                <a:solidFill>
                  <a:schemeClr val="tx1"/>
                </a:solidFill>
              </a:rPr>
              <a:t>No consistent, studio-owned identity</a:t>
            </a:r>
            <a:endParaRPr lang="en-US" sz="1350" dirty="0"/>
          </a:p>
        </p:txBody>
      </p:sp>
      <p:sp>
        <p:nvSpPr>
          <p:cNvPr id="21" name="Shape 18"/>
          <p:cNvSpPr/>
          <p:nvPr/>
        </p:nvSpPr>
        <p:spPr>
          <a:xfrm>
            <a:off x="548640" y="4014216"/>
            <a:ext cx="11094415" cy="0"/>
          </a:xfrm>
          <a:prstGeom prst="line">
            <a:avLst/>
          </a:prstGeom>
          <a:noFill/>
          <a:ln w="9525">
            <a:solidFill>
              <a:schemeClr val="accent5"/>
            </a:solidFill>
            <a:prstDash val="solid"/>
          </a:ln>
        </p:spPr>
      </p:sp>
      <p:sp>
        <p:nvSpPr>
          <p:cNvPr id="22" name="Text 19"/>
          <p:cNvSpPr txBox="1"/>
          <p:nvPr/>
        </p:nvSpPr>
        <p:spPr>
          <a:xfrm>
            <a:off x="548640" y="4123944"/>
            <a:ext cx="1737360" cy="38404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Portfolio</a:t>
            </a:r>
            <a:endParaRPr lang="en-US" sz="1500" dirty="0"/>
          </a:p>
        </p:txBody>
      </p:sp>
      <p:sp>
        <p:nvSpPr>
          <p:cNvPr id="23" name="Text 20"/>
          <p:cNvSpPr txBox="1"/>
          <p:nvPr/>
        </p:nvSpPr>
        <p:spPr>
          <a:xfrm>
            <a:off x="2468880" y="4142232"/>
            <a:ext cx="4114800" cy="384048"/>
          </a:xfrm>
          <a:prstGeom prst="rect">
            <a:avLst/>
          </a:prstGeom>
          <a:noFill/>
          <a:ln/>
        </p:spPr>
        <p:txBody>
          <a:bodyPr wrap="square" lIns="0" tIns="0" rIns="0" bIns="0" rtlCol="0" anchor="t"/>
          <a:lstStyle/>
          <a:p>
            <a:pPr algn="l" indent="0" marL="0">
              <a:lnSpc>
                <a:spcPct val="112000"/>
              </a:lnSpc>
              <a:buNone/>
            </a:pPr>
            <a:r>
              <a:rPr lang="en-US" sz="1350" dirty="0">
                <a:solidFill>
                  <a:schemeClr val="tx2"/>
                </a:solidFill>
              </a:rPr>
              <a:t>10 projects; most lack place, year and story</a:t>
            </a:r>
            <a:endParaRPr lang="en-US" sz="1350" dirty="0"/>
          </a:p>
        </p:txBody>
      </p:sp>
      <p:sp>
        <p:nvSpPr>
          <p:cNvPr id="24" name="Text 21"/>
          <p:cNvSpPr txBox="1"/>
          <p:nvPr/>
        </p:nvSpPr>
        <p:spPr>
          <a:xfrm>
            <a:off x="6858000" y="4142232"/>
            <a:ext cx="4782312" cy="384048"/>
          </a:xfrm>
          <a:prstGeom prst="rect">
            <a:avLst/>
          </a:prstGeom>
          <a:noFill/>
          <a:ln/>
        </p:spPr>
        <p:txBody>
          <a:bodyPr wrap="square" lIns="0" tIns="0" rIns="0" bIns="0" rtlCol="0" anchor="t"/>
          <a:lstStyle/>
          <a:p>
            <a:pPr algn="l" indent="0" marL="0">
              <a:lnSpc>
                <a:spcPct val="112000"/>
              </a:lnSpc>
              <a:buNone/>
            </a:pPr>
            <a:r>
              <a:rPr lang="en-US" sz="1350" dirty="0">
                <a:solidFill>
                  <a:schemeClr val="tx1"/>
                </a:solidFill>
              </a:rPr>
              <a:t>Projects can’t be found for what they are</a:t>
            </a:r>
            <a:endParaRPr lang="en-US" sz="1350" dirty="0"/>
          </a:p>
        </p:txBody>
      </p:sp>
      <p:sp>
        <p:nvSpPr>
          <p:cNvPr id="25" name="Shape 22"/>
          <p:cNvSpPr/>
          <p:nvPr/>
        </p:nvSpPr>
        <p:spPr>
          <a:xfrm>
            <a:off x="548640" y="4526280"/>
            <a:ext cx="11094415" cy="0"/>
          </a:xfrm>
          <a:prstGeom prst="line">
            <a:avLst/>
          </a:prstGeom>
          <a:noFill/>
          <a:ln w="9525">
            <a:solidFill>
              <a:schemeClr val="accent5"/>
            </a:solidFill>
            <a:prstDash val="solid"/>
          </a:ln>
        </p:spPr>
      </p:sp>
      <p:sp>
        <p:nvSpPr>
          <p:cNvPr id="26" name="Text 23"/>
          <p:cNvSpPr txBox="1"/>
          <p:nvPr/>
        </p:nvSpPr>
        <p:spPr>
          <a:xfrm>
            <a:off x="548640" y="4636008"/>
            <a:ext cx="1737360" cy="38404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Measurement</a:t>
            </a:r>
            <a:endParaRPr lang="en-US" sz="1500" dirty="0"/>
          </a:p>
        </p:txBody>
      </p:sp>
      <p:sp>
        <p:nvSpPr>
          <p:cNvPr id="27" name="Text 24"/>
          <p:cNvSpPr txBox="1"/>
          <p:nvPr/>
        </p:nvSpPr>
        <p:spPr>
          <a:xfrm>
            <a:off x="2468880" y="4654296"/>
            <a:ext cx="4114800" cy="384048"/>
          </a:xfrm>
          <a:prstGeom prst="rect">
            <a:avLst/>
          </a:prstGeom>
          <a:noFill/>
          <a:ln/>
        </p:spPr>
        <p:txBody>
          <a:bodyPr wrap="square" lIns="0" tIns="0" rIns="0" bIns="0" rtlCol="0" anchor="t"/>
          <a:lstStyle/>
          <a:p>
            <a:pPr algn="l" indent="0" marL="0">
              <a:lnSpc>
                <a:spcPct val="112000"/>
              </a:lnSpc>
              <a:buNone/>
            </a:pPr>
            <a:r>
              <a:rPr lang="en-US" sz="1350" dirty="0">
                <a:solidFill>
                  <a:schemeClr val="tx2"/>
                </a:solidFill>
              </a:rPr>
              <a:t>No analytics or enquiry tracking</a:t>
            </a:r>
            <a:endParaRPr lang="en-US" sz="1350" dirty="0"/>
          </a:p>
        </p:txBody>
      </p:sp>
      <p:sp>
        <p:nvSpPr>
          <p:cNvPr id="28" name="Text 25"/>
          <p:cNvSpPr txBox="1"/>
          <p:nvPr/>
        </p:nvSpPr>
        <p:spPr>
          <a:xfrm>
            <a:off x="6858000" y="4654296"/>
            <a:ext cx="4782312" cy="384048"/>
          </a:xfrm>
          <a:prstGeom prst="rect">
            <a:avLst/>
          </a:prstGeom>
          <a:noFill/>
          <a:ln/>
        </p:spPr>
        <p:txBody>
          <a:bodyPr wrap="square" lIns="0" tIns="0" rIns="0" bIns="0" rtlCol="0" anchor="t"/>
          <a:lstStyle/>
          <a:p>
            <a:pPr algn="l" indent="0" marL="0">
              <a:lnSpc>
                <a:spcPct val="112000"/>
              </a:lnSpc>
              <a:buNone/>
            </a:pPr>
            <a:r>
              <a:rPr lang="en-US" sz="1350" dirty="0">
                <a:solidFill>
                  <a:schemeClr val="tx1"/>
                </a:solidFill>
              </a:rPr>
              <a:t>No evidence of what brings clients</a:t>
            </a:r>
            <a:endParaRPr lang="en-US" sz="1350" dirty="0"/>
          </a:p>
        </p:txBody>
      </p:sp>
      <p:sp>
        <p:nvSpPr>
          <p:cNvPr id="29" name="Shape 26"/>
          <p:cNvSpPr/>
          <p:nvPr/>
        </p:nvSpPr>
        <p:spPr>
          <a:xfrm>
            <a:off x="548640" y="5038344"/>
            <a:ext cx="11094415" cy="0"/>
          </a:xfrm>
          <a:prstGeom prst="line">
            <a:avLst/>
          </a:prstGeom>
          <a:noFill/>
          <a:ln w="9525">
            <a:solidFill>
              <a:schemeClr val="accent5"/>
            </a:solidFill>
            <a:prstDash val="solid"/>
          </a:ln>
        </p:spPr>
      </p:sp>
      <p:sp>
        <p:nvSpPr>
          <p:cNvPr id="30" name="Shape 27"/>
          <p:cNvSpPr/>
          <p:nvPr/>
        </p:nvSpPr>
        <p:spPr>
          <a:xfrm>
            <a:off x="548640" y="5257800"/>
            <a:ext cx="11094415" cy="868680"/>
          </a:xfrm>
          <a:prstGeom prst="rect">
            <a:avLst/>
          </a:prstGeom>
          <a:solidFill>
            <a:schemeClr val="bg2"/>
          </a:solidFill>
          <a:ln/>
        </p:spPr>
      </p:sp>
      <p:sp>
        <p:nvSpPr>
          <p:cNvPr id="31" name="Text 28"/>
          <p:cNvSpPr txBox="1"/>
          <p:nvPr/>
        </p:nvSpPr>
        <p:spPr>
          <a:xfrm>
            <a:off x="777240" y="5394960"/>
            <a:ext cx="2194560" cy="27432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Already in place</a:t>
            </a:r>
            <a:endParaRPr lang="en-US" sz="1500" dirty="0"/>
          </a:p>
        </p:txBody>
      </p:sp>
      <p:sp>
        <p:nvSpPr>
          <p:cNvPr id="32" name="Text 29"/>
          <p:cNvSpPr txBox="1"/>
          <p:nvPr/>
        </p:nvSpPr>
        <p:spPr>
          <a:xfrm>
            <a:off x="2697480" y="5394960"/>
            <a:ext cx="8686800" cy="64008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The new site: structured pages, project markup, an image sitemap, redirects from old links and indexing that can be switched on at launch. The foundation is built — it needs to be connected, filled and measured.</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02 — THE DIGITAL DESTINATION</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Every channel leads to one place</a:t>
            </a:r>
            <a:endParaRPr lang="en-US" sz="3200" dirty="0"/>
          </a:p>
        </p:txBody>
      </p:sp>
      <p:sp>
        <p:nvSpPr>
          <p:cNvPr id="5" name="Text 2"/>
          <p:cNvSpPr txBox="1"/>
          <p:nvPr/>
        </p:nvSpPr>
        <p:spPr>
          <a:xfrm>
            <a:off x="548640" y="1444752"/>
            <a:ext cx="11094415" cy="457200"/>
          </a:xfrm>
          <a:prstGeom prst="rect">
            <a:avLst/>
          </a:prstGeom>
          <a:noFill/>
          <a:ln/>
        </p:spPr>
        <p:txBody>
          <a:bodyPr wrap="square" lIns="0" tIns="0" rIns="0" bIns="0" rtlCol="0" anchor="t"/>
          <a:lstStyle/>
          <a:p>
            <a:pPr algn="l" indent="0" marL="0">
              <a:lnSpc>
                <a:spcPct val="115000"/>
              </a:lnSpc>
              <a:buNone/>
            </a:pPr>
            <a:r>
              <a:rPr lang="en-US" sz="1500" dirty="0">
                <a:solidFill>
                  <a:schemeClr val="tx2"/>
                </a:solidFill>
              </a:rPr>
              <a:t>Most clients arrive through a recommendation, then search the studio’s name. What they find should confirm it.</a:t>
            </a:r>
            <a:endParaRPr lang="en-US" sz="1500" dirty="0"/>
          </a:p>
        </p:txBody>
      </p:sp>
      <p:sp>
        <p:nvSpPr>
          <p:cNvPr id="6" name="Text 3"/>
          <p:cNvSpPr txBox="1"/>
          <p:nvPr/>
        </p:nvSpPr>
        <p:spPr>
          <a:xfrm>
            <a:off x="548640" y="2121408"/>
            <a:ext cx="178308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DISCOVER</a:t>
            </a:r>
            <a:endParaRPr lang="en-US" sz="950" dirty="0"/>
          </a:p>
        </p:txBody>
      </p:sp>
      <p:sp>
        <p:nvSpPr>
          <p:cNvPr id="7" name="Text 4"/>
          <p:cNvSpPr txBox="1"/>
          <p:nvPr/>
        </p:nvSpPr>
        <p:spPr>
          <a:xfrm>
            <a:off x="2971800" y="2121408"/>
            <a:ext cx="19659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DESTINATION</a:t>
            </a:r>
            <a:endParaRPr lang="en-US" sz="950" dirty="0"/>
          </a:p>
        </p:txBody>
      </p:sp>
      <p:sp>
        <p:nvSpPr>
          <p:cNvPr id="8" name="Text 5"/>
          <p:cNvSpPr txBox="1"/>
          <p:nvPr/>
        </p:nvSpPr>
        <p:spPr>
          <a:xfrm>
            <a:off x="5623560" y="2121408"/>
            <a:ext cx="178308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EXPLORE</a:t>
            </a:r>
            <a:endParaRPr lang="en-US" sz="950" dirty="0"/>
          </a:p>
        </p:txBody>
      </p:sp>
      <p:sp>
        <p:nvSpPr>
          <p:cNvPr id="9" name="Text 6"/>
          <p:cNvSpPr txBox="1"/>
          <p:nvPr/>
        </p:nvSpPr>
        <p:spPr>
          <a:xfrm>
            <a:off x="8001000" y="2121408"/>
            <a:ext cx="16002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ACT</a:t>
            </a:r>
            <a:endParaRPr lang="en-US" sz="950" dirty="0"/>
          </a:p>
        </p:txBody>
      </p:sp>
      <p:sp>
        <p:nvSpPr>
          <p:cNvPr id="10" name="Text 7"/>
          <p:cNvSpPr txBox="1"/>
          <p:nvPr/>
        </p:nvSpPr>
        <p:spPr>
          <a:xfrm>
            <a:off x="10104120" y="2121408"/>
            <a:ext cx="1536192"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MEET</a:t>
            </a:r>
            <a:endParaRPr lang="en-US" sz="950" dirty="0"/>
          </a:p>
        </p:txBody>
      </p:sp>
      <p:sp>
        <p:nvSpPr>
          <p:cNvPr id="11" name="Shape 8"/>
          <p:cNvSpPr/>
          <p:nvPr/>
        </p:nvSpPr>
        <p:spPr>
          <a:xfrm>
            <a:off x="548640" y="2459736"/>
            <a:ext cx="1783080" cy="384048"/>
          </a:xfrm>
          <a:prstGeom prst="rect">
            <a:avLst/>
          </a:prstGeom>
          <a:ln w="9525">
            <a:solidFill>
              <a:schemeClr val="tx1"/>
            </a:solidFill>
            <a:prstDash val="solid"/>
          </a:ln>
        </p:spPr>
      </p:sp>
      <p:sp>
        <p:nvSpPr>
          <p:cNvPr id="12" name="Text 9"/>
          <p:cNvSpPr txBox="1"/>
          <p:nvPr/>
        </p:nvSpPr>
        <p:spPr>
          <a:xfrm>
            <a:off x="658368" y="2459736"/>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Google Search</a:t>
            </a:r>
            <a:endParaRPr lang="en-US" sz="1250" dirty="0"/>
          </a:p>
        </p:txBody>
      </p:sp>
      <p:sp>
        <p:nvSpPr>
          <p:cNvPr id="13" name="Shape 10"/>
          <p:cNvSpPr/>
          <p:nvPr/>
        </p:nvSpPr>
        <p:spPr>
          <a:xfrm>
            <a:off x="2331720" y="2651760"/>
            <a:ext cx="640080" cy="1024128"/>
          </a:xfrm>
          <a:prstGeom prst="line">
            <a:avLst/>
          </a:prstGeom>
          <a:noFill/>
          <a:ln w="7620">
            <a:solidFill>
              <a:schemeClr val="accent2"/>
            </a:solidFill>
            <a:prstDash val="solid"/>
          </a:ln>
        </p:spPr>
      </p:sp>
      <p:sp>
        <p:nvSpPr>
          <p:cNvPr id="14" name="Shape 11"/>
          <p:cNvSpPr/>
          <p:nvPr/>
        </p:nvSpPr>
        <p:spPr>
          <a:xfrm>
            <a:off x="548640" y="2971800"/>
            <a:ext cx="1783080" cy="384048"/>
          </a:xfrm>
          <a:prstGeom prst="rect">
            <a:avLst/>
          </a:prstGeom>
          <a:ln w="9525">
            <a:solidFill>
              <a:schemeClr val="tx1"/>
            </a:solidFill>
            <a:prstDash val="solid"/>
          </a:ln>
        </p:spPr>
      </p:sp>
      <p:sp>
        <p:nvSpPr>
          <p:cNvPr id="15" name="Text 12"/>
          <p:cNvSpPr txBox="1"/>
          <p:nvPr/>
        </p:nvSpPr>
        <p:spPr>
          <a:xfrm>
            <a:off x="658368" y="2971800"/>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Google Maps</a:t>
            </a:r>
            <a:endParaRPr lang="en-US" sz="1250" dirty="0"/>
          </a:p>
        </p:txBody>
      </p:sp>
      <p:sp>
        <p:nvSpPr>
          <p:cNvPr id="16" name="Shape 13"/>
          <p:cNvSpPr/>
          <p:nvPr/>
        </p:nvSpPr>
        <p:spPr>
          <a:xfrm>
            <a:off x="2331720" y="3163824"/>
            <a:ext cx="640080" cy="512064"/>
          </a:xfrm>
          <a:prstGeom prst="line">
            <a:avLst/>
          </a:prstGeom>
          <a:noFill/>
          <a:ln w="7620">
            <a:solidFill>
              <a:schemeClr val="accent2"/>
            </a:solidFill>
            <a:prstDash val="solid"/>
          </a:ln>
        </p:spPr>
      </p:sp>
      <p:sp>
        <p:nvSpPr>
          <p:cNvPr id="17" name="Shape 14"/>
          <p:cNvSpPr/>
          <p:nvPr/>
        </p:nvSpPr>
        <p:spPr>
          <a:xfrm>
            <a:off x="548640" y="3483864"/>
            <a:ext cx="1783080" cy="384048"/>
          </a:xfrm>
          <a:prstGeom prst="rect">
            <a:avLst/>
          </a:prstGeom>
          <a:ln w="9525">
            <a:solidFill>
              <a:schemeClr val="tx1"/>
            </a:solidFill>
            <a:prstDash val="solid"/>
          </a:ln>
        </p:spPr>
      </p:sp>
      <p:sp>
        <p:nvSpPr>
          <p:cNvPr id="18" name="Text 15"/>
          <p:cNvSpPr txBox="1"/>
          <p:nvPr/>
        </p:nvSpPr>
        <p:spPr>
          <a:xfrm>
            <a:off x="658368" y="3483864"/>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Instagram</a:t>
            </a:r>
            <a:endParaRPr lang="en-US" sz="1250" dirty="0"/>
          </a:p>
        </p:txBody>
      </p:sp>
      <p:sp>
        <p:nvSpPr>
          <p:cNvPr id="19" name="Shape 16"/>
          <p:cNvSpPr/>
          <p:nvPr/>
        </p:nvSpPr>
        <p:spPr>
          <a:xfrm>
            <a:off x="2331720" y="3675888"/>
            <a:ext cx="640080" cy="0"/>
          </a:xfrm>
          <a:prstGeom prst="line">
            <a:avLst/>
          </a:prstGeom>
          <a:noFill/>
          <a:ln w="7620">
            <a:solidFill>
              <a:schemeClr val="accent2"/>
            </a:solidFill>
            <a:prstDash val="solid"/>
          </a:ln>
        </p:spPr>
      </p:sp>
      <p:sp>
        <p:nvSpPr>
          <p:cNvPr id="20" name="Shape 17"/>
          <p:cNvSpPr/>
          <p:nvPr/>
        </p:nvSpPr>
        <p:spPr>
          <a:xfrm>
            <a:off x="548640" y="3995928"/>
            <a:ext cx="1783080" cy="384048"/>
          </a:xfrm>
          <a:prstGeom prst="rect">
            <a:avLst/>
          </a:prstGeom>
          <a:ln w="9525">
            <a:solidFill>
              <a:schemeClr val="tx1"/>
            </a:solidFill>
            <a:prstDash val="solid"/>
          </a:ln>
        </p:spPr>
      </p:sp>
      <p:sp>
        <p:nvSpPr>
          <p:cNvPr id="21" name="Text 18"/>
          <p:cNvSpPr txBox="1"/>
          <p:nvPr/>
        </p:nvSpPr>
        <p:spPr>
          <a:xfrm>
            <a:off x="658368" y="3995928"/>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Referral</a:t>
            </a:r>
            <a:endParaRPr lang="en-US" sz="1250" dirty="0"/>
          </a:p>
        </p:txBody>
      </p:sp>
      <p:sp>
        <p:nvSpPr>
          <p:cNvPr id="22" name="Shape 19"/>
          <p:cNvSpPr/>
          <p:nvPr/>
        </p:nvSpPr>
        <p:spPr>
          <a:xfrm flipV="1">
            <a:off x="2331720" y="3675888"/>
            <a:ext cx="640080" cy="512064"/>
          </a:xfrm>
          <a:prstGeom prst="line">
            <a:avLst/>
          </a:prstGeom>
          <a:noFill/>
          <a:ln w="7620">
            <a:solidFill>
              <a:schemeClr val="accent2"/>
            </a:solidFill>
            <a:prstDash val="solid"/>
          </a:ln>
        </p:spPr>
      </p:sp>
      <p:sp>
        <p:nvSpPr>
          <p:cNvPr id="23" name="Shape 20"/>
          <p:cNvSpPr/>
          <p:nvPr/>
        </p:nvSpPr>
        <p:spPr>
          <a:xfrm>
            <a:off x="548640" y="4507992"/>
            <a:ext cx="1783080" cy="384048"/>
          </a:xfrm>
          <a:prstGeom prst="rect">
            <a:avLst/>
          </a:prstGeom>
          <a:ln w="9525">
            <a:solidFill>
              <a:schemeClr val="tx1"/>
            </a:solidFill>
            <a:prstDash val="solid"/>
          </a:ln>
        </p:spPr>
      </p:sp>
      <p:sp>
        <p:nvSpPr>
          <p:cNvPr id="24" name="Text 21"/>
          <p:cNvSpPr txBox="1"/>
          <p:nvPr/>
        </p:nvSpPr>
        <p:spPr>
          <a:xfrm>
            <a:off x="658368" y="4507992"/>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Publications</a:t>
            </a:r>
            <a:endParaRPr lang="en-US" sz="1250" dirty="0"/>
          </a:p>
        </p:txBody>
      </p:sp>
      <p:sp>
        <p:nvSpPr>
          <p:cNvPr id="25" name="Shape 22"/>
          <p:cNvSpPr/>
          <p:nvPr/>
        </p:nvSpPr>
        <p:spPr>
          <a:xfrm flipV="1">
            <a:off x="2331720" y="3675888"/>
            <a:ext cx="640080" cy="1024128"/>
          </a:xfrm>
          <a:prstGeom prst="line">
            <a:avLst/>
          </a:prstGeom>
          <a:noFill/>
          <a:ln w="7620">
            <a:solidFill>
              <a:schemeClr val="accent2"/>
            </a:solidFill>
            <a:prstDash val="solid"/>
          </a:ln>
        </p:spPr>
      </p:sp>
      <p:sp>
        <p:nvSpPr>
          <p:cNvPr id="26" name="Shape 23"/>
          <p:cNvSpPr/>
          <p:nvPr/>
        </p:nvSpPr>
        <p:spPr>
          <a:xfrm>
            <a:off x="2971800" y="3108960"/>
            <a:ext cx="1965960" cy="1133856"/>
          </a:xfrm>
          <a:prstGeom prst="rect">
            <a:avLst/>
          </a:prstGeom>
          <a:solidFill>
            <a:schemeClr val="accent1"/>
          </a:solidFill>
          <a:ln/>
        </p:spPr>
      </p:sp>
      <p:sp>
        <p:nvSpPr>
          <p:cNvPr id="27" name="Text 24"/>
          <p:cNvSpPr txBox="1"/>
          <p:nvPr/>
        </p:nvSpPr>
        <p:spPr>
          <a:xfrm>
            <a:off x="3136392" y="3291840"/>
            <a:ext cx="1691640" cy="411480"/>
          </a:xfrm>
          <a:prstGeom prst="rect">
            <a:avLst/>
          </a:prstGeom>
          <a:noFill/>
          <a:ln/>
        </p:spPr>
        <p:txBody>
          <a:bodyPr wrap="square" lIns="0" tIns="0" rIns="0" bIns="0" rtlCol="0" anchor="t"/>
          <a:lstStyle/>
          <a:p>
            <a:pPr algn="l" indent="0" marL="0">
              <a:lnSpc>
                <a:spcPct val="112000"/>
              </a:lnSpc>
              <a:buNone/>
            </a:pPr>
            <a:r>
              <a:rPr lang="en-US" sz="1900" dirty="0">
                <a:solidFill>
                  <a:schemeClr val="bg1"/>
                </a:solidFill>
                <a:latin typeface="+mj-lt" pitchFamily="34" charset="0"/>
                <a:ea typeface="+mj-lt" pitchFamily="34" charset="-122"/>
                <a:cs typeface="+mj-lt" pitchFamily="34" charset="-120"/>
              </a:rPr>
              <a:t>MACK website</a:t>
            </a:r>
            <a:endParaRPr lang="en-US" sz="1900" dirty="0"/>
          </a:p>
        </p:txBody>
      </p:sp>
      <p:sp>
        <p:nvSpPr>
          <p:cNvPr id="28" name="Text 25"/>
          <p:cNvSpPr txBox="1"/>
          <p:nvPr/>
        </p:nvSpPr>
        <p:spPr>
          <a:xfrm>
            <a:off x="3136392" y="3749040"/>
            <a:ext cx="169164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4"/>
                </a:solidFill>
              </a:rPr>
              <a:t>the studio’s own address</a:t>
            </a:r>
            <a:endParaRPr lang="en-US" sz="1100" dirty="0"/>
          </a:p>
        </p:txBody>
      </p:sp>
      <p:sp>
        <p:nvSpPr>
          <p:cNvPr id="29" name="Shape 26"/>
          <p:cNvSpPr/>
          <p:nvPr/>
        </p:nvSpPr>
        <p:spPr>
          <a:xfrm>
            <a:off x="5623560" y="2551176"/>
            <a:ext cx="1783080" cy="384048"/>
          </a:xfrm>
          <a:prstGeom prst="rect">
            <a:avLst/>
          </a:prstGeom>
          <a:ln w="9525">
            <a:solidFill>
              <a:schemeClr val="tx1"/>
            </a:solidFill>
            <a:prstDash val="solid"/>
          </a:ln>
        </p:spPr>
      </p:sp>
      <p:sp>
        <p:nvSpPr>
          <p:cNvPr id="30" name="Text 27"/>
          <p:cNvSpPr txBox="1"/>
          <p:nvPr/>
        </p:nvSpPr>
        <p:spPr>
          <a:xfrm>
            <a:off x="5733288" y="2551176"/>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Projects</a:t>
            </a:r>
            <a:endParaRPr lang="en-US" sz="1250" dirty="0"/>
          </a:p>
        </p:txBody>
      </p:sp>
      <p:sp>
        <p:nvSpPr>
          <p:cNvPr id="31" name="Shape 28"/>
          <p:cNvSpPr/>
          <p:nvPr/>
        </p:nvSpPr>
        <p:spPr>
          <a:xfrm flipV="1">
            <a:off x="4937760" y="2743200"/>
            <a:ext cx="685800" cy="932688"/>
          </a:xfrm>
          <a:prstGeom prst="line">
            <a:avLst/>
          </a:prstGeom>
          <a:noFill/>
          <a:ln w="7620">
            <a:solidFill>
              <a:schemeClr val="accent2"/>
            </a:solidFill>
            <a:prstDash val="solid"/>
          </a:ln>
        </p:spPr>
      </p:sp>
      <p:sp>
        <p:nvSpPr>
          <p:cNvPr id="32" name="Shape 29"/>
          <p:cNvSpPr/>
          <p:nvPr/>
        </p:nvSpPr>
        <p:spPr>
          <a:xfrm>
            <a:off x="5623560" y="3172968"/>
            <a:ext cx="1783080" cy="384048"/>
          </a:xfrm>
          <a:prstGeom prst="rect">
            <a:avLst/>
          </a:prstGeom>
          <a:ln w="9525">
            <a:solidFill>
              <a:schemeClr val="tx1"/>
            </a:solidFill>
            <a:prstDash val="solid"/>
          </a:ln>
        </p:spPr>
      </p:sp>
      <p:sp>
        <p:nvSpPr>
          <p:cNvPr id="33" name="Text 30"/>
          <p:cNvSpPr txBox="1"/>
          <p:nvPr/>
        </p:nvSpPr>
        <p:spPr>
          <a:xfrm>
            <a:off x="5733288" y="3172968"/>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Services</a:t>
            </a:r>
            <a:endParaRPr lang="en-US" sz="1250" dirty="0"/>
          </a:p>
        </p:txBody>
      </p:sp>
      <p:sp>
        <p:nvSpPr>
          <p:cNvPr id="34" name="Shape 31"/>
          <p:cNvSpPr/>
          <p:nvPr/>
        </p:nvSpPr>
        <p:spPr>
          <a:xfrm flipV="1">
            <a:off x="4937760" y="3364992"/>
            <a:ext cx="685800" cy="310896"/>
          </a:xfrm>
          <a:prstGeom prst="line">
            <a:avLst/>
          </a:prstGeom>
          <a:noFill/>
          <a:ln w="7620">
            <a:solidFill>
              <a:schemeClr val="accent2"/>
            </a:solidFill>
            <a:prstDash val="solid"/>
          </a:ln>
        </p:spPr>
      </p:sp>
      <p:sp>
        <p:nvSpPr>
          <p:cNvPr id="35" name="Shape 32"/>
          <p:cNvSpPr/>
          <p:nvPr/>
        </p:nvSpPr>
        <p:spPr>
          <a:xfrm>
            <a:off x="5623560" y="3794760"/>
            <a:ext cx="1783080" cy="384048"/>
          </a:xfrm>
          <a:prstGeom prst="rect">
            <a:avLst/>
          </a:prstGeom>
          <a:ln w="9525">
            <a:solidFill>
              <a:schemeClr val="tx1"/>
            </a:solidFill>
            <a:prstDash val="solid"/>
          </a:ln>
        </p:spPr>
      </p:sp>
      <p:sp>
        <p:nvSpPr>
          <p:cNvPr id="36" name="Text 33"/>
          <p:cNvSpPr txBox="1"/>
          <p:nvPr/>
        </p:nvSpPr>
        <p:spPr>
          <a:xfrm>
            <a:off x="5733288" y="3794760"/>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Studio</a:t>
            </a:r>
            <a:endParaRPr lang="en-US" sz="1250" dirty="0"/>
          </a:p>
        </p:txBody>
      </p:sp>
      <p:sp>
        <p:nvSpPr>
          <p:cNvPr id="37" name="Shape 34"/>
          <p:cNvSpPr/>
          <p:nvPr/>
        </p:nvSpPr>
        <p:spPr>
          <a:xfrm>
            <a:off x="4937760" y="3675888"/>
            <a:ext cx="685800" cy="310896"/>
          </a:xfrm>
          <a:prstGeom prst="line">
            <a:avLst/>
          </a:prstGeom>
          <a:noFill/>
          <a:ln w="7620">
            <a:solidFill>
              <a:schemeClr val="accent2"/>
            </a:solidFill>
            <a:prstDash val="solid"/>
          </a:ln>
        </p:spPr>
      </p:sp>
      <p:sp>
        <p:nvSpPr>
          <p:cNvPr id="38" name="Shape 35"/>
          <p:cNvSpPr/>
          <p:nvPr/>
        </p:nvSpPr>
        <p:spPr>
          <a:xfrm>
            <a:off x="5623560" y="4416552"/>
            <a:ext cx="1783080" cy="384048"/>
          </a:xfrm>
          <a:prstGeom prst="rect">
            <a:avLst/>
          </a:prstGeom>
          <a:ln w="9525">
            <a:solidFill>
              <a:schemeClr val="tx1"/>
            </a:solidFill>
            <a:prstDash val="solid"/>
          </a:ln>
        </p:spPr>
      </p:sp>
      <p:sp>
        <p:nvSpPr>
          <p:cNvPr id="39" name="Text 36"/>
          <p:cNvSpPr txBox="1"/>
          <p:nvPr/>
        </p:nvSpPr>
        <p:spPr>
          <a:xfrm>
            <a:off x="5733288" y="4416552"/>
            <a:ext cx="156362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Credibility</a:t>
            </a:r>
            <a:endParaRPr lang="en-US" sz="1250" dirty="0"/>
          </a:p>
        </p:txBody>
      </p:sp>
      <p:sp>
        <p:nvSpPr>
          <p:cNvPr id="40" name="Shape 37"/>
          <p:cNvSpPr/>
          <p:nvPr/>
        </p:nvSpPr>
        <p:spPr>
          <a:xfrm>
            <a:off x="4937760" y="3675888"/>
            <a:ext cx="685800" cy="932688"/>
          </a:xfrm>
          <a:prstGeom prst="line">
            <a:avLst/>
          </a:prstGeom>
          <a:noFill/>
          <a:ln w="7620">
            <a:solidFill>
              <a:schemeClr val="accent2"/>
            </a:solidFill>
            <a:prstDash val="solid"/>
          </a:ln>
        </p:spPr>
      </p:sp>
      <p:sp>
        <p:nvSpPr>
          <p:cNvPr id="41" name="Shape 38"/>
          <p:cNvSpPr/>
          <p:nvPr/>
        </p:nvSpPr>
        <p:spPr>
          <a:xfrm>
            <a:off x="7479792" y="3675888"/>
            <a:ext cx="448056" cy="0"/>
          </a:xfrm>
          <a:prstGeom prst="line">
            <a:avLst/>
          </a:prstGeom>
          <a:noFill/>
          <a:ln w="9525">
            <a:solidFill>
              <a:schemeClr val="tx1"/>
            </a:solidFill>
            <a:prstDash val="solid"/>
            <a:tailEnd type="triangle"/>
          </a:ln>
        </p:spPr>
      </p:sp>
      <p:sp>
        <p:nvSpPr>
          <p:cNvPr id="42" name="Shape 39"/>
          <p:cNvSpPr/>
          <p:nvPr/>
        </p:nvSpPr>
        <p:spPr>
          <a:xfrm>
            <a:off x="8001000" y="2551176"/>
            <a:ext cx="1600200" cy="384048"/>
          </a:xfrm>
          <a:prstGeom prst="rect">
            <a:avLst/>
          </a:prstGeom>
          <a:ln w="9525">
            <a:solidFill>
              <a:schemeClr val="tx1"/>
            </a:solidFill>
            <a:prstDash val="dash"/>
          </a:ln>
        </p:spPr>
      </p:sp>
      <p:sp>
        <p:nvSpPr>
          <p:cNvPr id="43" name="Text 40"/>
          <p:cNvSpPr txBox="1"/>
          <p:nvPr/>
        </p:nvSpPr>
        <p:spPr>
          <a:xfrm>
            <a:off x="8110728" y="2551176"/>
            <a:ext cx="138074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Enquiry</a:t>
            </a:r>
            <a:endParaRPr lang="en-US" sz="1250" dirty="0"/>
          </a:p>
        </p:txBody>
      </p:sp>
      <p:sp>
        <p:nvSpPr>
          <p:cNvPr id="44" name="Shape 41"/>
          <p:cNvSpPr/>
          <p:nvPr/>
        </p:nvSpPr>
        <p:spPr>
          <a:xfrm>
            <a:off x="9601200" y="2743200"/>
            <a:ext cx="502920" cy="932688"/>
          </a:xfrm>
          <a:prstGeom prst="line">
            <a:avLst/>
          </a:prstGeom>
          <a:noFill/>
          <a:ln w="7620">
            <a:solidFill>
              <a:schemeClr val="accent2"/>
            </a:solidFill>
            <a:prstDash val="solid"/>
          </a:ln>
        </p:spPr>
      </p:sp>
      <p:sp>
        <p:nvSpPr>
          <p:cNvPr id="45" name="Shape 42"/>
          <p:cNvSpPr/>
          <p:nvPr/>
        </p:nvSpPr>
        <p:spPr>
          <a:xfrm>
            <a:off x="8001000" y="3172968"/>
            <a:ext cx="1600200" cy="384048"/>
          </a:xfrm>
          <a:prstGeom prst="rect">
            <a:avLst/>
          </a:prstGeom>
          <a:ln w="9525">
            <a:solidFill>
              <a:schemeClr val="tx1"/>
            </a:solidFill>
            <a:prstDash val="dash"/>
          </a:ln>
        </p:spPr>
      </p:sp>
      <p:sp>
        <p:nvSpPr>
          <p:cNvPr id="46" name="Text 43"/>
          <p:cNvSpPr txBox="1"/>
          <p:nvPr/>
        </p:nvSpPr>
        <p:spPr>
          <a:xfrm>
            <a:off x="8110728" y="3172968"/>
            <a:ext cx="138074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Call</a:t>
            </a:r>
            <a:endParaRPr lang="en-US" sz="1250" dirty="0"/>
          </a:p>
        </p:txBody>
      </p:sp>
      <p:sp>
        <p:nvSpPr>
          <p:cNvPr id="47" name="Shape 44"/>
          <p:cNvSpPr/>
          <p:nvPr/>
        </p:nvSpPr>
        <p:spPr>
          <a:xfrm>
            <a:off x="9601200" y="3364992"/>
            <a:ext cx="502920" cy="310896"/>
          </a:xfrm>
          <a:prstGeom prst="line">
            <a:avLst/>
          </a:prstGeom>
          <a:noFill/>
          <a:ln w="7620">
            <a:solidFill>
              <a:schemeClr val="accent2"/>
            </a:solidFill>
            <a:prstDash val="solid"/>
          </a:ln>
        </p:spPr>
      </p:sp>
      <p:sp>
        <p:nvSpPr>
          <p:cNvPr id="48" name="Shape 45"/>
          <p:cNvSpPr/>
          <p:nvPr/>
        </p:nvSpPr>
        <p:spPr>
          <a:xfrm>
            <a:off x="8001000" y="3794760"/>
            <a:ext cx="1600200" cy="384048"/>
          </a:xfrm>
          <a:prstGeom prst="rect">
            <a:avLst/>
          </a:prstGeom>
          <a:ln w="9525">
            <a:solidFill>
              <a:schemeClr val="tx1"/>
            </a:solidFill>
            <a:prstDash val="dash"/>
          </a:ln>
        </p:spPr>
      </p:sp>
      <p:sp>
        <p:nvSpPr>
          <p:cNvPr id="49" name="Text 46"/>
          <p:cNvSpPr txBox="1"/>
          <p:nvPr/>
        </p:nvSpPr>
        <p:spPr>
          <a:xfrm>
            <a:off x="8110728" y="3794760"/>
            <a:ext cx="138074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Directions</a:t>
            </a:r>
            <a:endParaRPr lang="en-US" sz="1250" dirty="0"/>
          </a:p>
        </p:txBody>
      </p:sp>
      <p:sp>
        <p:nvSpPr>
          <p:cNvPr id="50" name="Shape 47"/>
          <p:cNvSpPr/>
          <p:nvPr/>
        </p:nvSpPr>
        <p:spPr>
          <a:xfrm flipV="1">
            <a:off x="9601200" y="3675888"/>
            <a:ext cx="502920" cy="310896"/>
          </a:xfrm>
          <a:prstGeom prst="line">
            <a:avLst/>
          </a:prstGeom>
          <a:noFill/>
          <a:ln w="7620">
            <a:solidFill>
              <a:schemeClr val="accent2"/>
            </a:solidFill>
            <a:prstDash val="solid"/>
          </a:ln>
        </p:spPr>
      </p:sp>
      <p:sp>
        <p:nvSpPr>
          <p:cNvPr id="51" name="Shape 48"/>
          <p:cNvSpPr/>
          <p:nvPr/>
        </p:nvSpPr>
        <p:spPr>
          <a:xfrm>
            <a:off x="8001000" y="4416552"/>
            <a:ext cx="1600200" cy="384048"/>
          </a:xfrm>
          <a:prstGeom prst="rect">
            <a:avLst/>
          </a:prstGeom>
          <a:ln w="9525">
            <a:solidFill>
              <a:schemeClr val="tx1"/>
            </a:solidFill>
            <a:prstDash val="dash"/>
          </a:ln>
        </p:spPr>
      </p:sp>
      <p:sp>
        <p:nvSpPr>
          <p:cNvPr id="52" name="Text 49"/>
          <p:cNvSpPr txBox="1"/>
          <p:nvPr/>
        </p:nvSpPr>
        <p:spPr>
          <a:xfrm>
            <a:off x="8110728" y="4416552"/>
            <a:ext cx="1380744" cy="384048"/>
          </a:xfrm>
          <a:prstGeom prst="rect">
            <a:avLst/>
          </a:prstGeom>
          <a:noFill/>
          <a:ln/>
        </p:spPr>
        <p:txBody>
          <a:bodyPr wrap="square" lIns="0" tIns="0" rIns="0" bIns="0" rtlCol="0" anchor="ctr"/>
          <a:lstStyle/>
          <a:p>
            <a:pPr algn="l" indent="0" marL="0">
              <a:lnSpc>
                <a:spcPct val="112000"/>
              </a:lnSpc>
              <a:buNone/>
            </a:pPr>
            <a:r>
              <a:rPr lang="en-US" sz="1250" dirty="0">
                <a:solidFill>
                  <a:schemeClr val="tx1"/>
                </a:solidFill>
              </a:rPr>
              <a:t>Email</a:t>
            </a:r>
            <a:endParaRPr lang="en-US" sz="1250" dirty="0"/>
          </a:p>
        </p:txBody>
      </p:sp>
      <p:sp>
        <p:nvSpPr>
          <p:cNvPr id="53" name="Shape 50"/>
          <p:cNvSpPr/>
          <p:nvPr/>
        </p:nvSpPr>
        <p:spPr>
          <a:xfrm flipV="1">
            <a:off x="9601200" y="3675888"/>
            <a:ext cx="502920" cy="932688"/>
          </a:xfrm>
          <a:prstGeom prst="line">
            <a:avLst/>
          </a:prstGeom>
          <a:noFill/>
          <a:ln w="7620">
            <a:solidFill>
              <a:schemeClr val="accent2"/>
            </a:solidFill>
            <a:prstDash val="solid"/>
          </a:ln>
        </p:spPr>
      </p:sp>
      <p:sp>
        <p:nvSpPr>
          <p:cNvPr id="54" name="Shape 51"/>
          <p:cNvSpPr/>
          <p:nvPr/>
        </p:nvSpPr>
        <p:spPr>
          <a:xfrm>
            <a:off x="10104120" y="3108960"/>
            <a:ext cx="1536192" cy="1133856"/>
          </a:xfrm>
          <a:prstGeom prst="rect">
            <a:avLst/>
          </a:prstGeom>
          <a:solidFill>
            <a:schemeClr val="bg2"/>
          </a:solidFill>
          <a:ln/>
        </p:spPr>
      </p:sp>
      <p:sp>
        <p:nvSpPr>
          <p:cNvPr id="55" name="Text 52"/>
          <p:cNvSpPr txBox="1"/>
          <p:nvPr/>
        </p:nvSpPr>
        <p:spPr>
          <a:xfrm>
            <a:off x="10232136" y="3218688"/>
            <a:ext cx="1316736" cy="9144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Consultation or studio visit</a:t>
            </a:r>
            <a:endParaRPr lang="en-US" sz="1400" dirty="0"/>
          </a:p>
        </p:txBody>
      </p:sp>
      <p:sp>
        <p:nvSpPr>
          <p:cNvPr id="56" name="Shape 53"/>
          <p:cNvSpPr/>
          <p:nvPr/>
        </p:nvSpPr>
        <p:spPr>
          <a:xfrm>
            <a:off x="548640" y="5230368"/>
            <a:ext cx="11094415" cy="0"/>
          </a:xfrm>
          <a:prstGeom prst="line">
            <a:avLst/>
          </a:prstGeom>
          <a:noFill/>
          <a:ln w="9525">
            <a:solidFill>
              <a:schemeClr val="tx1"/>
            </a:solidFill>
            <a:prstDash val="solid"/>
          </a:ln>
        </p:spPr>
      </p:sp>
      <p:sp>
        <p:nvSpPr>
          <p:cNvPr id="57" name="Text 54"/>
          <p:cNvSpPr txBox="1"/>
          <p:nvPr/>
        </p:nvSpPr>
        <p:spPr>
          <a:xfrm>
            <a:off x="548640" y="5340096"/>
            <a:ext cx="2148840" cy="45720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SEO · Google Business Profile · publications</a:t>
            </a:r>
            <a:endParaRPr lang="en-US" sz="1200" dirty="0"/>
          </a:p>
        </p:txBody>
      </p:sp>
      <p:sp>
        <p:nvSpPr>
          <p:cNvPr id="58" name="Text 55"/>
          <p:cNvSpPr txBox="1"/>
          <p:nvPr/>
        </p:nvSpPr>
        <p:spPr>
          <a:xfrm>
            <a:off x="2971800" y="5340096"/>
            <a:ext cx="1965960" cy="45720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Website experience</a:t>
            </a:r>
            <a:endParaRPr lang="en-US" sz="1200" dirty="0"/>
          </a:p>
        </p:txBody>
      </p:sp>
      <p:sp>
        <p:nvSpPr>
          <p:cNvPr id="59" name="Text 56"/>
          <p:cNvSpPr txBox="1"/>
          <p:nvPr/>
        </p:nvSpPr>
        <p:spPr>
          <a:xfrm>
            <a:off x="5623560" y="5340096"/>
            <a:ext cx="1783080" cy="45720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Portfolio architecture</a:t>
            </a:r>
            <a:endParaRPr lang="en-US" sz="1200" dirty="0"/>
          </a:p>
        </p:txBody>
      </p:sp>
      <p:sp>
        <p:nvSpPr>
          <p:cNvPr id="60" name="Text 57"/>
          <p:cNvSpPr txBox="1"/>
          <p:nvPr/>
        </p:nvSpPr>
        <p:spPr>
          <a:xfrm>
            <a:off x="8001000" y="5340096"/>
            <a:ext cx="1600200" cy="45720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Enquiry &amp; call tracking</a:t>
            </a:r>
            <a:endParaRPr lang="en-US" sz="1200" dirty="0"/>
          </a:p>
        </p:txBody>
      </p:sp>
      <p:sp>
        <p:nvSpPr>
          <p:cNvPr id="61" name="Text 58"/>
          <p:cNvSpPr txBox="1"/>
          <p:nvPr/>
        </p:nvSpPr>
        <p:spPr>
          <a:xfrm>
            <a:off x="10104120" y="5340096"/>
            <a:ext cx="1536192" cy="45720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Studio enquiry log</a:t>
            </a:r>
            <a:endParaRPr lang="en-US" sz="1200" dirty="0"/>
          </a:p>
        </p:txBody>
      </p:sp>
      <p:sp>
        <p:nvSpPr>
          <p:cNvPr id="62" name="Text 59"/>
          <p:cNvSpPr txBox="1"/>
          <p:nvPr/>
        </p:nvSpPr>
        <p:spPr>
          <a:xfrm>
            <a:off x="548640" y="5897880"/>
            <a:ext cx="11094415" cy="274320"/>
          </a:xfrm>
          <a:prstGeom prst="rect">
            <a:avLst/>
          </a:prstGeom>
          <a:noFill/>
          <a:ln/>
        </p:spPr>
        <p:txBody>
          <a:bodyPr wrap="square" lIns="0" tIns="0" rIns="0" bIns="0" rtlCol="0" anchor="t"/>
          <a:lstStyle/>
          <a:p>
            <a:pPr algn="l" indent="0" marL="0">
              <a:lnSpc>
                <a:spcPct val="112000"/>
              </a:lnSpc>
              <a:buNone/>
            </a:pPr>
            <a:r>
              <a:rPr lang="en-US" sz="1200" i="1" dirty="0">
                <a:solidFill>
                  <a:schemeClr val="accent2"/>
                </a:solidFill>
              </a:rPr>
              <a:t>Analytics and monthly improvement run across every stage.</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03 — WHAT THE INFRASTRUCTURE INCLUDES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One connected system, owned by the studio</a:t>
            </a:r>
            <a:endParaRPr lang="en-US" sz="3200" dirty="0"/>
          </a:p>
        </p:txBody>
      </p:sp>
      <p:sp>
        <p:nvSpPr>
          <p:cNvPr id="5" name="Text 2"/>
          <p:cNvSpPr txBox="1"/>
          <p:nvPr/>
        </p:nvSpPr>
        <p:spPr>
          <a:xfrm>
            <a:off x="548640" y="1444752"/>
            <a:ext cx="9692640" cy="457200"/>
          </a:xfrm>
          <a:prstGeom prst="rect">
            <a:avLst/>
          </a:prstGeom>
          <a:noFill/>
          <a:ln/>
        </p:spPr>
        <p:txBody>
          <a:bodyPr wrap="square" lIns="0" tIns="0" rIns="0" bIns="0" rtlCol="0" anchor="t"/>
          <a:lstStyle/>
          <a:p>
            <a:pPr algn="l" indent="0" marL="0">
              <a:lnSpc>
                <a:spcPct val="115000"/>
              </a:lnSpc>
              <a:buNone/>
            </a:pPr>
            <a:r>
              <a:rPr lang="en-US" sz="1500" dirty="0">
                <a:solidFill>
                  <a:schemeClr val="tx2"/>
                </a:solidFill>
              </a:rPr>
              <a:t>The studio’s domain is the root. Website, email, workspace and Google’s tools all connect to it.</a:t>
            </a:r>
            <a:endParaRPr lang="en-US" sz="1500" dirty="0"/>
          </a:p>
        </p:txBody>
      </p:sp>
      <p:sp>
        <p:nvSpPr>
          <p:cNvPr id="6" name="Shape 3"/>
          <p:cNvSpPr/>
          <p:nvPr/>
        </p:nvSpPr>
        <p:spPr>
          <a:xfrm>
            <a:off x="548640" y="3108960"/>
            <a:ext cx="2331720" cy="1554480"/>
          </a:xfrm>
          <a:prstGeom prst="rect">
            <a:avLst/>
          </a:prstGeom>
          <a:solidFill>
            <a:schemeClr val="accent1"/>
          </a:solidFill>
          <a:ln/>
        </p:spPr>
      </p:sp>
      <p:sp>
        <p:nvSpPr>
          <p:cNvPr id="7" name="Text 4"/>
          <p:cNvSpPr txBox="1"/>
          <p:nvPr/>
        </p:nvSpPr>
        <p:spPr>
          <a:xfrm>
            <a:off x="731520" y="3337560"/>
            <a:ext cx="2011680" cy="411480"/>
          </a:xfrm>
          <a:prstGeom prst="rect">
            <a:avLst/>
          </a:prstGeom>
          <a:noFill/>
          <a:ln/>
        </p:spPr>
        <p:txBody>
          <a:bodyPr wrap="square" lIns="0" tIns="0" rIns="0" bIns="0" rtlCol="0" anchor="t"/>
          <a:lstStyle/>
          <a:p>
            <a:pPr algn="l" indent="0" marL="0">
              <a:lnSpc>
                <a:spcPct val="112000"/>
              </a:lnSpc>
              <a:buNone/>
            </a:pPr>
            <a:r>
              <a:rPr lang="en-US" sz="2000" dirty="0">
                <a:solidFill>
                  <a:schemeClr val="bg1"/>
                </a:solidFill>
                <a:latin typeface="+mj-lt" pitchFamily="34" charset="0"/>
                <a:ea typeface="+mj-lt" pitchFamily="34" charset="-122"/>
                <a:cs typeface="+mj-lt" pitchFamily="34" charset="-120"/>
              </a:rPr>
              <a:t>Studio domain</a:t>
            </a:r>
            <a:endParaRPr lang="en-US" sz="2000" dirty="0"/>
          </a:p>
        </p:txBody>
      </p:sp>
      <p:sp>
        <p:nvSpPr>
          <p:cNvPr id="8" name="Text 5"/>
          <p:cNvSpPr txBox="1"/>
          <p:nvPr/>
        </p:nvSpPr>
        <p:spPr>
          <a:xfrm>
            <a:off x="731520" y="3813048"/>
            <a:ext cx="201168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4"/>
                </a:solidFill>
              </a:rPr>
              <a:t>registered in MACK’s name</a:t>
            </a:r>
            <a:endParaRPr lang="en-US" sz="1100" dirty="0"/>
          </a:p>
        </p:txBody>
      </p:sp>
      <p:sp>
        <p:nvSpPr>
          <p:cNvPr id="9" name="Text 6"/>
          <p:cNvSpPr txBox="1"/>
          <p:nvPr/>
        </p:nvSpPr>
        <p:spPr>
          <a:xfrm>
            <a:off x="731520" y="4087368"/>
            <a:ext cx="201168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4"/>
                </a:solidFill>
              </a:rPr>
              <a:t>decided first</a:t>
            </a:r>
            <a:endParaRPr lang="en-US" sz="1100" dirty="0"/>
          </a:p>
        </p:txBody>
      </p:sp>
      <p:sp>
        <p:nvSpPr>
          <p:cNvPr id="10" name="Shape 7"/>
          <p:cNvSpPr/>
          <p:nvPr/>
        </p:nvSpPr>
        <p:spPr>
          <a:xfrm>
            <a:off x="3520440" y="2125980"/>
            <a:ext cx="2240280" cy="457200"/>
          </a:xfrm>
          <a:prstGeom prst="rect">
            <a:avLst/>
          </a:prstGeom>
          <a:ln w="9525">
            <a:solidFill>
              <a:schemeClr val="tx1"/>
            </a:solidFill>
            <a:prstDash val="solid"/>
          </a:ln>
        </p:spPr>
      </p:sp>
      <p:sp>
        <p:nvSpPr>
          <p:cNvPr id="11" name="Text 8"/>
          <p:cNvSpPr txBox="1"/>
          <p:nvPr/>
        </p:nvSpPr>
        <p:spPr>
          <a:xfrm>
            <a:off x="3630168" y="2125980"/>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Website</a:t>
            </a:r>
            <a:endParaRPr lang="en-US" sz="1400" dirty="0"/>
          </a:p>
        </p:txBody>
      </p:sp>
      <p:sp>
        <p:nvSpPr>
          <p:cNvPr id="12" name="Shape 9"/>
          <p:cNvSpPr/>
          <p:nvPr/>
        </p:nvSpPr>
        <p:spPr>
          <a:xfrm flipV="1">
            <a:off x="2880360" y="2354580"/>
            <a:ext cx="640080" cy="1531620"/>
          </a:xfrm>
          <a:prstGeom prst="line">
            <a:avLst/>
          </a:prstGeom>
          <a:noFill/>
          <a:ln w="7620">
            <a:solidFill>
              <a:schemeClr val="accent2"/>
            </a:solidFill>
            <a:prstDash val="solid"/>
          </a:ln>
        </p:spPr>
      </p:sp>
      <p:sp>
        <p:nvSpPr>
          <p:cNvPr id="13" name="Text 10"/>
          <p:cNvSpPr txBox="1"/>
          <p:nvPr/>
        </p:nvSpPr>
        <p:spPr>
          <a:xfrm>
            <a:off x="6035040" y="2125980"/>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the digital destination, on the studio’s own address</a:t>
            </a:r>
            <a:endParaRPr lang="en-US" sz="1250" dirty="0"/>
          </a:p>
        </p:txBody>
      </p:sp>
      <p:sp>
        <p:nvSpPr>
          <p:cNvPr id="14" name="Shape 11"/>
          <p:cNvSpPr/>
          <p:nvPr/>
        </p:nvSpPr>
        <p:spPr>
          <a:xfrm>
            <a:off x="3520440" y="2738628"/>
            <a:ext cx="2240280" cy="457200"/>
          </a:xfrm>
          <a:prstGeom prst="rect">
            <a:avLst/>
          </a:prstGeom>
          <a:ln w="9525">
            <a:solidFill>
              <a:schemeClr val="tx1"/>
            </a:solidFill>
            <a:prstDash val="solid"/>
          </a:ln>
        </p:spPr>
      </p:sp>
      <p:sp>
        <p:nvSpPr>
          <p:cNvPr id="15" name="Text 12"/>
          <p:cNvSpPr txBox="1"/>
          <p:nvPr/>
        </p:nvSpPr>
        <p:spPr>
          <a:xfrm>
            <a:off x="3630168" y="2738628"/>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Email</a:t>
            </a:r>
            <a:endParaRPr lang="en-US" sz="1400" dirty="0"/>
          </a:p>
        </p:txBody>
      </p:sp>
      <p:sp>
        <p:nvSpPr>
          <p:cNvPr id="16" name="Shape 13"/>
          <p:cNvSpPr/>
          <p:nvPr/>
        </p:nvSpPr>
        <p:spPr>
          <a:xfrm flipV="1">
            <a:off x="2880360" y="2967228"/>
            <a:ext cx="640080" cy="918972"/>
          </a:xfrm>
          <a:prstGeom prst="line">
            <a:avLst/>
          </a:prstGeom>
          <a:noFill/>
          <a:ln w="7620">
            <a:solidFill>
              <a:schemeClr val="accent2"/>
            </a:solidFill>
            <a:prstDash val="solid"/>
          </a:ln>
        </p:spPr>
      </p:sp>
      <p:sp>
        <p:nvSpPr>
          <p:cNvPr id="17" name="Text 14"/>
          <p:cNvSpPr txBox="1"/>
          <p:nvPr/>
        </p:nvSpPr>
        <p:spPr>
          <a:xfrm>
            <a:off x="6035040" y="2738628"/>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name@ the studio’s domain</a:t>
            </a:r>
            <a:endParaRPr lang="en-US" sz="1250" dirty="0"/>
          </a:p>
        </p:txBody>
      </p:sp>
      <p:sp>
        <p:nvSpPr>
          <p:cNvPr id="18" name="Shape 15"/>
          <p:cNvSpPr/>
          <p:nvPr/>
        </p:nvSpPr>
        <p:spPr>
          <a:xfrm>
            <a:off x="3520440" y="3351276"/>
            <a:ext cx="2240280" cy="457200"/>
          </a:xfrm>
          <a:prstGeom prst="rect">
            <a:avLst/>
          </a:prstGeom>
          <a:ln w="9525">
            <a:solidFill>
              <a:schemeClr val="tx1"/>
            </a:solidFill>
            <a:prstDash val="solid"/>
          </a:ln>
        </p:spPr>
      </p:sp>
      <p:sp>
        <p:nvSpPr>
          <p:cNvPr id="19" name="Text 16"/>
          <p:cNvSpPr txBox="1"/>
          <p:nvPr/>
        </p:nvSpPr>
        <p:spPr>
          <a:xfrm>
            <a:off x="3630168" y="3351276"/>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Cloud workspace</a:t>
            </a:r>
            <a:endParaRPr lang="en-US" sz="1400" dirty="0"/>
          </a:p>
        </p:txBody>
      </p:sp>
      <p:sp>
        <p:nvSpPr>
          <p:cNvPr id="20" name="Shape 17"/>
          <p:cNvSpPr/>
          <p:nvPr/>
        </p:nvSpPr>
        <p:spPr>
          <a:xfrm flipV="1">
            <a:off x="2880360" y="3579876"/>
            <a:ext cx="640080" cy="306324"/>
          </a:xfrm>
          <a:prstGeom prst="line">
            <a:avLst/>
          </a:prstGeom>
          <a:noFill/>
          <a:ln w="7620">
            <a:solidFill>
              <a:schemeClr val="accent2"/>
            </a:solidFill>
            <a:prstDash val="solid"/>
          </a:ln>
        </p:spPr>
      </p:sp>
      <p:sp>
        <p:nvSpPr>
          <p:cNvPr id="21" name="Text 18"/>
          <p:cNvSpPr txBox="1"/>
          <p:nvPr/>
        </p:nvSpPr>
        <p:spPr>
          <a:xfrm>
            <a:off x="6035040" y="3351276"/>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shared project storage for 2–3 TB</a:t>
            </a:r>
            <a:endParaRPr lang="en-US" sz="1250" dirty="0"/>
          </a:p>
        </p:txBody>
      </p:sp>
      <p:sp>
        <p:nvSpPr>
          <p:cNvPr id="22" name="Shape 19"/>
          <p:cNvSpPr/>
          <p:nvPr/>
        </p:nvSpPr>
        <p:spPr>
          <a:xfrm>
            <a:off x="3520440" y="3963924"/>
            <a:ext cx="2240280" cy="457200"/>
          </a:xfrm>
          <a:prstGeom prst="rect">
            <a:avLst/>
          </a:prstGeom>
          <a:ln w="9525">
            <a:solidFill>
              <a:schemeClr val="tx1"/>
            </a:solidFill>
            <a:prstDash val="solid"/>
          </a:ln>
        </p:spPr>
      </p:sp>
      <p:sp>
        <p:nvSpPr>
          <p:cNvPr id="23" name="Text 20"/>
          <p:cNvSpPr txBox="1"/>
          <p:nvPr/>
        </p:nvSpPr>
        <p:spPr>
          <a:xfrm>
            <a:off x="3630168" y="3963924"/>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Search Console</a:t>
            </a:r>
            <a:endParaRPr lang="en-US" sz="1400" dirty="0"/>
          </a:p>
        </p:txBody>
      </p:sp>
      <p:sp>
        <p:nvSpPr>
          <p:cNvPr id="24" name="Shape 21"/>
          <p:cNvSpPr/>
          <p:nvPr/>
        </p:nvSpPr>
        <p:spPr>
          <a:xfrm>
            <a:off x="2880360" y="3886200"/>
            <a:ext cx="640080" cy="306324"/>
          </a:xfrm>
          <a:prstGeom prst="line">
            <a:avLst/>
          </a:prstGeom>
          <a:noFill/>
          <a:ln w="7620">
            <a:solidFill>
              <a:schemeClr val="accent2"/>
            </a:solidFill>
            <a:prstDash val="solid"/>
          </a:ln>
        </p:spPr>
      </p:sp>
      <p:sp>
        <p:nvSpPr>
          <p:cNvPr id="25" name="Text 22"/>
          <p:cNvSpPr txBox="1"/>
          <p:nvPr/>
        </p:nvSpPr>
        <p:spPr>
          <a:xfrm>
            <a:off x="6035040" y="3963924"/>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how Google sees and shows the site</a:t>
            </a:r>
            <a:endParaRPr lang="en-US" sz="1250" dirty="0"/>
          </a:p>
        </p:txBody>
      </p:sp>
      <p:sp>
        <p:nvSpPr>
          <p:cNvPr id="26" name="Shape 23"/>
          <p:cNvSpPr/>
          <p:nvPr/>
        </p:nvSpPr>
        <p:spPr>
          <a:xfrm>
            <a:off x="3520440" y="4576572"/>
            <a:ext cx="2240280" cy="457200"/>
          </a:xfrm>
          <a:prstGeom prst="rect">
            <a:avLst/>
          </a:prstGeom>
          <a:ln w="9525">
            <a:solidFill>
              <a:schemeClr val="tx1"/>
            </a:solidFill>
            <a:prstDash val="solid"/>
          </a:ln>
        </p:spPr>
      </p:sp>
      <p:sp>
        <p:nvSpPr>
          <p:cNvPr id="27" name="Text 24"/>
          <p:cNvSpPr txBox="1"/>
          <p:nvPr/>
        </p:nvSpPr>
        <p:spPr>
          <a:xfrm>
            <a:off x="3630168" y="4576572"/>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Analytics</a:t>
            </a:r>
            <a:endParaRPr lang="en-US" sz="1400" dirty="0"/>
          </a:p>
        </p:txBody>
      </p:sp>
      <p:sp>
        <p:nvSpPr>
          <p:cNvPr id="28" name="Shape 25"/>
          <p:cNvSpPr/>
          <p:nvPr/>
        </p:nvSpPr>
        <p:spPr>
          <a:xfrm>
            <a:off x="2880360" y="3886200"/>
            <a:ext cx="640080" cy="918972"/>
          </a:xfrm>
          <a:prstGeom prst="line">
            <a:avLst/>
          </a:prstGeom>
          <a:noFill/>
          <a:ln w="7620">
            <a:solidFill>
              <a:schemeClr val="accent2"/>
            </a:solidFill>
            <a:prstDash val="solid"/>
          </a:ln>
        </p:spPr>
      </p:sp>
      <p:sp>
        <p:nvSpPr>
          <p:cNvPr id="29" name="Text 26"/>
          <p:cNvSpPr txBox="1"/>
          <p:nvPr/>
        </p:nvSpPr>
        <p:spPr>
          <a:xfrm>
            <a:off x="6035040" y="4576572"/>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what visitors do; where enquiries come from</a:t>
            </a:r>
            <a:endParaRPr lang="en-US" sz="1250" dirty="0"/>
          </a:p>
        </p:txBody>
      </p:sp>
      <p:sp>
        <p:nvSpPr>
          <p:cNvPr id="30" name="Shape 27"/>
          <p:cNvSpPr/>
          <p:nvPr/>
        </p:nvSpPr>
        <p:spPr>
          <a:xfrm>
            <a:off x="3520440" y="5189220"/>
            <a:ext cx="2240280" cy="457200"/>
          </a:xfrm>
          <a:prstGeom prst="rect">
            <a:avLst/>
          </a:prstGeom>
          <a:ln w="9525">
            <a:solidFill>
              <a:schemeClr val="tx1"/>
            </a:solidFill>
            <a:prstDash val="solid"/>
          </a:ln>
        </p:spPr>
      </p:sp>
      <p:sp>
        <p:nvSpPr>
          <p:cNvPr id="31" name="Text 28"/>
          <p:cNvSpPr txBox="1"/>
          <p:nvPr/>
        </p:nvSpPr>
        <p:spPr>
          <a:xfrm>
            <a:off x="3630168" y="5189220"/>
            <a:ext cx="2020824" cy="45720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Business Profile</a:t>
            </a:r>
            <a:endParaRPr lang="en-US" sz="1400" dirty="0"/>
          </a:p>
        </p:txBody>
      </p:sp>
      <p:sp>
        <p:nvSpPr>
          <p:cNvPr id="32" name="Shape 29"/>
          <p:cNvSpPr/>
          <p:nvPr/>
        </p:nvSpPr>
        <p:spPr>
          <a:xfrm>
            <a:off x="2880360" y="3886200"/>
            <a:ext cx="640080" cy="1531620"/>
          </a:xfrm>
          <a:prstGeom prst="line">
            <a:avLst/>
          </a:prstGeom>
          <a:noFill/>
          <a:ln w="7620">
            <a:solidFill>
              <a:schemeClr val="accent2"/>
            </a:solidFill>
            <a:prstDash val="solid"/>
          </a:ln>
        </p:spPr>
      </p:sp>
      <p:sp>
        <p:nvSpPr>
          <p:cNvPr id="33" name="Text 30"/>
          <p:cNvSpPr txBox="1"/>
          <p:nvPr/>
        </p:nvSpPr>
        <p:spPr>
          <a:xfrm>
            <a:off x="6035040" y="5189220"/>
            <a:ext cx="3017520" cy="457200"/>
          </a:xfrm>
          <a:prstGeom prst="rect">
            <a:avLst/>
          </a:prstGeom>
          <a:noFill/>
          <a:ln/>
        </p:spPr>
        <p:txBody>
          <a:bodyPr wrap="square" lIns="0" tIns="0" rIns="0" bIns="0" rtlCol="0" anchor="ctr"/>
          <a:lstStyle/>
          <a:p>
            <a:pPr algn="l" indent="0" marL="0">
              <a:lnSpc>
                <a:spcPct val="112000"/>
              </a:lnSpc>
              <a:buNone/>
            </a:pPr>
            <a:r>
              <a:rPr lang="en-US" sz="1250" dirty="0">
                <a:solidFill>
                  <a:schemeClr val="tx2"/>
                </a:solidFill>
              </a:rPr>
              <a:t>the studio’s card on Google and Maps</a:t>
            </a:r>
            <a:endParaRPr lang="en-US" sz="1250" dirty="0"/>
          </a:p>
        </p:txBody>
      </p:sp>
      <p:sp>
        <p:nvSpPr>
          <p:cNvPr id="34" name="Shape 31"/>
          <p:cNvSpPr/>
          <p:nvPr/>
        </p:nvSpPr>
        <p:spPr>
          <a:xfrm>
            <a:off x="9098280" y="3579876"/>
            <a:ext cx="548640" cy="0"/>
          </a:xfrm>
          <a:prstGeom prst="line">
            <a:avLst/>
          </a:prstGeom>
          <a:noFill/>
          <a:ln w="9525">
            <a:solidFill>
              <a:schemeClr val="accent2"/>
            </a:solidFill>
            <a:prstDash val="dash"/>
          </a:ln>
        </p:spPr>
      </p:sp>
      <p:sp>
        <p:nvSpPr>
          <p:cNvPr id="35" name="Shape 32"/>
          <p:cNvSpPr/>
          <p:nvPr/>
        </p:nvSpPr>
        <p:spPr>
          <a:xfrm>
            <a:off x="9646920" y="3287268"/>
            <a:ext cx="1996135" cy="585216"/>
          </a:xfrm>
          <a:prstGeom prst="rect">
            <a:avLst/>
          </a:prstGeom>
          <a:ln w="9525">
            <a:solidFill>
              <a:schemeClr val="tx1"/>
            </a:solidFill>
            <a:prstDash val="dash"/>
          </a:ln>
        </p:spPr>
      </p:sp>
      <p:sp>
        <p:nvSpPr>
          <p:cNvPr id="36" name="Text 33"/>
          <p:cNvSpPr txBox="1"/>
          <p:nvPr/>
        </p:nvSpPr>
        <p:spPr>
          <a:xfrm>
            <a:off x="9756648" y="3287268"/>
            <a:ext cx="1776679" cy="585216"/>
          </a:xfrm>
          <a:prstGeom prst="rect">
            <a:avLst/>
          </a:prstGeom>
          <a:noFill/>
          <a:ln/>
        </p:spPr>
        <p:txBody>
          <a:bodyPr wrap="square" lIns="0" tIns="0" rIns="0" bIns="0" rtlCol="0" anchor="ctr"/>
          <a:lstStyle/>
          <a:p>
            <a:pPr algn="l" indent="0" marL="0">
              <a:lnSpc>
                <a:spcPct val="112000"/>
              </a:lnSpc>
              <a:buNone/>
            </a:pPr>
            <a:r>
              <a:rPr lang="en-US" sz="1150" dirty="0">
                <a:solidFill>
                  <a:schemeClr val="tx1"/>
                </a:solidFill>
              </a:rPr>
              <a:t>Independent backup, one copy off-site</a:t>
            </a:r>
            <a:endParaRPr lang="en-US" sz="1150" dirty="0"/>
          </a:p>
        </p:txBody>
      </p:sp>
      <p:sp>
        <p:nvSpPr>
          <p:cNvPr id="37" name="Shape 34"/>
          <p:cNvSpPr/>
          <p:nvPr/>
        </p:nvSpPr>
        <p:spPr>
          <a:xfrm>
            <a:off x="9372600" y="4192524"/>
            <a:ext cx="0" cy="1225296"/>
          </a:xfrm>
          <a:prstGeom prst="line">
            <a:avLst/>
          </a:prstGeom>
          <a:noFill/>
          <a:ln w="9525">
            <a:solidFill>
              <a:schemeClr val="tx1"/>
            </a:solidFill>
            <a:prstDash val="solid"/>
          </a:ln>
        </p:spPr>
      </p:sp>
      <p:sp>
        <p:nvSpPr>
          <p:cNvPr id="38" name="Shape 35"/>
          <p:cNvSpPr/>
          <p:nvPr/>
        </p:nvSpPr>
        <p:spPr>
          <a:xfrm>
            <a:off x="9098280" y="4192524"/>
            <a:ext cx="274320" cy="0"/>
          </a:xfrm>
          <a:prstGeom prst="line">
            <a:avLst/>
          </a:prstGeom>
          <a:noFill/>
          <a:ln w="9525">
            <a:solidFill>
              <a:schemeClr val="tx1"/>
            </a:solidFill>
            <a:prstDash val="solid"/>
          </a:ln>
        </p:spPr>
      </p:sp>
      <p:sp>
        <p:nvSpPr>
          <p:cNvPr id="39" name="Shape 36"/>
          <p:cNvSpPr/>
          <p:nvPr/>
        </p:nvSpPr>
        <p:spPr>
          <a:xfrm>
            <a:off x="9098280" y="4805172"/>
            <a:ext cx="274320" cy="0"/>
          </a:xfrm>
          <a:prstGeom prst="line">
            <a:avLst/>
          </a:prstGeom>
          <a:noFill/>
          <a:ln w="9525">
            <a:solidFill>
              <a:schemeClr val="tx1"/>
            </a:solidFill>
            <a:prstDash val="solid"/>
          </a:ln>
        </p:spPr>
      </p:sp>
      <p:sp>
        <p:nvSpPr>
          <p:cNvPr id="40" name="Shape 37"/>
          <p:cNvSpPr/>
          <p:nvPr/>
        </p:nvSpPr>
        <p:spPr>
          <a:xfrm>
            <a:off x="9098280" y="5417820"/>
            <a:ext cx="274320" cy="0"/>
          </a:xfrm>
          <a:prstGeom prst="line">
            <a:avLst/>
          </a:prstGeom>
          <a:noFill/>
          <a:ln w="9525">
            <a:solidFill>
              <a:schemeClr val="tx1"/>
            </a:solidFill>
            <a:prstDash val="solid"/>
          </a:ln>
        </p:spPr>
      </p:sp>
      <p:sp>
        <p:nvSpPr>
          <p:cNvPr id="41" name="Shape 38"/>
          <p:cNvSpPr/>
          <p:nvPr/>
        </p:nvSpPr>
        <p:spPr>
          <a:xfrm>
            <a:off x="9372600" y="4805172"/>
            <a:ext cx="274320" cy="0"/>
          </a:xfrm>
          <a:prstGeom prst="line">
            <a:avLst/>
          </a:prstGeom>
          <a:noFill/>
          <a:ln w="9525">
            <a:solidFill>
              <a:schemeClr val="tx1"/>
            </a:solidFill>
            <a:prstDash val="solid"/>
            <a:tailEnd type="triangle"/>
          </a:ln>
        </p:spPr>
      </p:sp>
      <p:sp>
        <p:nvSpPr>
          <p:cNvPr id="42" name="Shape 39"/>
          <p:cNvSpPr/>
          <p:nvPr/>
        </p:nvSpPr>
        <p:spPr>
          <a:xfrm>
            <a:off x="9646920" y="4512564"/>
            <a:ext cx="1996135" cy="585216"/>
          </a:xfrm>
          <a:prstGeom prst="rect">
            <a:avLst/>
          </a:prstGeom>
          <a:solidFill>
            <a:schemeClr val="bg2"/>
          </a:solidFill>
          <a:ln/>
        </p:spPr>
      </p:sp>
      <p:sp>
        <p:nvSpPr>
          <p:cNvPr id="43" name="Text 40"/>
          <p:cNvSpPr txBox="1"/>
          <p:nvPr/>
        </p:nvSpPr>
        <p:spPr>
          <a:xfrm>
            <a:off x="9756648" y="4512564"/>
            <a:ext cx="1813255" cy="585216"/>
          </a:xfrm>
          <a:prstGeom prst="rect">
            <a:avLst/>
          </a:prstGeom>
          <a:noFill/>
          <a:ln/>
        </p:spPr>
        <p:txBody>
          <a:bodyPr wrap="square" lIns="0" tIns="0" rIns="0" bIns="0" rtlCol="0" anchor="ctr"/>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One monthly report</a:t>
            </a:r>
            <a:endParaRPr lang="en-US" sz="1300" dirty="0"/>
          </a:p>
        </p:txBody>
      </p:sp>
      <p:sp>
        <p:nvSpPr>
          <p:cNvPr id="44" name="Text 41"/>
          <p:cNvSpPr txBox="1"/>
          <p:nvPr/>
        </p:nvSpPr>
        <p:spPr>
          <a:xfrm>
            <a:off x="548640" y="5897880"/>
            <a:ext cx="11094415" cy="274320"/>
          </a:xfrm>
          <a:prstGeom prst="rect">
            <a:avLst/>
          </a:prstGeom>
          <a:noFill/>
          <a:ln/>
        </p:spPr>
        <p:txBody>
          <a:bodyPr wrap="square" lIns="0" tIns="0" rIns="0" bIns="0" rtlCol="0" anchor="t"/>
          <a:lstStyle/>
          <a:p>
            <a:pPr algn="l" indent="0" marL="0">
              <a:lnSpc>
                <a:spcPct val="112000"/>
              </a:lnSpc>
              <a:buNone/>
            </a:pPr>
            <a:r>
              <a:rPr lang="en-US" sz="1250" b="1" dirty="0">
                <a:solidFill>
                  <a:schemeClr val="tx1"/>
                </a:solidFill>
              </a:rPr>
              <a:t>Principle  </a:t>
            </a:r>
            <a:pPr algn="l" indent="0" marL="0">
              <a:lnSpc>
                <a:spcPct val="112000"/>
              </a:lnSpc>
              <a:buNone/>
            </a:pPr>
            <a:r>
              <a:rPr lang="en-US" sz="1250" dirty="0">
                <a:solidFill>
                  <a:schemeClr val="tx2"/>
                </a:solidFill>
              </a:rPr>
              <a:t>MACK owns every account. I am given access to do the work.</a:t>
            </a:r>
            <a:endParaRPr lang="en-US" sz="12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04 — SEARCH VISIBILITY</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Built from the ground up</a:t>
            </a:r>
            <a:endParaRPr lang="en-US" sz="3200" dirty="0"/>
          </a:p>
        </p:txBody>
      </p:sp>
      <p:sp>
        <p:nvSpPr>
          <p:cNvPr id="5" name="Text 2"/>
          <p:cNvSpPr txBox="1"/>
          <p:nvPr/>
        </p:nvSpPr>
        <p:spPr>
          <a:xfrm>
            <a:off x="548640" y="1444752"/>
            <a:ext cx="9692640" cy="457200"/>
          </a:xfrm>
          <a:prstGeom prst="rect">
            <a:avLst/>
          </a:prstGeom>
          <a:noFill/>
          <a:ln/>
        </p:spPr>
        <p:txBody>
          <a:bodyPr wrap="square" lIns="0" tIns="0" rIns="0" bIns="0" rtlCol="0" anchor="t"/>
          <a:lstStyle/>
          <a:p>
            <a:pPr algn="l" indent="0" marL="0">
              <a:lnSpc>
                <a:spcPct val="115000"/>
              </a:lnSpc>
              <a:buNone/>
            </a:pPr>
            <a:r>
              <a:rPr lang="en-US" sz="1500" dirty="0">
                <a:solidFill>
                  <a:schemeClr val="tx2"/>
                </a:solidFill>
              </a:rPr>
              <a:t>How a studio becomes visible in Google, layer by layer.</a:t>
            </a:r>
            <a:endParaRPr lang="en-US" sz="1500" dirty="0"/>
          </a:p>
        </p:txBody>
      </p:sp>
      <p:sp>
        <p:nvSpPr>
          <p:cNvPr id="6" name="Shape 3"/>
          <p:cNvSpPr/>
          <p:nvPr/>
        </p:nvSpPr>
        <p:spPr>
          <a:xfrm>
            <a:off x="548640" y="2487168"/>
            <a:ext cx="4572000" cy="658368"/>
          </a:xfrm>
          <a:prstGeom prst="rect">
            <a:avLst/>
          </a:prstGeom>
          <a:solidFill>
            <a:schemeClr val="bg1"/>
          </a:solidFill>
          <a:ln w="9525">
            <a:solidFill>
              <a:schemeClr val="tx1"/>
            </a:solidFill>
            <a:prstDash val="solid"/>
          </a:ln>
        </p:spPr>
      </p:sp>
      <p:sp>
        <p:nvSpPr>
          <p:cNvPr id="7" name="Text 4"/>
          <p:cNvSpPr txBox="1"/>
          <p:nvPr/>
        </p:nvSpPr>
        <p:spPr>
          <a:xfrm>
            <a:off x="713232" y="2487168"/>
            <a:ext cx="4572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2"/>
                </a:solidFill>
              </a:rPr>
              <a:t>05</a:t>
            </a:r>
            <a:endParaRPr lang="en-US" sz="1200" dirty="0"/>
          </a:p>
        </p:txBody>
      </p:sp>
      <p:sp>
        <p:nvSpPr>
          <p:cNvPr id="8" name="Text 5"/>
          <p:cNvSpPr txBox="1"/>
          <p:nvPr/>
        </p:nvSpPr>
        <p:spPr>
          <a:xfrm>
            <a:off x="1115568" y="2487168"/>
            <a:ext cx="2286000" cy="658368"/>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Authority</a:t>
            </a:r>
            <a:endParaRPr lang="en-US" sz="1500" dirty="0"/>
          </a:p>
        </p:txBody>
      </p:sp>
      <p:sp>
        <p:nvSpPr>
          <p:cNvPr id="9" name="Text 6"/>
          <p:cNvSpPr txBox="1"/>
          <p:nvPr/>
        </p:nvSpPr>
        <p:spPr>
          <a:xfrm>
            <a:off x="3154680" y="2487168"/>
            <a:ext cx="18288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publications, platforms, reviews</a:t>
            </a:r>
            <a:endParaRPr lang="en-US" sz="1200" dirty="0"/>
          </a:p>
        </p:txBody>
      </p:sp>
      <p:sp>
        <p:nvSpPr>
          <p:cNvPr id="10" name="Shape 7"/>
          <p:cNvSpPr/>
          <p:nvPr/>
        </p:nvSpPr>
        <p:spPr>
          <a:xfrm>
            <a:off x="548640" y="3209544"/>
            <a:ext cx="5303520" cy="658368"/>
          </a:xfrm>
          <a:prstGeom prst="rect">
            <a:avLst/>
          </a:prstGeom>
          <a:solidFill>
            <a:schemeClr val="bg2"/>
          </a:solidFill>
          <a:ln w="9525">
            <a:solidFill>
              <a:schemeClr val="tx1"/>
            </a:solidFill>
            <a:prstDash val="solid"/>
          </a:ln>
        </p:spPr>
      </p:sp>
      <p:sp>
        <p:nvSpPr>
          <p:cNvPr id="11" name="Text 8"/>
          <p:cNvSpPr txBox="1"/>
          <p:nvPr/>
        </p:nvSpPr>
        <p:spPr>
          <a:xfrm>
            <a:off x="713232" y="3209544"/>
            <a:ext cx="4572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2"/>
                </a:solidFill>
              </a:rPr>
              <a:t>04</a:t>
            </a:r>
            <a:endParaRPr lang="en-US" sz="1200" dirty="0"/>
          </a:p>
        </p:txBody>
      </p:sp>
      <p:sp>
        <p:nvSpPr>
          <p:cNvPr id="12" name="Text 9"/>
          <p:cNvSpPr txBox="1"/>
          <p:nvPr/>
        </p:nvSpPr>
        <p:spPr>
          <a:xfrm>
            <a:off x="1115568" y="3209544"/>
            <a:ext cx="2286000" cy="658368"/>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Local presence</a:t>
            </a:r>
            <a:endParaRPr lang="en-US" sz="1500" dirty="0"/>
          </a:p>
        </p:txBody>
      </p:sp>
      <p:sp>
        <p:nvSpPr>
          <p:cNvPr id="13" name="Text 10"/>
          <p:cNvSpPr txBox="1"/>
          <p:nvPr/>
        </p:nvSpPr>
        <p:spPr>
          <a:xfrm>
            <a:off x="3154680" y="3209544"/>
            <a:ext cx="2560320" cy="658368"/>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Business Profile, Maps, consistent details</a:t>
            </a:r>
            <a:endParaRPr lang="en-US" sz="1200" dirty="0"/>
          </a:p>
        </p:txBody>
      </p:sp>
      <p:sp>
        <p:nvSpPr>
          <p:cNvPr id="14" name="Shape 11"/>
          <p:cNvSpPr/>
          <p:nvPr/>
        </p:nvSpPr>
        <p:spPr>
          <a:xfrm>
            <a:off x="548640" y="3931920"/>
            <a:ext cx="6035040" cy="658368"/>
          </a:xfrm>
          <a:prstGeom prst="rect">
            <a:avLst/>
          </a:prstGeom>
          <a:solidFill>
            <a:schemeClr val="bg1"/>
          </a:solidFill>
          <a:ln w="9525">
            <a:solidFill>
              <a:schemeClr val="tx1"/>
            </a:solidFill>
            <a:prstDash val="solid"/>
          </a:ln>
        </p:spPr>
      </p:sp>
      <p:sp>
        <p:nvSpPr>
          <p:cNvPr id="15" name="Text 12"/>
          <p:cNvSpPr txBox="1"/>
          <p:nvPr/>
        </p:nvSpPr>
        <p:spPr>
          <a:xfrm>
            <a:off x="713232" y="3931920"/>
            <a:ext cx="4572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2"/>
                </a:solidFill>
              </a:rPr>
              <a:t>03</a:t>
            </a:r>
            <a:endParaRPr lang="en-US" sz="1200" dirty="0"/>
          </a:p>
        </p:txBody>
      </p:sp>
      <p:sp>
        <p:nvSpPr>
          <p:cNvPr id="16" name="Text 13"/>
          <p:cNvSpPr txBox="1"/>
          <p:nvPr/>
        </p:nvSpPr>
        <p:spPr>
          <a:xfrm>
            <a:off x="1115568" y="3931920"/>
            <a:ext cx="2286000" cy="658368"/>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Relevance</a:t>
            </a:r>
            <a:endParaRPr lang="en-US" sz="1500" dirty="0"/>
          </a:p>
        </p:txBody>
      </p:sp>
      <p:sp>
        <p:nvSpPr>
          <p:cNvPr id="17" name="Text 14"/>
          <p:cNvSpPr txBox="1"/>
          <p:nvPr/>
        </p:nvSpPr>
        <p:spPr>
          <a:xfrm>
            <a:off x="3154680" y="3931920"/>
            <a:ext cx="3291840" cy="658368"/>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services and projects that match real searches</a:t>
            </a:r>
            <a:endParaRPr lang="en-US" sz="1200" dirty="0"/>
          </a:p>
        </p:txBody>
      </p:sp>
      <p:sp>
        <p:nvSpPr>
          <p:cNvPr id="18" name="Shape 15"/>
          <p:cNvSpPr/>
          <p:nvPr/>
        </p:nvSpPr>
        <p:spPr>
          <a:xfrm>
            <a:off x="548640" y="4654296"/>
            <a:ext cx="6720840" cy="658368"/>
          </a:xfrm>
          <a:prstGeom prst="rect">
            <a:avLst/>
          </a:prstGeom>
          <a:solidFill>
            <a:schemeClr val="bg2"/>
          </a:solidFill>
          <a:ln w="9525">
            <a:solidFill>
              <a:schemeClr val="tx1"/>
            </a:solidFill>
            <a:prstDash val="solid"/>
          </a:ln>
        </p:spPr>
      </p:sp>
      <p:sp>
        <p:nvSpPr>
          <p:cNvPr id="19" name="Text 16"/>
          <p:cNvSpPr txBox="1"/>
          <p:nvPr/>
        </p:nvSpPr>
        <p:spPr>
          <a:xfrm>
            <a:off x="713232" y="4654296"/>
            <a:ext cx="4572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2"/>
                </a:solidFill>
              </a:rPr>
              <a:t>02</a:t>
            </a:r>
            <a:endParaRPr lang="en-US" sz="1200" dirty="0"/>
          </a:p>
        </p:txBody>
      </p:sp>
      <p:sp>
        <p:nvSpPr>
          <p:cNvPr id="20" name="Text 17"/>
          <p:cNvSpPr txBox="1"/>
          <p:nvPr/>
        </p:nvSpPr>
        <p:spPr>
          <a:xfrm>
            <a:off x="1115568" y="4654296"/>
            <a:ext cx="2286000" cy="658368"/>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Structure &amp; meaning</a:t>
            </a:r>
            <a:endParaRPr lang="en-US" sz="1500" dirty="0"/>
          </a:p>
        </p:txBody>
      </p:sp>
      <p:sp>
        <p:nvSpPr>
          <p:cNvPr id="21" name="Text 18"/>
          <p:cNvSpPr txBox="1"/>
          <p:nvPr/>
        </p:nvSpPr>
        <p:spPr>
          <a:xfrm>
            <a:off x="3154680" y="4654296"/>
            <a:ext cx="3977640" cy="658368"/>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page architecture, titles, structured data</a:t>
            </a:r>
            <a:endParaRPr lang="en-US" sz="1200" dirty="0"/>
          </a:p>
        </p:txBody>
      </p:sp>
      <p:sp>
        <p:nvSpPr>
          <p:cNvPr id="22" name="Shape 19"/>
          <p:cNvSpPr/>
          <p:nvPr/>
        </p:nvSpPr>
        <p:spPr>
          <a:xfrm>
            <a:off x="548640" y="5376672"/>
            <a:ext cx="7406640" cy="658368"/>
          </a:xfrm>
          <a:prstGeom prst="rect">
            <a:avLst/>
          </a:prstGeom>
          <a:solidFill>
            <a:schemeClr val="accent1"/>
          </a:solidFill>
          <a:ln/>
        </p:spPr>
      </p:sp>
      <p:sp>
        <p:nvSpPr>
          <p:cNvPr id="23" name="Text 20"/>
          <p:cNvSpPr txBox="1"/>
          <p:nvPr/>
        </p:nvSpPr>
        <p:spPr>
          <a:xfrm>
            <a:off x="713232" y="5376672"/>
            <a:ext cx="45720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4"/>
                </a:solidFill>
              </a:rPr>
              <a:t>01</a:t>
            </a:r>
            <a:endParaRPr lang="en-US" sz="1200" dirty="0"/>
          </a:p>
        </p:txBody>
      </p:sp>
      <p:sp>
        <p:nvSpPr>
          <p:cNvPr id="24" name="Text 21"/>
          <p:cNvSpPr txBox="1"/>
          <p:nvPr/>
        </p:nvSpPr>
        <p:spPr>
          <a:xfrm>
            <a:off x="1115568" y="5376672"/>
            <a:ext cx="2286000" cy="658368"/>
          </a:xfrm>
          <a:prstGeom prst="rect">
            <a:avLst/>
          </a:prstGeom>
          <a:noFill/>
          <a:ln/>
        </p:spPr>
        <p:txBody>
          <a:bodyPr wrap="square" lIns="0" tIns="0" rIns="0" bIns="0" rtlCol="0" anchor="ctr"/>
          <a:lstStyle/>
          <a:p>
            <a:pPr algn="l" indent="0" marL="0">
              <a:lnSpc>
                <a:spcPct val="112000"/>
              </a:lnSpc>
              <a:buNone/>
            </a:pPr>
            <a:r>
              <a:rPr lang="en-US" sz="1500" dirty="0">
                <a:solidFill>
                  <a:schemeClr val="bg1"/>
                </a:solidFill>
                <a:latin typeface="+mj-lt" pitchFamily="34" charset="0"/>
                <a:ea typeface="+mj-lt" pitchFamily="34" charset="-122"/>
                <a:cs typeface="+mj-lt" pitchFamily="34" charset="-120"/>
              </a:rPr>
              <a:t>Technical foundation</a:t>
            </a:r>
            <a:endParaRPr lang="en-US" sz="1500" dirty="0"/>
          </a:p>
        </p:txBody>
      </p:sp>
      <p:sp>
        <p:nvSpPr>
          <p:cNvPr id="25" name="Text 22"/>
          <p:cNvSpPr txBox="1"/>
          <p:nvPr/>
        </p:nvSpPr>
        <p:spPr>
          <a:xfrm>
            <a:off x="3154680" y="5376672"/>
            <a:ext cx="4663440" cy="658368"/>
          </a:xfrm>
          <a:prstGeom prst="rect">
            <a:avLst/>
          </a:prstGeom>
          <a:noFill/>
          <a:ln/>
        </p:spPr>
        <p:txBody>
          <a:bodyPr wrap="square" lIns="0" tIns="0" rIns="0" bIns="0" rtlCol="0" anchor="ctr"/>
          <a:lstStyle/>
          <a:p>
            <a:pPr algn="l" indent="0" marL="0">
              <a:lnSpc>
                <a:spcPct val="112000"/>
              </a:lnSpc>
              <a:buNone/>
            </a:pPr>
            <a:r>
              <a:rPr lang="en-US" sz="1200" dirty="0">
                <a:solidFill>
                  <a:schemeClr val="accent4"/>
                </a:solidFill>
              </a:rPr>
              <a:t>crawlable, indexable, fast on mobile</a:t>
            </a:r>
            <a:endParaRPr lang="en-US" sz="1200" dirty="0"/>
          </a:p>
        </p:txBody>
      </p:sp>
      <p:sp>
        <p:nvSpPr>
          <p:cNvPr id="26" name="Shape 23"/>
          <p:cNvSpPr/>
          <p:nvPr/>
        </p:nvSpPr>
        <p:spPr>
          <a:xfrm>
            <a:off x="8183880" y="2487168"/>
            <a:ext cx="457200" cy="3547872"/>
          </a:xfrm>
          <a:prstGeom prst="rect">
            <a:avLst/>
          </a:prstGeom>
          <a:ln w="9525">
            <a:solidFill>
              <a:schemeClr val="tx1"/>
            </a:solidFill>
            <a:prstDash val="solid"/>
          </a:ln>
        </p:spPr>
      </p:sp>
      <p:sp>
        <p:nvSpPr>
          <p:cNvPr id="27" name="Text 24"/>
          <p:cNvSpPr txBox="1"/>
          <p:nvPr/>
        </p:nvSpPr>
        <p:spPr>
          <a:xfrm rot="16200000">
            <a:off x="6638544" y="4123944"/>
            <a:ext cx="3547872" cy="27432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tx1"/>
                </a:solidFill>
              </a:rPr>
              <a:t>06  MEASURED AT EVERY LEVEL</a:t>
            </a:r>
            <a:endParaRPr lang="en-US" sz="950" dirty="0"/>
          </a:p>
        </p:txBody>
      </p:sp>
      <p:sp>
        <p:nvSpPr>
          <p:cNvPr id="28" name="Text 25"/>
          <p:cNvSpPr txBox="1"/>
          <p:nvPr/>
        </p:nvSpPr>
        <p:spPr>
          <a:xfrm>
            <a:off x="9006840" y="2532888"/>
            <a:ext cx="2633472" cy="822960"/>
          </a:xfrm>
          <a:prstGeom prst="rect">
            <a:avLst/>
          </a:prstGeom>
          <a:noFill/>
          <a:ln/>
        </p:spPr>
        <p:txBody>
          <a:bodyPr wrap="square" lIns="0" tIns="0" rIns="0" bIns="0" rtlCol="0" anchor="t"/>
          <a:lstStyle/>
          <a:p>
            <a:pPr algn="l" indent="0" marL="0">
              <a:lnSpc>
                <a:spcPct val="110000"/>
              </a:lnSpc>
              <a:buNone/>
            </a:pPr>
            <a:r>
              <a:rPr lang="en-US" sz="1800" dirty="0">
                <a:solidFill>
                  <a:schemeClr val="tx1"/>
                </a:solidFill>
                <a:latin typeface="+mj-lt" pitchFamily="34" charset="0"/>
                <a:ea typeface="+mj-lt" pitchFamily="34" charset="-122"/>
                <a:cs typeface="+mj-lt" pitchFamily="34" charset="-120"/>
              </a:rPr>
              <a:t>Each layer depends on the one below.</a:t>
            </a:r>
            <a:endParaRPr lang="en-US" sz="1800" dirty="0"/>
          </a:p>
        </p:txBody>
      </p:sp>
      <p:sp>
        <p:nvSpPr>
          <p:cNvPr id="29" name="Text 26"/>
          <p:cNvSpPr txBox="1"/>
          <p:nvPr/>
        </p:nvSpPr>
        <p:spPr>
          <a:xfrm>
            <a:off x="9006840" y="3493008"/>
            <a:ext cx="2633472" cy="1188720"/>
          </a:xfrm>
          <a:prstGeom prst="rect">
            <a:avLst/>
          </a:prstGeom>
          <a:noFill/>
          <a:ln/>
        </p:spPr>
        <p:txBody>
          <a:bodyPr wrap="square" lIns="0" tIns="0" rIns="0" bIns="0" rtlCol="0" anchor="t"/>
          <a:lstStyle/>
          <a:p>
            <a:pPr algn="l" indent="0" marL="0">
              <a:lnSpc>
                <a:spcPct val="120000"/>
              </a:lnSpc>
              <a:buNone/>
            </a:pPr>
            <a:r>
              <a:rPr lang="en-US" sz="1250" dirty="0">
                <a:solidFill>
                  <a:schemeClr val="tx2"/>
                </a:solidFill>
              </a:rPr>
              <a:t>Shortcuts at the top — bought links, keyword tricks — don’t hold without the layers underneath, and they break Google’s rules.</a:t>
            </a:r>
            <a:endParaRPr lang="en-US" sz="1250" dirty="0"/>
          </a:p>
        </p:txBody>
      </p:sp>
      <p:sp>
        <p:nvSpPr>
          <p:cNvPr id="30" name="Shape 27"/>
          <p:cNvSpPr/>
          <p:nvPr/>
        </p:nvSpPr>
        <p:spPr>
          <a:xfrm>
            <a:off x="9006840" y="4818888"/>
            <a:ext cx="2633472" cy="0"/>
          </a:xfrm>
          <a:prstGeom prst="line">
            <a:avLst/>
          </a:prstGeom>
          <a:noFill/>
          <a:ln w="9525">
            <a:solidFill>
              <a:schemeClr val="tx1"/>
            </a:solidFill>
            <a:prstDash val="solid"/>
          </a:ln>
        </p:spPr>
      </p:sp>
      <p:sp>
        <p:nvSpPr>
          <p:cNvPr id="31" name="Text 28"/>
          <p:cNvSpPr txBox="1"/>
          <p:nvPr/>
        </p:nvSpPr>
        <p:spPr>
          <a:xfrm>
            <a:off x="9006840" y="4937760"/>
            <a:ext cx="2633472"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WHERE MACK IS TODAY</a:t>
            </a:r>
            <a:endParaRPr lang="en-US" sz="950" dirty="0"/>
          </a:p>
        </p:txBody>
      </p:sp>
      <p:sp>
        <p:nvSpPr>
          <p:cNvPr id="32" name="Text 29"/>
          <p:cNvSpPr txBox="1"/>
          <p:nvPr/>
        </p:nvSpPr>
        <p:spPr>
          <a:xfrm>
            <a:off x="9006840" y="5212080"/>
            <a:ext cx="2633472" cy="822960"/>
          </a:xfrm>
          <a:prstGeom prst="rect">
            <a:avLst/>
          </a:prstGeom>
          <a:noFill/>
          <a:ln/>
        </p:spPr>
        <p:txBody>
          <a:bodyPr wrap="square" lIns="0" tIns="0" rIns="0" bIns="0" rtlCol="0" anchor="t"/>
          <a:lstStyle/>
          <a:p>
            <a:pPr algn="l" indent="0" marL="0">
              <a:lnSpc>
                <a:spcPct val="120000"/>
              </a:lnSpc>
              <a:buNone/>
            </a:pPr>
            <a:r>
              <a:rPr lang="en-US" sz="1250" dirty="0">
                <a:solidFill>
                  <a:schemeClr val="tx2"/>
                </a:solidFill>
              </a:rPr>
              <a:t>01–02 largely built into the new site. 03–05 need project information, a verified profile and published work.</a:t>
            </a:r>
            <a:endParaRPr lang="en-US" sz="12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05 — HOW PEOPLE SEARCH FOR A STUDIO</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Three kinds of search, three timescales</a:t>
            </a:r>
            <a:endParaRPr lang="en-US" sz="3200" dirty="0"/>
          </a:p>
        </p:txBody>
      </p:sp>
      <p:sp>
        <p:nvSpPr>
          <p:cNvPr id="5" name="Text 2"/>
          <p:cNvSpPr txBox="1"/>
          <p:nvPr/>
        </p:nvSpPr>
        <p:spPr>
          <a:xfrm>
            <a:off x="548640" y="1691640"/>
            <a:ext cx="54864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01</a:t>
            </a:r>
            <a:endParaRPr lang="en-US" sz="1100" dirty="0"/>
          </a:p>
        </p:txBody>
      </p:sp>
      <p:sp>
        <p:nvSpPr>
          <p:cNvPr id="6" name="Text 3"/>
          <p:cNvSpPr txBox="1"/>
          <p:nvPr/>
        </p:nvSpPr>
        <p:spPr>
          <a:xfrm>
            <a:off x="548640" y="1965960"/>
            <a:ext cx="3429000" cy="548640"/>
          </a:xfrm>
          <a:prstGeom prst="rect">
            <a:avLst/>
          </a:prstGeom>
          <a:noFill/>
          <a:ln/>
        </p:spPr>
        <p:txBody>
          <a:bodyPr wrap="square" lIns="0" tIns="0" rIns="0" bIns="0" rtlCol="0" anchor="t"/>
          <a:lstStyle/>
          <a:p>
            <a:pPr algn="l" indent="0" marL="0">
              <a:lnSpc>
                <a:spcPct val="112000"/>
              </a:lnSpc>
              <a:buNone/>
            </a:pPr>
            <a:r>
              <a:rPr lang="en-US" sz="2800" dirty="0">
                <a:solidFill>
                  <a:schemeClr val="tx1"/>
                </a:solidFill>
                <a:latin typeface="+mj-lt" pitchFamily="34" charset="0"/>
                <a:ea typeface="+mj-lt" pitchFamily="34" charset="-122"/>
                <a:cs typeface="+mj-lt" pitchFamily="34" charset="-120"/>
              </a:rPr>
              <a:t>Confirm</a:t>
            </a:r>
            <a:endParaRPr lang="en-US" sz="2800" dirty="0"/>
          </a:p>
        </p:txBody>
      </p:sp>
      <p:sp>
        <p:nvSpPr>
          <p:cNvPr id="7" name="Text 4"/>
          <p:cNvSpPr txBox="1"/>
          <p:nvPr/>
        </p:nvSpPr>
        <p:spPr>
          <a:xfrm>
            <a:off x="548640" y="2587752"/>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SEARCHES FOR THE STUDIO’S NAME</a:t>
            </a:r>
            <a:endParaRPr lang="en-US" sz="950" dirty="0"/>
          </a:p>
        </p:txBody>
      </p:sp>
      <p:sp>
        <p:nvSpPr>
          <p:cNvPr id="8" name="Shape 5"/>
          <p:cNvSpPr/>
          <p:nvPr/>
        </p:nvSpPr>
        <p:spPr>
          <a:xfrm>
            <a:off x="548640" y="2926080"/>
            <a:ext cx="3429000" cy="0"/>
          </a:xfrm>
          <a:prstGeom prst="line">
            <a:avLst/>
          </a:prstGeom>
          <a:noFill/>
          <a:ln w="9525">
            <a:solidFill>
              <a:schemeClr val="tx1"/>
            </a:solidFill>
            <a:prstDash val="solid"/>
          </a:ln>
        </p:spPr>
      </p:sp>
      <p:sp>
        <p:nvSpPr>
          <p:cNvPr id="9" name="Text 6"/>
          <p:cNvSpPr txBox="1"/>
          <p:nvPr/>
        </p:nvSpPr>
        <p:spPr>
          <a:xfrm>
            <a:off x="548640" y="3063240"/>
            <a:ext cx="3429000" cy="685800"/>
          </a:xfrm>
          <a:prstGeom prst="rect">
            <a:avLst/>
          </a:prstGeom>
          <a:noFill/>
          <a:ln/>
        </p:spPr>
        <p:txBody>
          <a:bodyPr wrap="square" lIns="0" tIns="0" rIns="0" bIns="0" rtlCol="0" anchor="t"/>
          <a:lstStyle/>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“MACK &amp; Co Architects”</a:t>
            </a:r>
            <a:endParaRPr lang="en-US" sz="1400" dirty="0"/>
          </a:p>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“mack architects mumbai”</a:t>
            </a:r>
            <a:endParaRPr lang="en-US" sz="1400" dirty="0"/>
          </a:p>
        </p:txBody>
      </p:sp>
      <p:sp>
        <p:nvSpPr>
          <p:cNvPr id="10" name="Text 7"/>
          <p:cNvSpPr txBox="1"/>
          <p:nvPr/>
        </p:nvSpPr>
        <p:spPr>
          <a:xfrm>
            <a:off x="548640" y="3904488"/>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WINS</a:t>
            </a:r>
            <a:endParaRPr lang="en-US" sz="950" dirty="0"/>
          </a:p>
        </p:txBody>
      </p:sp>
      <p:sp>
        <p:nvSpPr>
          <p:cNvPr id="11" name="Text 8"/>
          <p:cNvSpPr txBox="1"/>
          <p:nvPr/>
        </p:nvSpPr>
        <p:spPr>
          <a:xfrm>
            <a:off x="548640" y="4160520"/>
            <a:ext cx="3429000" cy="777240"/>
          </a:xfrm>
          <a:prstGeom prst="rect">
            <a:avLst/>
          </a:prstGeom>
          <a:noFill/>
          <a:ln/>
        </p:spPr>
        <p:txBody>
          <a:bodyPr wrap="square" lIns="0" tIns="0" rIns="0" bIns="0" rtlCol="0" anchor="t"/>
          <a:lstStyle/>
          <a:p>
            <a:pPr algn="l" indent="0" marL="0">
              <a:lnSpc>
                <a:spcPct val="118000"/>
              </a:lnSpc>
              <a:buNone/>
            </a:pPr>
            <a:r>
              <a:rPr lang="en-US" sz="1300" dirty="0">
                <a:solidFill>
                  <a:schemeClr val="tx2"/>
                </a:solidFill>
              </a:rPr>
              <a:t>Website first, a correct Business Profile beside it, consistent details everywhere</a:t>
            </a:r>
            <a:endParaRPr lang="en-US" sz="1300" dirty="0"/>
          </a:p>
        </p:txBody>
      </p:sp>
      <p:sp>
        <p:nvSpPr>
          <p:cNvPr id="12" name="Shape 9"/>
          <p:cNvSpPr/>
          <p:nvPr/>
        </p:nvSpPr>
        <p:spPr>
          <a:xfrm>
            <a:off x="548640" y="5056632"/>
            <a:ext cx="3429000" cy="0"/>
          </a:xfrm>
          <a:prstGeom prst="line">
            <a:avLst/>
          </a:prstGeom>
          <a:noFill/>
          <a:ln w="9525">
            <a:solidFill>
              <a:schemeClr val="accent5"/>
            </a:solidFill>
            <a:prstDash val="solid"/>
          </a:ln>
        </p:spPr>
      </p:sp>
      <p:sp>
        <p:nvSpPr>
          <p:cNvPr id="13" name="Text 10"/>
          <p:cNvSpPr txBox="1"/>
          <p:nvPr/>
        </p:nvSpPr>
        <p:spPr>
          <a:xfrm>
            <a:off x="548640" y="5184648"/>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Speed</a:t>
            </a:r>
            <a:endParaRPr lang="en-US" sz="1150" dirty="0"/>
          </a:p>
        </p:txBody>
      </p:sp>
      <p:sp>
        <p:nvSpPr>
          <p:cNvPr id="14" name="Shape 11"/>
          <p:cNvSpPr/>
          <p:nvPr/>
        </p:nvSpPr>
        <p:spPr>
          <a:xfrm>
            <a:off x="1600200" y="5221224"/>
            <a:ext cx="155448" cy="155448"/>
          </a:xfrm>
          <a:prstGeom prst="ellipse">
            <a:avLst/>
          </a:prstGeom>
          <a:solidFill>
            <a:schemeClr val="tx1"/>
          </a:solidFill>
          <a:ln w="9525">
            <a:solidFill>
              <a:schemeClr val="tx1"/>
            </a:solidFill>
            <a:prstDash val="solid"/>
          </a:ln>
        </p:spPr>
      </p:sp>
      <p:sp>
        <p:nvSpPr>
          <p:cNvPr id="15" name="Shape 12"/>
          <p:cNvSpPr/>
          <p:nvPr/>
        </p:nvSpPr>
        <p:spPr>
          <a:xfrm>
            <a:off x="1847088" y="5221224"/>
            <a:ext cx="155448" cy="155448"/>
          </a:xfrm>
          <a:prstGeom prst="ellipse">
            <a:avLst/>
          </a:prstGeom>
          <a:solidFill>
            <a:schemeClr val="tx1"/>
          </a:solidFill>
          <a:ln w="9525">
            <a:solidFill>
              <a:schemeClr val="tx1"/>
            </a:solidFill>
            <a:prstDash val="solid"/>
          </a:ln>
        </p:spPr>
      </p:sp>
      <p:sp>
        <p:nvSpPr>
          <p:cNvPr id="16" name="Shape 13"/>
          <p:cNvSpPr/>
          <p:nvPr/>
        </p:nvSpPr>
        <p:spPr>
          <a:xfrm>
            <a:off x="2093976" y="5221224"/>
            <a:ext cx="155448" cy="155448"/>
          </a:xfrm>
          <a:prstGeom prst="ellipse">
            <a:avLst/>
          </a:prstGeom>
          <a:solidFill>
            <a:schemeClr val="tx1"/>
          </a:solidFill>
          <a:ln w="9525">
            <a:solidFill>
              <a:schemeClr val="tx1"/>
            </a:solidFill>
            <a:prstDash val="solid"/>
          </a:ln>
        </p:spPr>
      </p:sp>
      <p:sp>
        <p:nvSpPr>
          <p:cNvPr id="17" name="Text 14"/>
          <p:cNvSpPr txBox="1"/>
          <p:nvPr/>
        </p:nvSpPr>
        <p:spPr>
          <a:xfrm>
            <a:off x="548640" y="5513832"/>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Control</a:t>
            </a:r>
            <a:endParaRPr lang="en-US" sz="1150" dirty="0"/>
          </a:p>
        </p:txBody>
      </p:sp>
      <p:sp>
        <p:nvSpPr>
          <p:cNvPr id="18" name="Shape 15"/>
          <p:cNvSpPr/>
          <p:nvPr/>
        </p:nvSpPr>
        <p:spPr>
          <a:xfrm>
            <a:off x="1600200" y="5550408"/>
            <a:ext cx="155448" cy="155448"/>
          </a:xfrm>
          <a:prstGeom prst="ellipse">
            <a:avLst/>
          </a:prstGeom>
          <a:solidFill>
            <a:schemeClr val="tx1"/>
          </a:solidFill>
          <a:ln w="9525">
            <a:solidFill>
              <a:schemeClr val="tx1"/>
            </a:solidFill>
            <a:prstDash val="solid"/>
          </a:ln>
        </p:spPr>
      </p:sp>
      <p:sp>
        <p:nvSpPr>
          <p:cNvPr id="19" name="Shape 16"/>
          <p:cNvSpPr/>
          <p:nvPr/>
        </p:nvSpPr>
        <p:spPr>
          <a:xfrm>
            <a:off x="1847088" y="5550408"/>
            <a:ext cx="155448" cy="155448"/>
          </a:xfrm>
          <a:prstGeom prst="ellipse">
            <a:avLst/>
          </a:prstGeom>
          <a:solidFill>
            <a:schemeClr val="tx1"/>
          </a:solidFill>
          <a:ln w="9525">
            <a:solidFill>
              <a:schemeClr val="tx1"/>
            </a:solidFill>
            <a:prstDash val="solid"/>
          </a:ln>
        </p:spPr>
      </p:sp>
      <p:sp>
        <p:nvSpPr>
          <p:cNvPr id="20" name="Shape 17"/>
          <p:cNvSpPr/>
          <p:nvPr/>
        </p:nvSpPr>
        <p:spPr>
          <a:xfrm>
            <a:off x="2093976" y="5550408"/>
            <a:ext cx="155448" cy="155448"/>
          </a:xfrm>
          <a:prstGeom prst="ellipse">
            <a:avLst/>
          </a:prstGeom>
          <a:solidFill>
            <a:schemeClr val="tx1"/>
          </a:solidFill>
          <a:ln w="9525">
            <a:solidFill>
              <a:schemeClr val="tx1"/>
            </a:solidFill>
            <a:prstDash val="solid"/>
          </a:ln>
        </p:spPr>
      </p:sp>
      <p:sp>
        <p:nvSpPr>
          <p:cNvPr id="21" name="Text 18"/>
          <p:cNvSpPr txBox="1"/>
          <p:nvPr/>
        </p:nvSpPr>
        <p:spPr>
          <a:xfrm>
            <a:off x="4379976" y="1691640"/>
            <a:ext cx="54864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02</a:t>
            </a:r>
            <a:endParaRPr lang="en-US" sz="1100" dirty="0"/>
          </a:p>
        </p:txBody>
      </p:sp>
      <p:sp>
        <p:nvSpPr>
          <p:cNvPr id="22" name="Text 19"/>
          <p:cNvSpPr txBox="1"/>
          <p:nvPr/>
        </p:nvSpPr>
        <p:spPr>
          <a:xfrm>
            <a:off x="4379976" y="1965960"/>
            <a:ext cx="3429000" cy="548640"/>
          </a:xfrm>
          <a:prstGeom prst="rect">
            <a:avLst/>
          </a:prstGeom>
          <a:noFill/>
          <a:ln/>
        </p:spPr>
        <p:txBody>
          <a:bodyPr wrap="square" lIns="0" tIns="0" rIns="0" bIns="0" rtlCol="0" anchor="t"/>
          <a:lstStyle/>
          <a:p>
            <a:pPr algn="l" indent="0" marL="0">
              <a:lnSpc>
                <a:spcPct val="112000"/>
              </a:lnSpc>
              <a:buNone/>
            </a:pPr>
            <a:r>
              <a:rPr lang="en-US" sz="2800" dirty="0">
                <a:solidFill>
                  <a:schemeClr val="tx1"/>
                </a:solidFill>
                <a:latin typeface="+mj-lt" pitchFamily="34" charset="0"/>
                <a:ea typeface="+mj-lt" pitchFamily="34" charset="-122"/>
                <a:cs typeface="+mj-lt" pitchFamily="34" charset="-120"/>
              </a:rPr>
              <a:t>Shortlist</a:t>
            </a:r>
            <a:endParaRPr lang="en-US" sz="2800" dirty="0"/>
          </a:p>
        </p:txBody>
      </p:sp>
      <p:sp>
        <p:nvSpPr>
          <p:cNvPr id="23" name="Text 20"/>
          <p:cNvSpPr txBox="1"/>
          <p:nvPr/>
        </p:nvSpPr>
        <p:spPr>
          <a:xfrm>
            <a:off x="4379976" y="2587752"/>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LOCAL SEARCHES FOR A STUDIO</a:t>
            </a:r>
            <a:endParaRPr lang="en-US" sz="950" dirty="0"/>
          </a:p>
        </p:txBody>
      </p:sp>
      <p:sp>
        <p:nvSpPr>
          <p:cNvPr id="24" name="Shape 21"/>
          <p:cNvSpPr/>
          <p:nvPr/>
        </p:nvSpPr>
        <p:spPr>
          <a:xfrm>
            <a:off x="4379976" y="2926080"/>
            <a:ext cx="3429000" cy="0"/>
          </a:xfrm>
          <a:prstGeom prst="line">
            <a:avLst/>
          </a:prstGeom>
          <a:noFill/>
          <a:ln w="9525">
            <a:solidFill>
              <a:schemeClr val="tx1"/>
            </a:solidFill>
            <a:prstDash val="solid"/>
          </a:ln>
        </p:spPr>
      </p:sp>
      <p:sp>
        <p:nvSpPr>
          <p:cNvPr id="25" name="Text 22"/>
          <p:cNvSpPr txBox="1"/>
          <p:nvPr/>
        </p:nvSpPr>
        <p:spPr>
          <a:xfrm>
            <a:off x="4379976" y="3063240"/>
            <a:ext cx="3429000" cy="685800"/>
          </a:xfrm>
          <a:prstGeom prst="rect">
            <a:avLst/>
          </a:prstGeom>
          <a:noFill/>
          <a:ln/>
        </p:spPr>
        <p:txBody>
          <a:bodyPr wrap="square" lIns="0" tIns="0" rIns="0" bIns="0" rtlCol="0" anchor="t"/>
          <a:lstStyle/>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“architect in Andheri West”</a:t>
            </a:r>
            <a:endParaRPr lang="en-US" sz="1400" dirty="0"/>
          </a:p>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“interior designer Mumbai”</a:t>
            </a:r>
            <a:endParaRPr lang="en-US" sz="1400" dirty="0"/>
          </a:p>
        </p:txBody>
      </p:sp>
      <p:sp>
        <p:nvSpPr>
          <p:cNvPr id="26" name="Text 23"/>
          <p:cNvSpPr txBox="1"/>
          <p:nvPr/>
        </p:nvSpPr>
        <p:spPr>
          <a:xfrm>
            <a:off x="4379976" y="3904488"/>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WINS</a:t>
            </a:r>
            <a:endParaRPr lang="en-US" sz="950" dirty="0"/>
          </a:p>
        </p:txBody>
      </p:sp>
      <p:sp>
        <p:nvSpPr>
          <p:cNvPr id="27" name="Text 24"/>
          <p:cNvSpPr txBox="1"/>
          <p:nvPr/>
        </p:nvSpPr>
        <p:spPr>
          <a:xfrm>
            <a:off x="4379976" y="4160520"/>
            <a:ext cx="3429000" cy="777240"/>
          </a:xfrm>
          <a:prstGeom prst="rect">
            <a:avLst/>
          </a:prstGeom>
          <a:noFill/>
          <a:ln/>
        </p:spPr>
        <p:txBody>
          <a:bodyPr wrap="square" lIns="0" tIns="0" rIns="0" bIns="0" rtlCol="0" anchor="t"/>
          <a:lstStyle/>
          <a:p>
            <a:pPr algn="l" indent="0" marL="0">
              <a:lnSpc>
                <a:spcPct val="118000"/>
              </a:lnSpc>
              <a:buNone/>
            </a:pPr>
            <a:r>
              <a:rPr lang="en-US" sz="1300" dirty="0">
                <a:solidFill>
                  <a:schemeClr val="tx2"/>
                </a:solidFill>
              </a:rPr>
              <a:t>A complete, verified profile, reviews, service and studio pages that match the search</a:t>
            </a:r>
            <a:endParaRPr lang="en-US" sz="1300" dirty="0"/>
          </a:p>
        </p:txBody>
      </p:sp>
      <p:sp>
        <p:nvSpPr>
          <p:cNvPr id="28" name="Shape 25"/>
          <p:cNvSpPr/>
          <p:nvPr/>
        </p:nvSpPr>
        <p:spPr>
          <a:xfrm>
            <a:off x="4379976" y="5056632"/>
            <a:ext cx="3429000" cy="0"/>
          </a:xfrm>
          <a:prstGeom prst="line">
            <a:avLst/>
          </a:prstGeom>
          <a:noFill/>
          <a:ln w="9525">
            <a:solidFill>
              <a:schemeClr val="accent5"/>
            </a:solidFill>
            <a:prstDash val="solid"/>
          </a:ln>
        </p:spPr>
      </p:sp>
      <p:sp>
        <p:nvSpPr>
          <p:cNvPr id="29" name="Text 26"/>
          <p:cNvSpPr txBox="1"/>
          <p:nvPr/>
        </p:nvSpPr>
        <p:spPr>
          <a:xfrm>
            <a:off x="4379976" y="5184648"/>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Speed</a:t>
            </a:r>
            <a:endParaRPr lang="en-US" sz="1150" dirty="0"/>
          </a:p>
        </p:txBody>
      </p:sp>
      <p:sp>
        <p:nvSpPr>
          <p:cNvPr id="30" name="Shape 27"/>
          <p:cNvSpPr/>
          <p:nvPr/>
        </p:nvSpPr>
        <p:spPr>
          <a:xfrm>
            <a:off x="5431536" y="5221224"/>
            <a:ext cx="155448" cy="155448"/>
          </a:xfrm>
          <a:prstGeom prst="ellipse">
            <a:avLst/>
          </a:prstGeom>
          <a:solidFill>
            <a:schemeClr val="tx1"/>
          </a:solidFill>
          <a:ln w="9525">
            <a:solidFill>
              <a:schemeClr val="tx1"/>
            </a:solidFill>
            <a:prstDash val="solid"/>
          </a:ln>
        </p:spPr>
      </p:sp>
      <p:sp>
        <p:nvSpPr>
          <p:cNvPr id="31" name="Shape 28"/>
          <p:cNvSpPr/>
          <p:nvPr/>
        </p:nvSpPr>
        <p:spPr>
          <a:xfrm>
            <a:off x="5678424" y="5221224"/>
            <a:ext cx="155448" cy="155448"/>
          </a:xfrm>
          <a:prstGeom prst="ellipse">
            <a:avLst/>
          </a:prstGeom>
          <a:solidFill>
            <a:schemeClr val="tx1"/>
          </a:solidFill>
          <a:ln w="9525">
            <a:solidFill>
              <a:schemeClr val="tx1"/>
            </a:solidFill>
            <a:prstDash val="solid"/>
          </a:ln>
        </p:spPr>
      </p:sp>
      <p:sp>
        <p:nvSpPr>
          <p:cNvPr id="32" name="Shape 29"/>
          <p:cNvSpPr/>
          <p:nvPr/>
        </p:nvSpPr>
        <p:spPr>
          <a:xfrm>
            <a:off x="5925312" y="5221224"/>
            <a:ext cx="155448" cy="155448"/>
          </a:xfrm>
          <a:prstGeom prst="ellipse">
            <a:avLst/>
          </a:prstGeom>
          <a:ln w="9525">
            <a:solidFill>
              <a:schemeClr val="tx1"/>
            </a:solidFill>
            <a:prstDash val="solid"/>
          </a:ln>
        </p:spPr>
      </p:sp>
      <p:sp>
        <p:nvSpPr>
          <p:cNvPr id="33" name="Text 30"/>
          <p:cNvSpPr txBox="1"/>
          <p:nvPr/>
        </p:nvSpPr>
        <p:spPr>
          <a:xfrm>
            <a:off x="4379976" y="5513832"/>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Control</a:t>
            </a:r>
            <a:endParaRPr lang="en-US" sz="1150" dirty="0"/>
          </a:p>
        </p:txBody>
      </p:sp>
      <p:sp>
        <p:nvSpPr>
          <p:cNvPr id="34" name="Shape 31"/>
          <p:cNvSpPr/>
          <p:nvPr/>
        </p:nvSpPr>
        <p:spPr>
          <a:xfrm>
            <a:off x="5431536" y="5550408"/>
            <a:ext cx="155448" cy="155448"/>
          </a:xfrm>
          <a:prstGeom prst="ellipse">
            <a:avLst/>
          </a:prstGeom>
          <a:solidFill>
            <a:schemeClr val="tx1"/>
          </a:solidFill>
          <a:ln w="9525">
            <a:solidFill>
              <a:schemeClr val="tx1"/>
            </a:solidFill>
            <a:prstDash val="solid"/>
          </a:ln>
        </p:spPr>
      </p:sp>
      <p:sp>
        <p:nvSpPr>
          <p:cNvPr id="35" name="Shape 32"/>
          <p:cNvSpPr/>
          <p:nvPr/>
        </p:nvSpPr>
        <p:spPr>
          <a:xfrm>
            <a:off x="5678424" y="5550408"/>
            <a:ext cx="155448" cy="155448"/>
          </a:xfrm>
          <a:prstGeom prst="ellipse">
            <a:avLst/>
          </a:prstGeom>
          <a:solidFill>
            <a:schemeClr val="tx1"/>
          </a:solidFill>
          <a:ln w="9525">
            <a:solidFill>
              <a:schemeClr val="tx1"/>
            </a:solidFill>
            <a:prstDash val="solid"/>
          </a:ln>
        </p:spPr>
      </p:sp>
      <p:sp>
        <p:nvSpPr>
          <p:cNvPr id="36" name="Shape 33"/>
          <p:cNvSpPr/>
          <p:nvPr/>
        </p:nvSpPr>
        <p:spPr>
          <a:xfrm>
            <a:off x="5925312" y="5550408"/>
            <a:ext cx="155448" cy="155448"/>
          </a:xfrm>
          <a:prstGeom prst="ellipse">
            <a:avLst/>
          </a:prstGeom>
          <a:ln w="9525">
            <a:solidFill>
              <a:schemeClr val="tx1"/>
            </a:solidFill>
            <a:prstDash val="solid"/>
          </a:ln>
        </p:spPr>
      </p:sp>
      <p:sp>
        <p:nvSpPr>
          <p:cNvPr id="37" name="Text 34"/>
          <p:cNvSpPr txBox="1"/>
          <p:nvPr/>
        </p:nvSpPr>
        <p:spPr>
          <a:xfrm>
            <a:off x="8211312" y="1691640"/>
            <a:ext cx="548640" cy="274320"/>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03</a:t>
            </a:r>
            <a:endParaRPr lang="en-US" sz="1100" dirty="0"/>
          </a:p>
        </p:txBody>
      </p:sp>
      <p:sp>
        <p:nvSpPr>
          <p:cNvPr id="38" name="Text 35"/>
          <p:cNvSpPr txBox="1"/>
          <p:nvPr/>
        </p:nvSpPr>
        <p:spPr>
          <a:xfrm>
            <a:off x="8211312" y="1965960"/>
            <a:ext cx="3429000" cy="548640"/>
          </a:xfrm>
          <a:prstGeom prst="rect">
            <a:avLst/>
          </a:prstGeom>
          <a:noFill/>
          <a:ln/>
        </p:spPr>
        <p:txBody>
          <a:bodyPr wrap="square" lIns="0" tIns="0" rIns="0" bIns="0" rtlCol="0" anchor="t"/>
          <a:lstStyle/>
          <a:p>
            <a:pPr algn="l" indent="0" marL="0">
              <a:lnSpc>
                <a:spcPct val="112000"/>
              </a:lnSpc>
              <a:buNone/>
            </a:pPr>
            <a:r>
              <a:rPr lang="en-US" sz="2800" dirty="0">
                <a:solidFill>
                  <a:schemeClr val="tx1"/>
                </a:solidFill>
                <a:latin typeface="+mj-lt" pitchFamily="34" charset="0"/>
                <a:ea typeface="+mj-lt" pitchFamily="34" charset="-122"/>
                <a:cs typeface="+mj-lt" pitchFamily="34" charset="-120"/>
              </a:rPr>
              <a:t>Discover</a:t>
            </a:r>
            <a:endParaRPr lang="en-US" sz="2800" dirty="0"/>
          </a:p>
        </p:txBody>
      </p:sp>
      <p:sp>
        <p:nvSpPr>
          <p:cNvPr id="39" name="Text 36"/>
          <p:cNvSpPr txBox="1"/>
          <p:nvPr/>
        </p:nvSpPr>
        <p:spPr>
          <a:xfrm>
            <a:off x="8211312" y="2587752"/>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SEARCHES FOR WORK, PLACES, IDEAS</a:t>
            </a:r>
            <a:endParaRPr lang="en-US" sz="950" dirty="0"/>
          </a:p>
        </p:txBody>
      </p:sp>
      <p:sp>
        <p:nvSpPr>
          <p:cNvPr id="40" name="Shape 37"/>
          <p:cNvSpPr/>
          <p:nvPr/>
        </p:nvSpPr>
        <p:spPr>
          <a:xfrm>
            <a:off x="8211312" y="2926080"/>
            <a:ext cx="3429000" cy="0"/>
          </a:xfrm>
          <a:prstGeom prst="line">
            <a:avLst/>
          </a:prstGeom>
          <a:noFill/>
          <a:ln w="9525">
            <a:solidFill>
              <a:schemeClr val="tx1"/>
            </a:solidFill>
            <a:prstDash val="solid"/>
          </a:ln>
        </p:spPr>
      </p:sp>
      <p:sp>
        <p:nvSpPr>
          <p:cNvPr id="41" name="Text 38"/>
          <p:cNvSpPr txBox="1"/>
          <p:nvPr/>
        </p:nvSpPr>
        <p:spPr>
          <a:xfrm>
            <a:off x="8211312" y="3063240"/>
            <a:ext cx="3429000" cy="685800"/>
          </a:xfrm>
          <a:prstGeom prst="rect">
            <a:avLst/>
          </a:prstGeom>
          <a:noFill/>
          <a:ln/>
        </p:spPr>
        <p:txBody>
          <a:bodyPr wrap="square" lIns="0" tIns="0" rIns="0" bIns="0" rtlCol="0" anchor="t"/>
          <a:lstStyle/>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“sandstone resort Rajasthan”</a:t>
            </a:r>
            <a:endParaRPr lang="en-US" sz="1400" dirty="0"/>
          </a:p>
          <a:p>
            <a:pPr algn="l" indent="0" marL="0">
              <a:lnSpc>
                <a:spcPct val="125000"/>
              </a:lnSpc>
              <a:buNone/>
            </a:pPr>
            <a:r>
              <a:rPr lang="en-US" sz="1400" i="1" dirty="0">
                <a:solidFill>
                  <a:schemeClr val="tx2"/>
                </a:solidFill>
                <a:latin typeface="+mj-lt" pitchFamily="34" charset="0"/>
                <a:ea typeface="+mj-lt" pitchFamily="34" charset="-122"/>
                <a:cs typeface="+mj-lt" pitchFamily="34" charset="-120"/>
              </a:rPr>
              <a:t>“second home interiors Dharampur”</a:t>
            </a:r>
            <a:endParaRPr lang="en-US" sz="1400" dirty="0"/>
          </a:p>
        </p:txBody>
      </p:sp>
      <p:sp>
        <p:nvSpPr>
          <p:cNvPr id="42" name="Text 39"/>
          <p:cNvSpPr txBox="1"/>
          <p:nvPr/>
        </p:nvSpPr>
        <p:spPr>
          <a:xfrm>
            <a:off x="8211312" y="3904488"/>
            <a:ext cx="3429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WINS</a:t>
            </a:r>
            <a:endParaRPr lang="en-US" sz="950" dirty="0"/>
          </a:p>
        </p:txBody>
      </p:sp>
      <p:sp>
        <p:nvSpPr>
          <p:cNvPr id="43" name="Text 40"/>
          <p:cNvSpPr txBox="1"/>
          <p:nvPr/>
        </p:nvSpPr>
        <p:spPr>
          <a:xfrm>
            <a:off x="8211312" y="4160520"/>
            <a:ext cx="3429000" cy="777240"/>
          </a:xfrm>
          <a:prstGeom prst="rect">
            <a:avLst/>
          </a:prstGeom>
          <a:noFill/>
          <a:ln/>
        </p:spPr>
        <p:txBody>
          <a:bodyPr wrap="square" lIns="0" tIns="0" rIns="0" bIns="0" rtlCol="0" anchor="t"/>
          <a:lstStyle/>
          <a:p>
            <a:pPr algn="l" indent="0" marL="0">
              <a:lnSpc>
                <a:spcPct val="118000"/>
              </a:lnSpc>
              <a:buNone/>
            </a:pPr>
            <a:r>
              <a:rPr lang="en-US" sz="1300" dirty="0">
                <a:solidFill>
                  <a:schemeClr val="tx2"/>
                </a:solidFill>
              </a:rPr>
              <a:t>Project pages with real facts, a written story and well-described images</a:t>
            </a:r>
            <a:endParaRPr lang="en-US" sz="1300" dirty="0"/>
          </a:p>
        </p:txBody>
      </p:sp>
      <p:sp>
        <p:nvSpPr>
          <p:cNvPr id="44" name="Shape 41"/>
          <p:cNvSpPr/>
          <p:nvPr/>
        </p:nvSpPr>
        <p:spPr>
          <a:xfrm>
            <a:off x="8211312" y="5056632"/>
            <a:ext cx="3429000" cy="0"/>
          </a:xfrm>
          <a:prstGeom prst="line">
            <a:avLst/>
          </a:prstGeom>
          <a:noFill/>
          <a:ln w="9525">
            <a:solidFill>
              <a:schemeClr val="accent5"/>
            </a:solidFill>
            <a:prstDash val="solid"/>
          </a:ln>
        </p:spPr>
      </p:sp>
      <p:sp>
        <p:nvSpPr>
          <p:cNvPr id="45" name="Text 42"/>
          <p:cNvSpPr txBox="1"/>
          <p:nvPr/>
        </p:nvSpPr>
        <p:spPr>
          <a:xfrm>
            <a:off x="8211312" y="5184648"/>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Speed</a:t>
            </a:r>
            <a:endParaRPr lang="en-US" sz="1150" dirty="0"/>
          </a:p>
        </p:txBody>
      </p:sp>
      <p:sp>
        <p:nvSpPr>
          <p:cNvPr id="46" name="Shape 43"/>
          <p:cNvSpPr/>
          <p:nvPr/>
        </p:nvSpPr>
        <p:spPr>
          <a:xfrm>
            <a:off x="9262872" y="5221224"/>
            <a:ext cx="155448" cy="155448"/>
          </a:xfrm>
          <a:prstGeom prst="ellipse">
            <a:avLst/>
          </a:prstGeom>
          <a:solidFill>
            <a:schemeClr val="tx1"/>
          </a:solidFill>
          <a:ln w="9525">
            <a:solidFill>
              <a:schemeClr val="tx1"/>
            </a:solidFill>
            <a:prstDash val="solid"/>
          </a:ln>
        </p:spPr>
      </p:sp>
      <p:sp>
        <p:nvSpPr>
          <p:cNvPr id="47" name="Shape 44"/>
          <p:cNvSpPr/>
          <p:nvPr/>
        </p:nvSpPr>
        <p:spPr>
          <a:xfrm>
            <a:off x="9509760" y="5221224"/>
            <a:ext cx="155448" cy="155448"/>
          </a:xfrm>
          <a:prstGeom prst="ellipse">
            <a:avLst/>
          </a:prstGeom>
          <a:ln w="9525">
            <a:solidFill>
              <a:schemeClr val="tx1"/>
            </a:solidFill>
            <a:prstDash val="solid"/>
          </a:ln>
        </p:spPr>
      </p:sp>
      <p:sp>
        <p:nvSpPr>
          <p:cNvPr id="48" name="Shape 45"/>
          <p:cNvSpPr/>
          <p:nvPr/>
        </p:nvSpPr>
        <p:spPr>
          <a:xfrm>
            <a:off x="9756648" y="5221224"/>
            <a:ext cx="155448" cy="155448"/>
          </a:xfrm>
          <a:prstGeom prst="ellipse">
            <a:avLst/>
          </a:prstGeom>
          <a:ln w="9525">
            <a:solidFill>
              <a:schemeClr val="tx1"/>
            </a:solidFill>
            <a:prstDash val="solid"/>
          </a:ln>
        </p:spPr>
      </p:sp>
      <p:sp>
        <p:nvSpPr>
          <p:cNvPr id="49" name="Text 46"/>
          <p:cNvSpPr txBox="1"/>
          <p:nvPr/>
        </p:nvSpPr>
        <p:spPr>
          <a:xfrm>
            <a:off x="8211312" y="5513832"/>
            <a:ext cx="1005840" cy="237744"/>
          </a:xfrm>
          <a:prstGeom prst="rect">
            <a:avLst/>
          </a:prstGeom>
          <a:noFill/>
          <a:ln/>
        </p:spPr>
        <p:txBody>
          <a:bodyPr wrap="square" lIns="0" tIns="0" rIns="0" bIns="0" rtlCol="0" anchor="t"/>
          <a:lstStyle/>
          <a:p>
            <a:pPr algn="l" indent="0" marL="0">
              <a:lnSpc>
                <a:spcPct val="112000"/>
              </a:lnSpc>
              <a:buNone/>
            </a:pPr>
            <a:r>
              <a:rPr lang="en-US" sz="1150" dirty="0">
                <a:solidFill>
                  <a:schemeClr val="accent2"/>
                </a:solidFill>
              </a:rPr>
              <a:t>Control</a:t>
            </a:r>
            <a:endParaRPr lang="en-US" sz="1150" dirty="0"/>
          </a:p>
        </p:txBody>
      </p:sp>
      <p:sp>
        <p:nvSpPr>
          <p:cNvPr id="50" name="Shape 47"/>
          <p:cNvSpPr/>
          <p:nvPr/>
        </p:nvSpPr>
        <p:spPr>
          <a:xfrm>
            <a:off x="9262872" y="5550408"/>
            <a:ext cx="155448" cy="155448"/>
          </a:xfrm>
          <a:prstGeom prst="ellipse">
            <a:avLst/>
          </a:prstGeom>
          <a:solidFill>
            <a:schemeClr val="tx1"/>
          </a:solidFill>
          <a:ln w="9525">
            <a:solidFill>
              <a:schemeClr val="tx1"/>
            </a:solidFill>
            <a:prstDash val="solid"/>
          </a:ln>
        </p:spPr>
      </p:sp>
      <p:sp>
        <p:nvSpPr>
          <p:cNvPr id="51" name="Shape 48"/>
          <p:cNvSpPr/>
          <p:nvPr/>
        </p:nvSpPr>
        <p:spPr>
          <a:xfrm>
            <a:off x="9509760" y="5550408"/>
            <a:ext cx="155448" cy="155448"/>
          </a:xfrm>
          <a:prstGeom prst="ellipse">
            <a:avLst/>
          </a:prstGeom>
          <a:solidFill>
            <a:schemeClr val="tx1"/>
          </a:solidFill>
          <a:ln w="9525">
            <a:solidFill>
              <a:schemeClr val="tx1"/>
            </a:solidFill>
            <a:prstDash val="solid"/>
          </a:ln>
        </p:spPr>
      </p:sp>
      <p:sp>
        <p:nvSpPr>
          <p:cNvPr id="52" name="Shape 49"/>
          <p:cNvSpPr/>
          <p:nvPr/>
        </p:nvSpPr>
        <p:spPr>
          <a:xfrm>
            <a:off x="9756648" y="5550408"/>
            <a:ext cx="155448" cy="155448"/>
          </a:xfrm>
          <a:prstGeom prst="ellipse">
            <a:avLst/>
          </a:prstGeom>
          <a:ln w="9525">
            <a:solidFill>
              <a:schemeClr val="tx1"/>
            </a:solidFill>
            <a:prstDash val="solid"/>
          </a:ln>
        </p:spPr>
      </p:sp>
      <p:sp>
        <p:nvSpPr>
          <p:cNvPr id="53" name="Text 50"/>
          <p:cNvSpPr txBox="1"/>
          <p:nvPr/>
        </p:nvSpPr>
        <p:spPr>
          <a:xfrm>
            <a:off x="548640" y="5989320"/>
            <a:ext cx="11094415" cy="274320"/>
          </a:xfrm>
          <a:prstGeom prst="rect">
            <a:avLst/>
          </a:prstGeom>
          <a:noFill/>
          <a:ln/>
        </p:spPr>
        <p:txBody>
          <a:bodyPr wrap="square" lIns="0" tIns="0" rIns="0" bIns="0" rtlCol="0" anchor="t"/>
          <a:lstStyle/>
          <a:p>
            <a:pPr algn="l" indent="0" marL="0">
              <a:lnSpc>
                <a:spcPct val="112000"/>
              </a:lnSpc>
              <a:buNone/>
            </a:pPr>
            <a:r>
              <a:rPr lang="en-US" sz="1150" i="1" dirty="0">
                <a:solidFill>
                  <a:schemeClr val="accent2"/>
                </a:solidFill>
              </a:rPr>
              <a:t>Early progress shows first in “Confirm”. “Shortlist” and “Discover” compound over months. Example searches are illustrations, to be validated.</a:t>
            </a:r>
            <a:endParaRPr lang="en-US" sz="11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06 — SEO IMPLEMENTATION</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What will actually be implemented</a:t>
            </a:r>
            <a:endParaRPr lang="en-US" sz="3200" dirty="0"/>
          </a:p>
        </p:txBody>
      </p:sp>
      <p:sp>
        <p:nvSpPr>
          <p:cNvPr id="5" name="Text 2"/>
          <p:cNvSpPr txBox="1"/>
          <p:nvPr/>
        </p:nvSpPr>
        <p:spPr>
          <a:xfrm>
            <a:off x="548640" y="1627632"/>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01</a:t>
            </a:r>
            <a:endParaRPr lang="en-US" sz="1100" dirty="0"/>
          </a:p>
        </p:txBody>
      </p:sp>
      <p:sp>
        <p:nvSpPr>
          <p:cNvPr id="6" name="Text 3"/>
          <p:cNvSpPr txBox="1"/>
          <p:nvPr/>
        </p:nvSpPr>
        <p:spPr>
          <a:xfrm>
            <a:off x="548640" y="1883664"/>
            <a:ext cx="2596896" cy="411480"/>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mj-lt" pitchFamily="34" charset="0"/>
                <a:ea typeface="+mj-lt" pitchFamily="34" charset="-122"/>
                <a:cs typeface="+mj-lt" pitchFamily="34" charset="-120"/>
              </a:rPr>
              <a:t>Technical</a:t>
            </a:r>
            <a:endParaRPr lang="en-US" sz="1900" dirty="0"/>
          </a:p>
        </p:txBody>
      </p:sp>
      <p:sp>
        <p:nvSpPr>
          <p:cNvPr id="7" name="Shape 4"/>
          <p:cNvSpPr/>
          <p:nvPr/>
        </p:nvSpPr>
        <p:spPr>
          <a:xfrm>
            <a:off x="548640" y="2468880"/>
            <a:ext cx="2596896" cy="0"/>
          </a:xfrm>
          <a:prstGeom prst="line">
            <a:avLst/>
          </a:prstGeom>
          <a:noFill/>
          <a:ln w="9525">
            <a:solidFill>
              <a:schemeClr val="tx1"/>
            </a:solidFill>
            <a:prstDash val="solid"/>
          </a:ln>
        </p:spPr>
      </p:sp>
      <p:sp>
        <p:nvSpPr>
          <p:cNvPr id="8" name="Text 5"/>
          <p:cNvSpPr txBox="1"/>
          <p:nvPr/>
        </p:nvSpPr>
        <p:spPr>
          <a:xfrm>
            <a:off x="548640" y="2578608"/>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Indexing switched on at launch</a:t>
            </a:r>
            <a:endParaRPr lang="en-US" sz="1350" dirty="0"/>
          </a:p>
        </p:txBody>
      </p:sp>
      <p:sp>
        <p:nvSpPr>
          <p:cNvPr id="9" name="Shape 6"/>
          <p:cNvSpPr/>
          <p:nvPr/>
        </p:nvSpPr>
        <p:spPr>
          <a:xfrm>
            <a:off x="548640" y="3255264"/>
            <a:ext cx="2596896" cy="0"/>
          </a:xfrm>
          <a:prstGeom prst="line">
            <a:avLst/>
          </a:prstGeom>
          <a:noFill/>
          <a:ln w="9525">
            <a:solidFill>
              <a:schemeClr val="accent5"/>
            </a:solidFill>
            <a:prstDash val="solid"/>
          </a:ln>
        </p:spPr>
      </p:sp>
      <p:sp>
        <p:nvSpPr>
          <p:cNvPr id="10" name="Text 7"/>
          <p:cNvSpPr txBox="1"/>
          <p:nvPr/>
        </p:nvSpPr>
        <p:spPr>
          <a:xfrm>
            <a:off x="548640" y="3364992"/>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Search Console verified, sitemap submitted</a:t>
            </a:r>
            <a:endParaRPr lang="en-US" sz="1350" dirty="0"/>
          </a:p>
        </p:txBody>
      </p:sp>
      <p:sp>
        <p:nvSpPr>
          <p:cNvPr id="11" name="Shape 8"/>
          <p:cNvSpPr/>
          <p:nvPr/>
        </p:nvSpPr>
        <p:spPr>
          <a:xfrm>
            <a:off x="548640" y="4041648"/>
            <a:ext cx="2596896" cy="0"/>
          </a:xfrm>
          <a:prstGeom prst="line">
            <a:avLst/>
          </a:prstGeom>
          <a:noFill/>
          <a:ln w="9525">
            <a:solidFill>
              <a:schemeClr val="accent5"/>
            </a:solidFill>
            <a:prstDash val="solid"/>
          </a:ln>
        </p:spPr>
      </p:sp>
      <p:sp>
        <p:nvSpPr>
          <p:cNvPr id="12" name="Text 9"/>
          <p:cNvSpPr txBox="1"/>
          <p:nvPr/>
        </p:nvSpPr>
        <p:spPr>
          <a:xfrm>
            <a:off x="548640" y="4151376"/>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One domain; old links redirected</a:t>
            </a:r>
            <a:endParaRPr lang="en-US" sz="1350" dirty="0"/>
          </a:p>
        </p:txBody>
      </p:sp>
      <p:sp>
        <p:nvSpPr>
          <p:cNvPr id="13" name="Shape 10"/>
          <p:cNvSpPr/>
          <p:nvPr/>
        </p:nvSpPr>
        <p:spPr>
          <a:xfrm>
            <a:off x="548640" y="4828032"/>
            <a:ext cx="2596896" cy="0"/>
          </a:xfrm>
          <a:prstGeom prst="line">
            <a:avLst/>
          </a:prstGeom>
          <a:noFill/>
          <a:ln w="9525">
            <a:solidFill>
              <a:schemeClr val="accent5"/>
            </a:solidFill>
            <a:prstDash val="solid"/>
          </a:ln>
        </p:spPr>
      </p:sp>
      <p:sp>
        <p:nvSpPr>
          <p:cNvPr id="14" name="Text 11"/>
          <p:cNvSpPr txBox="1"/>
          <p:nvPr/>
        </p:nvSpPr>
        <p:spPr>
          <a:xfrm>
            <a:off x="548640" y="4937760"/>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Structured data for studio, site and projects</a:t>
            </a:r>
            <a:endParaRPr lang="en-US" sz="1350" dirty="0"/>
          </a:p>
        </p:txBody>
      </p:sp>
      <p:sp>
        <p:nvSpPr>
          <p:cNvPr id="15" name="Shape 12"/>
          <p:cNvSpPr/>
          <p:nvPr/>
        </p:nvSpPr>
        <p:spPr>
          <a:xfrm>
            <a:off x="548640" y="5614416"/>
            <a:ext cx="2596896" cy="0"/>
          </a:xfrm>
          <a:prstGeom prst="line">
            <a:avLst/>
          </a:prstGeom>
          <a:noFill/>
          <a:ln w="9525">
            <a:solidFill>
              <a:schemeClr val="accent5"/>
            </a:solidFill>
            <a:prstDash val="solid"/>
          </a:ln>
        </p:spPr>
      </p:sp>
      <p:sp>
        <p:nvSpPr>
          <p:cNvPr id="16" name="Text 13"/>
          <p:cNvSpPr txBox="1"/>
          <p:nvPr/>
        </p:nvSpPr>
        <p:spPr>
          <a:xfrm>
            <a:off x="548640" y="5724144"/>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Faster mobile loading on the home page</a:t>
            </a:r>
            <a:endParaRPr lang="en-US" sz="1350" dirty="0"/>
          </a:p>
        </p:txBody>
      </p:sp>
      <p:sp>
        <p:nvSpPr>
          <p:cNvPr id="17" name="Text 14"/>
          <p:cNvSpPr txBox="1"/>
          <p:nvPr/>
        </p:nvSpPr>
        <p:spPr>
          <a:xfrm>
            <a:off x="3380537" y="1627632"/>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02</a:t>
            </a:r>
            <a:endParaRPr lang="en-US" sz="1100" dirty="0"/>
          </a:p>
        </p:txBody>
      </p:sp>
      <p:sp>
        <p:nvSpPr>
          <p:cNvPr id="18" name="Text 15"/>
          <p:cNvSpPr txBox="1"/>
          <p:nvPr/>
        </p:nvSpPr>
        <p:spPr>
          <a:xfrm>
            <a:off x="3380537" y="1883664"/>
            <a:ext cx="2596896" cy="411480"/>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mj-lt" pitchFamily="34" charset="0"/>
                <a:ea typeface="+mj-lt" pitchFamily="34" charset="-122"/>
                <a:cs typeface="+mj-lt" pitchFamily="34" charset="-120"/>
              </a:rPr>
              <a:t>Pages</a:t>
            </a:r>
            <a:endParaRPr lang="en-US" sz="1900" dirty="0"/>
          </a:p>
        </p:txBody>
      </p:sp>
      <p:sp>
        <p:nvSpPr>
          <p:cNvPr id="19" name="Shape 16"/>
          <p:cNvSpPr/>
          <p:nvPr/>
        </p:nvSpPr>
        <p:spPr>
          <a:xfrm>
            <a:off x="3380537" y="2468880"/>
            <a:ext cx="2596896" cy="0"/>
          </a:xfrm>
          <a:prstGeom prst="line">
            <a:avLst/>
          </a:prstGeom>
          <a:noFill/>
          <a:ln w="9525">
            <a:solidFill>
              <a:schemeClr val="tx1"/>
            </a:solidFill>
            <a:prstDash val="solid"/>
          </a:ln>
        </p:spPr>
      </p:sp>
      <p:sp>
        <p:nvSpPr>
          <p:cNvPr id="20" name="Text 17"/>
          <p:cNvSpPr txBox="1"/>
          <p:nvPr/>
        </p:nvSpPr>
        <p:spPr>
          <a:xfrm>
            <a:off x="3380537" y="2578608"/>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Titles and descriptions mapped to real searches</a:t>
            </a:r>
            <a:endParaRPr lang="en-US" sz="1350" dirty="0"/>
          </a:p>
        </p:txBody>
      </p:sp>
      <p:sp>
        <p:nvSpPr>
          <p:cNvPr id="21" name="Shape 18"/>
          <p:cNvSpPr/>
          <p:nvPr/>
        </p:nvSpPr>
        <p:spPr>
          <a:xfrm>
            <a:off x="3380537" y="3255264"/>
            <a:ext cx="2596896" cy="0"/>
          </a:xfrm>
          <a:prstGeom prst="line">
            <a:avLst/>
          </a:prstGeom>
          <a:noFill/>
          <a:ln w="9525">
            <a:solidFill>
              <a:schemeClr val="accent5"/>
            </a:solidFill>
            <a:prstDash val="solid"/>
          </a:ln>
        </p:spPr>
      </p:sp>
      <p:sp>
        <p:nvSpPr>
          <p:cNvPr id="22" name="Text 19"/>
          <p:cNvSpPr txBox="1"/>
          <p:nvPr/>
        </p:nvSpPr>
        <p:spPr>
          <a:xfrm>
            <a:off x="3380537" y="3364992"/>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Clean headings and page structure</a:t>
            </a:r>
            <a:endParaRPr lang="en-US" sz="1350" dirty="0"/>
          </a:p>
        </p:txBody>
      </p:sp>
      <p:sp>
        <p:nvSpPr>
          <p:cNvPr id="23" name="Shape 20"/>
          <p:cNvSpPr/>
          <p:nvPr/>
        </p:nvSpPr>
        <p:spPr>
          <a:xfrm>
            <a:off x="3380537" y="4041648"/>
            <a:ext cx="2596896" cy="0"/>
          </a:xfrm>
          <a:prstGeom prst="line">
            <a:avLst/>
          </a:prstGeom>
          <a:noFill/>
          <a:ln w="9525">
            <a:solidFill>
              <a:schemeClr val="accent5"/>
            </a:solidFill>
            <a:prstDash val="solid"/>
          </a:ln>
        </p:spPr>
      </p:sp>
      <p:sp>
        <p:nvSpPr>
          <p:cNvPr id="24" name="Text 21"/>
          <p:cNvSpPr txBox="1"/>
          <p:nvPr/>
        </p:nvSpPr>
        <p:spPr>
          <a:xfrm>
            <a:off x="3380537" y="4151376"/>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Service pages: Architecture, Interiors</a:t>
            </a:r>
            <a:endParaRPr lang="en-US" sz="1350" dirty="0"/>
          </a:p>
        </p:txBody>
      </p:sp>
      <p:sp>
        <p:nvSpPr>
          <p:cNvPr id="25" name="Shape 22"/>
          <p:cNvSpPr/>
          <p:nvPr/>
        </p:nvSpPr>
        <p:spPr>
          <a:xfrm>
            <a:off x="3380537" y="4828032"/>
            <a:ext cx="2596896" cy="0"/>
          </a:xfrm>
          <a:prstGeom prst="line">
            <a:avLst/>
          </a:prstGeom>
          <a:noFill/>
          <a:ln w="9525">
            <a:solidFill>
              <a:schemeClr val="accent5"/>
            </a:solidFill>
            <a:prstDash val="solid"/>
          </a:ln>
        </p:spPr>
      </p:sp>
      <p:sp>
        <p:nvSpPr>
          <p:cNvPr id="26" name="Text 23"/>
          <p:cNvSpPr txBox="1"/>
          <p:nvPr/>
        </p:nvSpPr>
        <p:spPr>
          <a:xfrm>
            <a:off x="3380537" y="4937760"/>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Links between related projects and services</a:t>
            </a:r>
            <a:endParaRPr lang="en-US" sz="1350" dirty="0"/>
          </a:p>
        </p:txBody>
      </p:sp>
      <p:sp>
        <p:nvSpPr>
          <p:cNvPr id="27" name="Shape 24"/>
          <p:cNvSpPr/>
          <p:nvPr/>
        </p:nvSpPr>
        <p:spPr>
          <a:xfrm>
            <a:off x="3380537" y="5614416"/>
            <a:ext cx="2596896" cy="0"/>
          </a:xfrm>
          <a:prstGeom prst="line">
            <a:avLst/>
          </a:prstGeom>
          <a:noFill/>
          <a:ln w="9525">
            <a:solidFill>
              <a:schemeClr val="accent5"/>
            </a:solidFill>
            <a:prstDash val="solid"/>
          </a:ln>
        </p:spPr>
      </p:sp>
      <p:sp>
        <p:nvSpPr>
          <p:cNvPr id="28" name="Text 25"/>
          <p:cNvSpPr txBox="1"/>
          <p:nvPr/>
        </p:nvSpPr>
        <p:spPr>
          <a:xfrm>
            <a:off x="3380537" y="5724144"/>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Enquiries, calls and emails tracked</a:t>
            </a:r>
            <a:endParaRPr lang="en-US" sz="1350" dirty="0"/>
          </a:p>
        </p:txBody>
      </p:sp>
      <p:sp>
        <p:nvSpPr>
          <p:cNvPr id="29" name="Text 26"/>
          <p:cNvSpPr txBox="1"/>
          <p:nvPr/>
        </p:nvSpPr>
        <p:spPr>
          <a:xfrm>
            <a:off x="6212434" y="1627632"/>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03</a:t>
            </a:r>
            <a:endParaRPr lang="en-US" sz="1100" dirty="0"/>
          </a:p>
        </p:txBody>
      </p:sp>
      <p:sp>
        <p:nvSpPr>
          <p:cNvPr id="30" name="Text 27"/>
          <p:cNvSpPr txBox="1"/>
          <p:nvPr/>
        </p:nvSpPr>
        <p:spPr>
          <a:xfrm>
            <a:off x="6212434" y="1883664"/>
            <a:ext cx="2596896" cy="411480"/>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mj-lt" pitchFamily="34" charset="0"/>
                <a:ea typeface="+mj-lt" pitchFamily="34" charset="-122"/>
                <a:cs typeface="+mj-lt" pitchFamily="34" charset="-120"/>
              </a:rPr>
              <a:t>Portfolio</a:t>
            </a:r>
            <a:endParaRPr lang="en-US" sz="1900" dirty="0"/>
          </a:p>
        </p:txBody>
      </p:sp>
      <p:sp>
        <p:nvSpPr>
          <p:cNvPr id="31" name="Shape 28"/>
          <p:cNvSpPr/>
          <p:nvPr/>
        </p:nvSpPr>
        <p:spPr>
          <a:xfrm>
            <a:off x="6212434" y="2468880"/>
            <a:ext cx="2596896" cy="0"/>
          </a:xfrm>
          <a:prstGeom prst="line">
            <a:avLst/>
          </a:prstGeom>
          <a:noFill/>
          <a:ln w="9525">
            <a:solidFill>
              <a:schemeClr val="tx1"/>
            </a:solidFill>
            <a:prstDash val="solid"/>
          </a:ln>
        </p:spPr>
      </p:sp>
      <p:sp>
        <p:nvSpPr>
          <p:cNvPr id="32" name="Text 29"/>
          <p:cNvSpPr txBox="1"/>
          <p:nvPr/>
        </p:nvSpPr>
        <p:spPr>
          <a:xfrm>
            <a:off x="6212434" y="2578608"/>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Facts per project: place, type, status, year</a:t>
            </a:r>
            <a:endParaRPr lang="en-US" sz="1350" dirty="0"/>
          </a:p>
        </p:txBody>
      </p:sp>
      <p:sp>
        <p:nvSpPr>
          <p:cNvPr id="33" name="Shape 30"/>
          <p:cNvSpPr/>
          <p:nvPr/>
        </p:nvSpPr>
        <p:spPr>
          <a:xfrm>
            <a:off x="6212434" y="3255264"/>
            <a:ext cx="2596896" cy="0"/>
          </a:xfrm>
          <a:prstGeom prst="line">
            <a:avLst/>
          </a:prstGeom>
          <a:noFill/>
          <a:ln w="9525">
            <a:solidFill>
              <a:schemeClr val="accent5"/>
            </a:solidFill>
            <a:prstDash val="solid"/>
          </a:ln>
        </p:spPr>
      </p:sp>
      <p:sp>
        <p:nvSpPr>
          <p:cNvPr id="34" name="Text 31"/>
          <p:cNvSpPr txBox="1"/>
          <p:nvPr/>
        </p:nvSpPr>
        <p:spPr>
          <a:xfrm>
            <a:off x="6212434" y="3364992"/>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A short written story for each project</a:t>
            </a:r>
            <a:endParaRPr lang="en-US" sz="1350" dirty="0"/>
          </a:p>
        </p:txBody>
      </p:sp>
      <p:sp>
        <p:nvSpPr>
          <p:cNvPr id="35" name="Shape 32"/>
          <p:cNvSpPr/>
          <p:nvPr/>
        </p:nvSpPr>
        <p:spPr>
          <a:xfrm>
            <a:off x="6212434" y="4041648"/>
            <a:ext cx="2596896" cy="0"/>
          </a:xfrm>
          <a:prstGeom prst="line">
            <a:avLst/>
          </a:prstGeom>
          <a:noFill/>
          <a:ln w="9525">
            <a:solidFill>
              <a:schemeClr val="accent5"/>
            </a:solidFill>
            <a:prstDash val="solid"/>
          </a:ln>
        </p:spPr>
      </p:sp>
      <p:sp>
        <p:nvSpPr>
          <p:cNvPr id="36" name="Text 33"/>
          <p:cNvSpPr txBox="1"/>
          <p:nvPr/>
        </p:nvSpPr>
        <p:spPr>
          <a:xfrm>
            <a:off x="6212434" y="4151376"/>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Descriptive image names and alt text</a:t>
            </a:r>
            <a:endParaRPr lang="en-US" sz="1350" dirty="0"/>
          </a:p>
        </p:txBody>
      </p:sp>
      <p:sp>
        <p:nvSpPr>
          <p:cNvPr id="37" name="Shape 34"/>
          <p:cNvSpPr/>
          <p:nvPr/>
        </p:nvSpPr>
        <p:spPr>
          <a:xfrm>
            <a:off x="6212434" y="4828032"/>
            <a:ext cx="2596896" cy="0"/>
          </a:xfrm>
          <a:prstGeom prst="line">
            <a:avLst/>
          </a:prstGeom>
          <a:noFill/>
          <a:ln w="9525">
            <a:solidFill>
              <a:schemeClr val="accent5"/>
            </a:solidFill>
            <a:prstDash val="solid"/>
          </a:ln>
        </p:spPr>
      </p:sp>
      <p:sp>
        <p:nvSpPr>
          <p:cNvPr id="38" name="Text 35"/>
          <p:cNvSpPr txBox="1"/>
          <p:nvPr/>
        </p:nvSpPr>
        <p:spPr>
          <a:xfrm>
            <a:off x="6212434" y="4937760"/>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Photographers credited, renders labelled</a:t>
            </a:r>
            <a:endParaRPr lang="en-US" sz="1350" dirty="0"/>
          </a:p>
        </p:txBody>
      </p:sp>
      <p:sp>
        <p:nvSpPr>
          <p:cNvPr id="39" name="Shape 36"/>
          <p:cNvSpPr/>
          <p:nvPr/>
        </p:nvSpPr>
        <p:spPr>
          <a:xfrm>
            <a:off x="6212434" y="5614416"/>
            <a:ext cx="2596896" cy="0"/>
          </a:xfrm>
          <a:prstGeom prst="line">
            <a:avLst/>
          </a:prstGeom>
          <a:noFill/>
          <a:ln w="9525">
            <a:solidFill>
              <a:schemeClr val="accent5"/>
            </a:solidFill>
            <a:prstDash val="solid"/>
          </a:ln>
        </p:spPr>
      </p:sp>
      <p:sp>
        <p:nvSpPr>
          <p:cNvPr id="40" name="Text 37"/>
          <p:cNvSpPr txBox="1"/>
          <p:nvPr/>
        </p:nvSpPr>
        <p:spPr>
          <a:xfrm>
            <a:off x="6212434" y="5724144"/>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A publishing routine for new work</a:t>
            </a:r>
            <a:endParaRPr lang="en-US" sz="1350" dirty="0"/>
          </a:p>
        </p:txBody>
      </p:sp>
      <p:sp>
        <p:nvSpPr>
          <p:cNvPr id="41" name="Text 38"/>
          <p:cNvSpPr txBox="1"/>
          <p:nvPr/>
        </p:nvSpPr>
        <p:spPr>
          <a:xfrm>
            <a:off x="9044330" y="1627632"/>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04</a:t>
            </a:r>
            <a:endParaRPr lang="en-US" sz="1100" dirty="0"/>
          </a:p>
        </p:txBody>
      </p:sp>
      <p:sp>
        <p:nvSpPr>
          <p:cNvPr id="42" name="Text 39"/>
          <p:cNvSpPr txBox="1"/>
          <p:nvPr/>
        </p:nvSpPr>
        <p:spPr>
          <a:xfrm>
            <a:off x="9044330" y="1883664"/>
            <a:ext cx="2596896" cy="411480"/>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mj-lt" pitchFamily="34" charset="0"/>
                <a:ea typeface="+mj-lt" pitchFamily="34" charset="-122"/>
                <a:cs typeface="+mj-lt" pitchFamily="34" charset="-120"/>
              </a:rPr>
              <a:t>Local &amp; authority</a:t>
            </a:r>
            <a:endParaRPr lang="en-US" sz="1900" dirty="0"/>
          </a:p>
        </p:txBody>
      </p:sp>
      <p:sp>
        <p:nvSpPr>
          <p:cNvPr id="43" name="Shape 40"/>
          <p:cNvSpPr/>
          <p:nvPr/>
        </p:nvSpPr>
        <p:spPr>
          <a:xfrm>
            <a:off x="9044330" y="2468880"/>
            <a:ext cx="2596896" cy="0"/>
          </a:xfrm>
          <a:prstGeom prst="line">
            <a:avLst/>
          </a:prstGeom>
          <a:noFill/>
          <a:ln w="9525">
            <a:solidFill>
              <a:schemeClr val="tx1"/>
            </a:solidFill>
            <a:prstDash val="solid"/>
          </a:ln>
        </p:spPr>
      </p:sp>
      <p:sp>
        <p:nvSpPr>
          <p:cNvPr id="44" name="Text 41"/>
          <p:cNvSpPr txBox="1"/>
          <p:nvPr/>
        </p:nvSpPr>
        <p:spPr>
          <a:xfrm>
            <a:off x="9044330" y="2578608"/>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Business Profile verified and complete</a:t>
            </a:r>
            <a:endParaRPr lang="en-US" sz="1350" dirty="0"/>
          </a:p>
        </p:txBody>
      </p:sp>
      <p:sp>
        <p:nvSpPr>
          <p:cNvPr id="45" name="Shape 42"/>
          <p:cNvSpPr/>
          <p:nvPr/>
        </p:nvSpPr>
        <p:spPr>
          <a:xfrm>
            <a:off x="9044330" y="3255264"/>
            <a:ext cx="2596896" cy="0"/>
          </a:xfrm>
          <a:prstGeom prst="line">
            <a:avLst/>
          </a:prstGeom>
          <a:noFill/>
          <a:ln w="9525">
            <a:solidFill>
              <a:schemeClr val="accent5"/>
            </a:solidFill>
            <a:prstDash val="solid"/>
          </a:ln>
        </p:spPr>
      </p:sp>
      <p:sp>
        <p:nvSpPr>
          <p:cNvPr id="46" name="Text 43"/>
          <p:cNvSpPr txBox="1"/>
          <p:nvPr/>
        </p:nvSpPr>
        <p:spPr>
          <a:xfrm>
            <a:off x="9044330" y="3364992"/>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Same name, address, phone everywhere</a:t>
            </a:r>
            <a:endParaRPr lang="en-US" sz="1350" dirty="0"/>
          </a:p>
        </p:txBody>
      </p:sp>
      <p:sp>
        <p:nvSpPr>
          <p:cNvPr id="47" name="Shape 44"/>
          <p:cNvSpPr/>
          <p:nvPr/>
        </p:nvSpPr>
        <p:spPr>
          <a:xfrm>
            <a:off x="9044330" y="4041648"/>
            <a:ext cx="2596896" cy="0"/>
          </a:xfrm>
          <a:prstGeom prst="line">
            <a:avLst/>
          </a:prstGeom>
          <a:noFill/>
          <a:ln w="9525">
            <a:solidFill>
              <a:schemeClr val="accent5"/>
            </a:solidFill>
            <a:prstDash val="solid"/>
          </a:ln>
        </p:spPr>
      </p:sp>
      <p:sp>
        <p:nvSpPr>
          <p:cNvPr id="48" name="Text 45"/>
          <p:cNvSpPr txBox="1"/>
          <p:nvPr/>
        </p:nvSpPr>
        <p:spPr>
          <a:xfrm>
            <a:off x="9044330" y="4151376"/>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Review requests within Google’s rules</a:t>
            </a:r>
            <a:endParaRPr lang="en-US" sz="1350" dirty="0"/>
          </a:p>
        </p:txBody>
      </p:sp>
      <p:sp>
        <p:nvSpPr>
          <p:cNvPr id="49" name="Shape 46"/>
          <p:cNvSpPr/>
          <p:nvPr/>
        </p:nvSpPr>
        <p:spPr>
          <a:xfrm>
            <a:off x="9044330" y="4828032"/>
            <a:ext cx="2596896" cy="0"/>
          </a:xfrm>
          <a:prstGeom prst="line">
            <a:avLst/>
          </a:prstGeom>
          <a:noFill/>
          <a:ln w="9525">
            <a:solidFill>
              <a:schemeClr val="accent5"/>
            </a:solidFill>
            <a:prstDash val="solid"/>
          </a:ln>
        </p:spPr>
      </p:sp>
      <p:sp>
        <p:nvSpPr>
          <p:cNvPr id="50" name="Text 47"/>
          <p:cNvSpPr txBox="1"/>
          <p:nvPr/>
        </p:nvSpPr>
        <p:spPr>
          <a:xfrm>
            <a:off x="9044330" y="4937760"/>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Archello and Architizer profiles</a:t>
            </a:r>
            <a:endParaRPr lang="en-US" sz="1350" dirty="0"/>
          </a:p>
        </p:txBody>
      </p:sp>
      <p:sp>
        <p:nvSpPr>
          <p:cNvPr id="51" name="Shape 48"/>
          <p:cNvSpPr/>
          <p:nvPr/>
        </p:nvSpPr>
        <p:spPr>
          <a:xfrm>
            <a:off x="9044330" y="5614416"/>
            <a:ext cx="2596896" cy="0"/>
          </a:xfrm>
          <a:prstGeom prst="line">
            <a:avLst/>
          </a:prstGeom>
          <a:noFill/>
          <a:ln w="9525">
            <a:solidFill>
              <a:schemeClr val="accent5"/>
            </a:solidFill>
            <a:prstDash val="solid"/>
          </a:ln>
        </p:spPr>
      </p:sp>
      <p:sp>
        <p:nvSpPr>
          <p:cNvPr id="52" name="Text 49"/>
          <p:cNvSpPr txBox="1"/>
          <p:nvPr/>
        </p:nvSpPr>
        <p:spPr>
          <a:xfrm>
            <a:off x="9044330" y="5724144"/>
            <a:ext cx="2596896" cy="621792"/>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Submission kits for publications</a:t>
            </a:r>
            <a:endParaRPr lang="en-US" sz="13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07 — FROM WORK TO IMPACT</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Work, what it produces, why it matters</a:t>
            </a:r>
            <a:endParaRPr lang="en-US" sz="3200" dirty="0"/>
          </a:p>
        </p:txBody>
      </p:sp>
      <p:sp>
        <p:nvSpPr>
          <p:cNvPr id="5" name="Text 2"/>
          <p:cNvSpPr txBox="1"/>
          <p:nvPr/>
        </p:nvSpPr>
        <p:spPr>
          <a:xfrm>
            <a:off x="548640" y="1572768"/>
            <a:ext cx="269748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WORK</a:t>
            </a:r>
            <a:endParaRPr lang="en-US" sz="950" dirty="0"/>
          </a:p>
        </p:txBody>
      </p:sp>
      <p:sp>
        <p:nvSpPr>
          <p:cNvPr id="6" name="Text 3"/>
          <p:cNvSpPr txBox="1"/>
          <p:nvPr/>
        </p:nvSpPr>
        <p:spPr>
          <a:xfrm>
            <a:off x="3611880" y="1572768"/>
            <a:ext cx="35661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IMMEDIATE OUTPUT</a:t>
            </a:r>
            <a:endParaRPr lang="en-US" sz="950" dirty="0"/>
          </a:p>
        </p:txBody>
      </p:sp>
      <p:sp>
        <p:nvSpPr>
          <p:cNvPr id="7" name="Text 4"/>
          <p:cNvSpPr txBox="1"/>
          <p:nvPr/>
        </p:nvSpPr>
        <p:spPr>
          <a:xfrm>
            <a:off x="7909560" y="1572768"/>
            <a:ext cx="373349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BUSINESS IMPACT</a:t>
            </a:r>
            <a:endParaRPr lang="en-US" sz="950" dirty="0"/>
          </a:p>
        </p:txBody>
      </p:sp>
      <p:sp>
        <p:nvSpPr>
          <p:cNvPr id="8" name="Shape 5"/>
          <p:cNvSpPr/>
          <p:nvPr/>
        </p:nvSpPr>
        <p:spPr>
          <a:xfrm>
            <a:off x="548640" y="1883664"/>
            <a:ext cx="11094415" cy="0"/>
          </a:xfrm>
          <a:prstGeom prst="line">
            <a:avLst/>
          </a:prstGeom>
          <a:noFill/>
          <a:ln w="9525">
            <a:solidFill>
              <a:schemeClr val="tx1"/>
            </a:solidFill>
            <a:prstDash val="solid"/>
          </a:ln>
        </p:spPr>
      </p:sp>
      <p:sp>
        <p:nvSpPr>
          <p:cNvPr id="9" name="Text 6"/>
          <p:cNvSpPr txBox="1"/>
          <p:nvPr/>
        </p:nvSpPr>
        <p:spPr>
          <a:xfrm>
            <a:off x="548640" y="2029968"/>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Technical SEO</a:t>
            </a:r>
            <a:endParaRPr lang="en-US" sz="1500" dirty="0"/>
          </a:p>
        </p:txBody>
      </p:sp>
      <p:sp>
        <p:nvSpPr>
          <p:cNvPr id="10" name="Shape 7"/>
          <p:cNvSpPr/>
          <p:nvPr/>
        </p:nvSpPr>
        <p:spPr>
          <a:xfrm>
            <a:off x="3108960" y="2185416"/>
            <a:ext cx="365760" cy="0"/>
          </a:xfrm>
          <a:prstGeom prst="line">
            <a:avLst/>
          </a:prstGeom>
          <a:noFill/>
          <a:ln w="9525">
            <a:solidFill>
              <a:schemeClr val="accent2"/>
            </a:solidFill>
            <a:prstDash val="solid"/>
            <a:tailEnd type="triangle"/>
          </a:ln>
        </p:spPr>
      </p:sp>
      <p:sp>
        <p:nvSpPr>
          <p:cNvPr id="11" name="Text 8"/>
          <p:cNvSpPr txBox="1"/>
          <p:nvPr/>
        </p:nvSpPr>
        <p:spPr>
          <a:xfrm>
            <a:off x="3611880" y="2048256"/>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Google can crawl and index every page</a:t>
            </a:r>
            <a:endParaRPr lang="en-US" sz="1300" dirty="0"/>
          </a:p>
        </p:txBody>
      </p:sp>
      <p:sp>
        <p:nvSpPr>
          <p:cNvPr id="12" name="Shape 9"/>
          <p:cNvSpPr/>
          <p:nvPr/>
        </p:nvSpPr>
        <p:spPr>
          <a:xfrm>
            <a:off x="7406640" y="2185416"/>
            <a:ext cx="365760" cy="0"/>
          </a:xfrm>
          <a:prstGeom prst="line">
            <a:avLst/>
          </a:prstGeom>
          <a:noFill/>
          <a:ln w="9525">
            <a:solidFill>
              <a:schemeClr val="accent2"/>
            </a:solidFill>
            <a:prstDash val="solid"/>
            <a:tailEnd type="triangle"/>
          </a:ln>
        </p:spPr>
      </p:sp>
      <p:sp>
        <p:nvSpPr>
          <p:cNvPr id="13" name="Text 10"/>
          <p:cNvSpPr txBox="1"/>
          <p:nvPr/>
        </p:nvSpPr>
        <p:spPr>
          <a:xfrm>
            <a:off x="7909560" y="2048256"/>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MACK becomes eligible to appear in search</a:t>
            </a:r>
            <a:endParaRPr lang="en-US" sz="1300" dirty="0"/>
          </a:p>
        </p:txBody>
      </p:sp>
      <p:sp>
        <p:nvSpPr>
          <p:cNvPr id="14" name="Shape 11"/>
          <p:cNvSpPr/>
          <p:nvPr/>
        </p:nvSpPr>
        <p:spPr>
          <a:xfrm>
            <a:off x="548640" y="2487168"/>
            <a:ext cx="11094415" cy="0"/>
          </a:xfrm>
          <a:prstGeom prst="line">
            <a:avLst/>
          </a:prstGeom>
          <a:noFill/>
          <a:ln w="9525">
            <a:solidFill>
              <a:schemeClr val="accent5"/>
            </a:solidFill>
            <a:prstDash val="solid"/>
          </a:ln>
        </p:spPr>
      </p:sp>
      <p:sp>
        <p:nvSpPr>
          <p:cNvPr id="15" name="Text 12"/>
          <p:cNvSpPr txBox="1"/>
          <p:nvPr/>
        </p:nvSpPr>
        <p:spPr>
          <a:xfrm>
            <a:off x="548640" y="2633472"/>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Business Profile</a:t>
            </a:r>
            <a:endParaRPr lang="en-US" sz="1500" dirty="0"/>
          </a:p>
        </p:txBody>
      </p:sp>
      <p:sp>
        <p:nvSpPr>
          <p:cNvPr id="16" name="Shape 13"/>
          <p:cNvSpPr/>
          <p:nvPr/>
        </p:nvSpPr>
        <p:spPr>
          <a:xfrm>
            <a:off x="3108960" y="2788920"/>
            <a:ext cx="365760" cy="0"/>
          </a:xfrm>
          <a:prstGeom prst="line">
            <a:avLst/>
          </a:prstGeom>
          <a:noFill/>
          <a:ln w="9525">
            <a:solidFill>
              <a:schemeClr val="accent2"/>
            </a:solidFill>
            <a:prstDash val="solid"/>
            <a:tailEnd type="triangle"/>
          </a:ln>
        </p:spPr>
      </p:sp>
      <p:sp>
        <p:nvSpPr>
          <p:cNvPr id="17" name="Text 14"/>
          <p:cNvSpPr txBox="1"/>
          <p:nvPr/>
        </p:nvSpPr>
        <p:spPr>
          <a:xfrm>
            <a:off x="3611880" y="2651760"/>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A verified, complete card on Google and Maps</a:t>
            </a:r>
            <a:endParaRPr lang="en-US" sz="1300" dirty="0"/>
          </a:p>
        </p:txBody>
      </p:sp>
      <p:sp>
        <p:nvSpPr>
          <p:cNvPr id="18" name="Shape 15"/>
          <p:cNvSpPr/>
          <p:nvPr/>
        </p:nvSpPr>
        <p:spPr>
          <a:xfrm>
            <a:off x="7406640" y="2788920"/>
            <a:ext cx="365760" cy="0"/>
          </a:xfrm>
          <a:prstGeom prst="line">
            <a:avLst/>
          </a:prstGeom>
          <a:noFill/>
          <a:ln w="9525">
            <a:solidFill>
              <a:schemeClr val="accent2"/>
            </a:solidFill>
            <a:prstDash val="solid"/>
            <a:tailEnd type="triangle"/>
          </a:ln>
        </p:spPr>
      </p:sp>
      <p:sp>
        <p:nvSpPr>
          <p:cNvPr id="19" name="Text 16"/>
          <p:cNvSpPr txBox="1"/>
          <p:nvPr/>
        </p:nvSpPr>
        <p:spPr>
          <a:xfrm>
            <a:off x="7909560" y="2651760"/>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Calls and directions from Google, measured</a:t>
            </a:r>
            <a:endParaRPr lang="en-US" sz="1300" dirty="0"/>
          </a:p>
        </p:txBody>
      </p:sp>
      <p:sp>
        <p:nvSpPr>
          <p:cNvPr id="20" name="Shape 17"/>
          <p:cNvSpPr/>
          <p:nvPr/>
        </p:nvSpPr>
        <p:spPr>
          <a:xfrm>
            <a:off x="548640" y="3090672"/>
            <a:ext cx="11094415" cy="0"/>
          </a:xfrm>
          <a:prstGeom prst="line">
            <a:avLst/>
          </a:prstGeom>
          <a:noFill/>
          <a:ln w="9525">
            <a:solidFill>
              <a:schemeClr val="accent5"/>
            </a:solidFill>
            <a:prstDash val="solid"/>
          </a:ln>
        </p:spPr>
      </p:sp>
      <p:sp>
        <p:nvSpPr>
          <p:cNvPr id="21" name="Text 18"/>
          <p:cNvSpPr txBox="1"/>
          <p:nvPr/>
        </p:nvSpPr>
        <p:spPr>
          <a:xfrm>
            <a:off x="548640" y="3236976"/>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Project pages</a:t>
            </a:r>
            <a:endParaRPr lang="en-US" sz="1500" dirty="0"/>
          </a:p>
        </p:txBody>
      </p:sp>
      <p:sp>
        <p:nvSpPr>
          <p:cNvPr id="22" name="Shape 19"/>
          <p:cNvSpPr/>
          <p:nvPr/>
        </p:nvSpPr>
        <p:spPr>
          <a:xfrm>
            <a:off x="3108960" y="3392424"/>
            <a:ext cx="365760" cy="0"/>
          </a:xfrm>
          <a:prstGeom prst="line">
            <a:avLst/>
          </a:prstGeom>
          <a:noFill/>
          <a:ln w="9525">
            <a:solidFill>
              <a:schemeClr val="accent2"/>
            </a:solidFill>
            <a:prstDash val="solid"/>
            <a:tailEnd type="triangle"/>
          </a:ln>
        </p:spPr>
      </p:sp>
      <p:sp>
        <p:nvSpPr>
          <p:cNvPr id="23" name="Text 20"/>
          <p:cNvSpPr txBox="1"/>
          <p:nvPr/>
        </p:nvSpPr>
        <p:spPr>
          <a:xfrm>
            <a:off x="3611880" y="3255264"/>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Each project findable on its own</a:t>
            </a:r>
            <a:endParaRPr lang="en-US" sz="1300" dirty="0"/>
          </a:p>
        </p:txBody>
      </p:sp>
      <p:sp>
        <p:nvSpPr>
          <p:cNvPr id="24" name="Shape 21"/>
          <p:cNvSpPr/>
          <p:nvPr/>
        </p:nvSpPr>
        <p:spPr>
          <a:xfrm>
            <a:off x="7406640" y="3392424"/>
            <a:ext cx="365760" cy="0"/>
          </a:xfrm>
          <a:prstGeom prst="line">
            <a:avLst/>
          </a:prstGeom>
          <a:noFill/>
          <a:ln w="9525">
            <a:solidFill>
              <a:schemeClr val="accent2"/>
            </a:solidFill>
            <a:prstDash val="solid"/>
            <a:tailEnd type="triangle"/>
          </a:ln>
        </p:spPr>
      </p:sp>
      <p:sp>
        <p:nvSpPr>
          <p:cNvPr id="25" name="Text 22"/>
          <p:cNvSpPr txBox="1"/>
          <p:nvPr/>
        </p:nvSpPr>
        <p:spPr>
          <a:xfrm>
            <a:off x="7909560" y="3255264"/>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Reaches people looking for similar work</a:t>
            </a:r>
            <a:endParaRPr lang="en-US" sz="1300" dirty="0"/>
          </a:p>
        </p:txBody>
      </p:sp>
      <p:sp>
        <p:nvSpPr>
          <p:cNvPr id="26" name="Shape 23"/>
          <p:cNvSpPr/>
          <p:nvPr/>
        </p:nvSpPr>
        <p:spPr>
          <a:xfrm>
            <a:off x="548640" y="3694176"/>
            <a:ext cx="11094415" cy="0"/>
          </a:xfrm>
          <a:prstGeom prst="line">
            <a:avLst/>
          </a:prstGeom>
          <a:noFill/>
          <a:ln w="9525">
            <a:solidFill>
              <a:schemeClr val="accent5"/>
            </a:solidFill>
            <a:prstDash val="solid"/>
          </a:ln>
        </p:spPr>
      </p:sp>
      <p:sp>
        <p:nvSpPr>
          <p:cNvPr id="27" name="Text 24"/>
          <p:cNvSpPr txBox="1"/>
          <p:nvPr/>
        </p:nvSpPr>
        <p:spPr>
          <a:xfrm>
            <a:off x="548640" y="3840480"/>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Image SEO &amp; credits</a:t>
            </a:r>
            <a:endParaRPr lang="en-US" sz="1500" dirty="0"/>
          </a:p>
        </p:txBody>
      </p:sp>
      <p:sp>
        <p:nvSpPr>
          <p:cNvPr id="28" name="Shape 25"/>
          <p:cNvSpPr/>
          <p:nvPr/>
        </p:nvSpPr>
        <p:spPr>
          <a:xfrm>
            <a:off x="3108960" y="3995928"/>
            <a:ext cx="365760" cy="0"/>
          </a:xfrm>
          <a:prstGeom prst="line">
            <a:avLst/>
          </a:prstGeom>
          <a:noFill/>
          <a:ln w="9525">
            <a:solidFill>
              <a:schemeClr val="accent2"/>
            </a:solidFill>
            <a:prstDash val="solid"/>
            <a:tailEnd type="triangle"/>
          </a:ln>
        </p:spPr>
      </p:sp>
      <p:sp>
        <p:nvSpPr>
          <p:cNvPr id="29" name="Text 26"/>
          <p:cNvSpPr txBox="1"/>
          <p:nvPr/>
        </p:nvSpPr>
        <p:spPr>
          <a:xfrm>
            <a:off x="3611880" y="3858768"/>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Images understood by Google Images</a:t>
            </a:r>
            <a:endParaRPr lang="en-US" sz="1300" dirty="0"/>
          </a:p>
        </p:txBody>
      </p:sp>
      <p:sp>
        <p:nvSpPr>
          <p:cNvPr id="30" name="Shape 27"/>
          <p:cNvSpPr/>
          <p:nvPr/>
        </p:nvSpPr>
        <p:spPr>
          <a:xfrm>
            <a:off x="7406640" y="3995928"/>
            <a:ext cx="365760" cy="0"/>
          </a:xfrm>
          <a:prstGeom prst="line">
            <a:avLst/>
          </a:prstGeom>
          <a:noFill/>
          <a:ln w="9525">
            <a:solidFill>
              <a:schemeClr val="accent2"/>
            </a:solidFill>
            <a:prstDash val="solid"/>
            <a:tailEnd type="triangle"/>
          </a:ln>
        </p:spPr>
      </p:sp>
      <p:sp>
        <p:nvSpPr>
          <p:cNvPr id="31" name="Text 28"/>
          <p:cNvSpPr txBox="1"/>
          <p:nvPr/>
        </p:nvSpPr>
        <p:spPr>
          <a:xfrm>
            <a:off x="7909560" y="3858768"/>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Visual discovery, credited to the studio</a:t>
            </a:r>
            <a:endParaRPr lang="en-US" sz="1300" dirty="0"/>
          </a:p>
        </p:txBody>
      </p:sp>
      <p:sp>
        <p:nvSpPr>
          <p:cNvPr id="32" name="Shape 29"/>
          <p:cNvSpPr/>
          <p:nvPr/>
        </p:nvSpPr>
        <p:spPr>
          <a:xfrm>
            <a:off x="548640" y="4297680"/>
            <a:ext cx="11094415" cy="0"/>
          </a:xfrm>
          <a:prstGeom prst="line">
            <a:avLst/>
          </a:prstGeom>
          <a:noFill/>
          <a:ln w="9525">
            <a:solidFill>
              <a:schemeClr val="accent5"/>
            </a:solidFill>
            <a:prstDash val="solid"/>
          </a:ln>
        </p:spPr>
      </p:sp>
      <p:sp>
        <p:nvSpPr>
          <p:cNvPr id="33" name="Text 30"/>
          <p:cNvSpPr txBox="1"/>
          <p:nvPr/>
        </p:nvSpPr>
        <p:spPr>
          <a:xfrm>
            <a:off x="548640" y="4443984"/>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Analytics &amp; enquiry log</a:t>
            </a:r>
            <a:endParaRPr lang="en-US" sz="1500" dirty="0"/>
          </a:p>
        </p:txBody>
      </p:sp>
      <p:sp>
        <p:nvSpPr>
          <p:cNvPr id="34" name="Shape 31"/>
          <p:cNvSpPr/>
          <p:nvPr/>
        </p:nvSpPr>
        <p:spPr>
          <a:xfrm>
            <a:off x="3108960" y="4599432"/>
            <a:ext cx="365760" cy="0"/>
          </a:xfrm>
          <a:prstGeom prst="line">
            <a:avLst/>
          </a:prstGeom>
          <a:noFill/>
          <a:ln w="9525">
            <a:solidFill>
              <a:schemeClr val="accent2"/>
            </a:solidFill>
            <a:prstDash val="solid"/>
            <a:tailEnd type="triangle"/>
          </a:ln>
        </p:spPr>
      </p:sp>
      <p:sp>
        <p:nvSpPr>
          <p:cNvPr id="35" name="Text 32"/>
          <p:cNvSpPr txBox="1"/>
          <p:nvPr/>
        </p:nvSpPr>
        <p:spPr>
          <a:xfrm>
            <a:off x="3611880" y="4462272"/>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Sources of enquiries become visible</a:t>
            </a:r>
            <a:endParaRPr lang="en-US" sz="1300" dirty="0"/>
          </a:p>
        </p:txBody>
      </p:sp>
      <p:sp>
        <p:nvSpPr>
          <p:cNvPr id="36" name="Shape 33"/>
          <p:cNvSpPr/>
          <p:nvPr/>
        </p:nvSpPr>
        <p:spPr>
          <a:xfrm>
            <a:off x="7406640" y="4599432"/>
            <a:ext cx="365760" cy="0"/>
          </a:xfrm>
          <a:prstGeom prst="line">
            <a:avLst/>
          </a:prstGeom>
          <a:noFill/>
          <a:ln w="9525">
            <a:solidFill>
              <a:schemeClr val="accent2"/>
            </a:solidFill>
            <a:prstDash val="solid"/>
            <a:tailEnd type="triangle"/>
          </a:ln>
        </p:spPr>
      </p:sp>
      <p:sp>
        <p:nvSpPr>
          <p:cNvPr id="37" name="Text 34"/>
          <p:cNvSpPr txBox="1"/>
          <p:nvPr/>
        </p:nvSpPr>
        <p:spPr>
          <a:xfrm>
            <a:off x="7909560" y="4462272"/>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Decisions based on evidence, not assumptions</a:t>
            </a:r>
            <a:endParaRPr lang="en-US" sz="1300" dirty="0"/>
          </a:p>
        </p:txBody>
      </p:sp>
      <p:sp>
        <p:nvSpPr>
          <p:cNvPr id="38" name="Shape 35"/>
          <p:cNvSpPr/>
          <p:nvPr/>
        </p:nvSpPr>
        <p:spPr>
          <a:xfrm>
            <a:off x="548640" y="4901184"/>
            <a:ext cx="11094415" cy="0"/>
          </a:xfrm>
          <a:prstGeom prst="line">
            <a:avLst/>
          </a:prstGeom>
          <a:noFill/>
          <a:ln w="9525">
            <a:solidFill>
              <a:schemeClr val="accent5"/>
            </a:solidFill>
            <a:prstDash val="solid"/>
          </a:ln>
        </p:spPr>
      </p:sp>
      <p:sp>
        <p:nvSpPr>
          <p:cNvPr id="39" name="Text 36"/>
          <p:cNvSpPr txBox="1"/>
          <p:nvPr/>
        </p:nvSpPr>
        <p:spPr>
          <a:xfrm>
            <a:off x="548640" y="5047488"/>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Domain &amp; studio email</a:t>
            </a:r>
            <a:endParaRPr lang="en-US" sz="1500" dirty="0"/>
          </a:p>
        </p:txBody>
      </p:sp>
      <p:sp>
        <p:nvSpPr>
          <p:cNvPr id="40" name="Shape 37"/>
          <p:cNvSpPr/>
          <p:nvPr/>
        </p:nvSpPr>
        <p:spPr>
          <a:xfrm>
            <a:off x="3108960" y="5202936"/>
            <a:ext cx="365760" cy="0"/>
          </a:xfrm>
          <a:prstGeom prst="line">
            <a:avLst/>
          </a:prstGeom>
          <a:noFill/>
          <a:ln w="9525">
            <a:solidFill>
              <a:schemeClr val="accent2"/>
            </a:solidFill>
            <a:prstDash val="solid"/>
            <a:tailEnd type="triangle"/>
          </a:ln>
        </p:spPr>
      </p:sp>
      <p:sp>
        <p:nvSpPr>
          <p:cNvPr id="41" name="Text 38"/>
          <p:cNvSpPr txBox="1"/>
          <p:nvPr/>
        </p:nvSpPr>
        <p:spPr>
          <a:xfrm>
            <a:off x="3611880" y="5065776"/>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One identity the studio owns</a:t>
            </a:r>
            <a:endParaRPr lang="en-US" sz="1300" dirty="0"/>
          </a:p>
        </p:txBody>
      </p:sp>
      <p:sp>
        <p:nvSpPr>
          <p:cNvPr id="42" name="Shape 39"/>
          <p:cNvSpPr/>
          <p:nvPr/>
        </p:nvSpPr>
        <p:spPr>
          <a:xfrm>
            <a:off x="7406640" y="5202936"/>
            <a:ext cx="365760" cy="0"/>
          </a:xfrm>
          <a:prstGeom prst="line">
            <a:avLst/>
          </a:prstGeom>
          <a:noFill/>
          <a:ln w="9525">
            <a:solidFill>
              <a:schemeClr val="accent2"/>
            </a:solidFill>
            <a:prstDash val="solid"/>
            <a:tailEnd type="triangle"/>
          </a:ln>
        </p:spPr>
      </p:sp>
      <p:sp>
        <p:nvSpPr>
          <p:cNvPr id="43" name="Text 40"/>
          <p:cNvSpPr txBox="1"/>
          <p:nvPr/>
        </p:nvSpPr>
        <p:spPr>
          <a:xfrm>
            <a:off x="7909560" y="5065776"/>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Trust from the first contact</a:t>
            </a:r>
            <a:endParaRPr lang="en-US" sz="1300" dirty="0"/>
          </a:p>
        </p:txBody>
      </p:sp>
      <p:sp>
        <p:nvSpPr>
          <p:cNvPr id="44" name="Shape 41"/>
          <p:cNvSpPr/>
          <p:nvPr/>
        </p:nvSpPr>
        <p:spPr>
          <a:xfrm>
            <a:off x="548640" y="5504688"/>
            <a:ext cx="11094415" cy="0"/>
          </a:xfrm>
          <a:prstGeom prst="line">
            <a:avLst/>
          </a:prstGeom>
          <a:noFill/>
          <a:ln w="9525">
            <a:solidFill>
              <a:schemeClr val="accent5"/>
            </a:solidFill>
            <a:prstDash val="solid"/>
          </a:ln>
        </p:spPr>
      </p:sp>
      <p:sp>
        <p:nvSpPr>
          <p:cNvPr id="45" name="Text 42"/>
          <p:cNvSpPr txBox="1"/>
          <p:nvPr/>
        </p:nvSpPr>
        <p:spPr>
          <a:xfrm>
            <a:off x="548640" y="5650992"/>
            <a:ext cx="2697480" cy="365760"/>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Independent backup</a:t>
            </a:r>
            <a:endParaRPr lang="en-US" sz="1500" dirty="0"/>
          </a:p>
        </p:txBody>
      </p:sp>
      <p:sp>
        <p:nvSpPr>
          <p:cNvPr id="46" name="Shape 43"/>
          <p:cNvSpPr/>
          <p:nvPr/>
        </p:nvSpPr>
        <p:spPr>
          <a:xfrm>
            <a:off x="3108960" y="5806440"/>
            <a:ext cx="365760" cy="0"/>
          </a:xfrm>
          <a:prstGeom prst="line">
            <a:avLst/>
          </a:prstGeom>
          <a:noFill/>
          <a:ln w="9525">
            <a:solidFill>
              <a:schemeClr val="accent2"/>
            </a:solidFill>
            <a:prstDash val="solid"/>
            <a:tailEnd type="triangle"/>
          </a:ln>
        </p:spPr>
      </p:sp>
      <p:sp>
        <p:nvSpPr>
          <p:cNvPr id="47" name="Text 44"/>
          <p:cNvSpPr txBox="1"/>
          <p:nvPr/>
        </p:nvSpPr>
        <p:spPr>
          <a:xfrm>
            <a:off x="3611880" y="5669280"/>
            <a:ext cx="3566160" cy="36576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A recoverable copy of every project</a:t>
            </a:r>
            <a:endParaRPr lang="en-US" sz="1300" dirty="0"/>
          </a:p>
        </p:txBody>
      </p:sp>
      <p:sp>
        <p:nvSpPr>
          <p:cNvPr id="48" name="Shape 45"/>
          <p:cNvSpPr/>
          <p:nvPr/>
        </p:nvSpPr>
        <p:spPr>
          <a:xfrm>
            <a:off x="7406640" y="5806440"/>
            <a:ext cx="365760" cy="0"/>
          </a:xfrm>
          <a:prstGeom prst="line">
            <a:avLst/>
          </a:prstGeom>
          <a:noFill/>
          <a:ln w="9525">
            <a:solidFill>
              <a:schemeClr val="accent2"/>
            </a:solidFill>
            <a:prstDash val="solid"/>
            <a:tailEnd type="triangle"/>
          </a:ln>
        </p:spPr>
      </p:sp>
      <p:sp>
        <p:nvSpPr>
          <p:cNvPr id="49" name="Text 46"/>
          <p:cNvSpPr txBox="1"/>
          <p:nvPr/>
        </p:nvSpPr>
        <p:spPr>
          <a:xfrm>
            <a:off x="7909560" y="5669280"/>
            <a:ext cx="3733495" cy="36576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rPr>
              <a:t>The studio’s archive is protected</a:t>
            </a:r>
            <a:endParaRPr lang="en-US" sz="1300" dirty="0"/>
          </a:p>
        </p:txBody>
      </p:sp>
      <p:sp>
        <p:nvSpPr>
          <p:cNvPr id="50" name="Shape 47"/>
          <p:cNvSpPr/>
          <p:nvPr/>
        </p:nvSpPr>
        <p:spPr>
          <a:xfrm>
            <a:off x="548640" y="6108192"/>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08 — GOOGLE &amp; LOCAL PRESENCE</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The studio’s card on Google</a:t>
            </a:r>
            <a:endParaRPr lang="en-US" sz="3200" dirty="0"/>
          </a:p>
        </p:txBody>
      </p:sp>
      <p:sp>
        <p:nvSpPr>
          <p:cNvPr id="5" name="Text 2"/>
          <p:cNvSpPr txBox="1"/>
          <p:nvPr/>
        </p:nvSpPr>
        <p:spPr>
          <a:xfrm>
            <a:off x="548640" y="1572768"/>
            <a:ext cx="420624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SCHEMATIC</a:t>
            </a:r>
            <a:endParaRPr lang="en-US" sz="950" dirty="0"/>
          </a:p>
        </p:txBody>
      </p:sp>
      <p:sp>
        <p:nvSpPr>
          <p:cNvPr id="6" name="Shape 3"/>
          <p:cNvSpPr/>
          <p:nvPr/>
        </p:nvSpPr>
        <p:spPr>
          <a:xfrm>
            <a:off x="548640" y="1874520"/>
            <a:ext cx="4343400" cy="4160520"/>
          </a:xfrm>
          <a:prstGeom prst="rect">
            <a:avLst/>
          </a:prstGeom>
          <a:solidFill>
            <a:schemeClr val="accent6"/>
          </a:solidFill>
          <a:ln w="9525">
            <a:solidFill>
              <a:schemeClr val="accent5"/>
            </a:solidFill>
            <a:prstDash val="solid"/>
          </a:ln>
        </p:spPr>
      </p:sp>
      <p:pic>
        <p:nvPicPr>
          <p:cNvPr id="7" name="Image 0" descr="Red Fort Project interior (photography)">    </p:cNvPr>
          <p:cNvPicPr>
            <a:picLocks noChangeAspect="1"/>
          </p:cNvPicPr>
          <p:nvPr/>
        </p:nvPicPr>
        <p:blipFill>
          <a:blip r:embed="rId1"/>
          <a:srcRect l="0" r="0" t="0" b="0"/>
          <a:stretch/>
        </p:blipFill>
        <p:spPr>
          <a:xfrm>
            <a:off x="731520" y="2057400"/>
            <a:ext cx="2514600" cy="1234440"/>
          </a:xfrm>
          <a:prstGeom prst="rect">
            <a:avLst/>
          </a:prstGeom>
        </p:spPr>
      </p:pic>
      <p:sp>
        <p:nvSpPr>
          <p:cNvPr id="8" name="Shape 4"/>
          <p:cNvSpPr/>
          <p:nvPr/>
        </p:nvSpPr>
        <p:spPr>
          <a:xfrm>
            <a:off x="3337560" y="2057400"/>
            <a:ext cx="1371600" cy="585216"/>
          </a:xfrm>
          <a:prstGeom prst="rect">
            <a:avLst/>
          </a:prstGeom>
          <a:solidFill>
            <a:schemeClr val="bg2"/>
          </a:solidFill>
          <a:ln/>
        </p:spPr>
      </p:sp>
      <p:sp>
        <p:nvSpPr>
          <p:cNvPr id="9" name="Shape 5"/>
          <p:cNvSpPr/>
          <p:nvPr/>
        </p:nvSpPr>
        <p:spPr>
          <a:xfrm>
            <a:off x="3337560" y="2706624"/>
            <a:ext cx="1371600" cy="585216"/>
          </a:xfrm>
          <a:prstGeom prst="rect">
            <a:avLst/>
          </a:prstGeom>
          <a:solidFill>
            <a:schemeClr val="bg2"/>
          </a:solidFill>
          <a:ln/>
        </p:spPr>
      </p:sp>
      <p:sp>
        <p:nvSpPr>
          <p:cNvPr id="10" name="Text 6"/>
          <p:cNvSpPr txBox="1"/>
          <p:nvPr/>
        </p:nvSpPr>
        <p:spPr>
          <a:xfrm>
            <a:off x="3337560" y="2057400"/>
            <a:ext cx="1371600" cy="585216"/>
          </a:xfrm>
          <a:prstGeom prst="rect">
            <a:avLst/>
          </a:prstGeom>
          <a:noFill/>
          <a:ln/>
        </p:spPr>
        <p:txBody>
          <a:bodyPr wrap="square" lIns="0" tIns="0" rIns="0" bIns="0" rtlCol="0" anchor="ctr"/>
          <a:lstStyle/>
          <a:p>
            <a:pPr algn="ctr" indent="0" marL="0">
              <a:lnSpc>
                <a:spcPct val="112000"/>
              </a:lnSpc>
              <a:buNone/>
            </a:pPr>
            <a:r>
              <a:rPr lang="en-US" sz="1000" dirty="0">
                <a:solidFill>
                  <a:schemeClr val="accent2"/>
                </a:solidFill>
              </a:rPr>
              <a:t>studio</a:t>
            </a:r>
            <a:endParaRPr lang="en-US" sz="1000" dirty="0"/>
          </a:p>
        </p:txBody>
      </p:sp>
      <p:sp>
        <p:nvSpPr>
          <p:cNvPr id="11" name="Text 7"/>
          <p:cNvSpPr txBox="1"/>
          <p:nvPr/>
        </p:nvSpPr>
        <p:spPr>
          <a:xfrm>
            <a:off x="3337560" y="2706624"/>
            <a:ext cx="1371600" cy="585216"/>
          </a:xfrm>
          <a:prstGeom prst="rect">
            <a:avLst/>
          </a:prstGeom>
          <a:noFill/>
          <a:ln/>
        </p:spPr>
        <p:txBody>
          <a:bodyPr wrap="square" lIns="0" tIns="0" rIns="0" bIns="0" rtlCol="0" anchor="ctr"/>
          <a:lstStyle/>
          <a:p>
            <a:pPr algn="ctr" indent="0" marL="0">
              <a:lnSpc>
                <a:spcPct val="112000"/>
              </a:lnSpc>
              <a:buNone/>
            </a:pPr>
            <a:r>
              <a:rPr lang="en-US" sz="1000" dirty="0">
                <a:solidFill>
                  <a:schemeClr val="accent2"/>
                </a:solidFill>
              </a:rPr>
              <a:t>team at work</a:t>
            </a:r>
            <a:endParaRPr lang="en-US" sz="1000" dirty="0"/>
          </a:p>
        </p:txBody>
      </p:sp>
      <p:sp>
        <p:nvSpPr>
          <p:cNvPr id="12" name="Text 8"/>
          <p:cNvSpPr txBox="1"/>
          <p:nvPr/>
        </p:nvSpPr>
        <p:spPr>
          <a:xfrm>
            <a:off x="731520" y="3474720"/>
            <a:ext cx="3977640" cy="384048"/>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mj-lt" pitchFamily="34" charset="0"/>
                <a:ea typeface="+mj-lt" pitchFamily="34" charset="-122"/>
                <a:cs typeface="+mj-lt" pitchFamily="34" charset="-120"/>
              </a:rPr>
              <a:t>MACK &amp; Co Architects</a:t>
            </a:r>
            <a:endParaRPr lang="en-US" sz="1900" dirty="0"/>
          </a:p>
        </p:txBody>
      </p:sp>
      <p:sp>
        <p:nvSpPr>
          <p:cNvPr id="13" name="Text 9"/>
          <p:cNvSpPr txBox="1"/>
          <p:nvPr/>
        </p:nvSpPr>
        <p:spPr>
          <a:xfrm>
            <a:off x="731520" y="3886200"/>
            <a:ext cx="3977640" cy="256032"/>
          </a:xfrm>
          <a:prstGeom prst="rect">
            <a:avLst/>
          </a:prstGeom>
          <a:noFill/>
          <a:ln/>
        </p:spPr>
        <p:txBody>
          <a:bodyPr wrap="square" lIns="0" tIns="0" rIns="0" bIns="0" rtlCol="0" anchor="t"/>
          <a:lstStyle/>
          <a:p>
            <a:pPr algn="l" indent="0" marL="0">
              <a:lnSpc>
                <a:spcPct val="112000"/>
              </a:lnSpc>
              <a:buNone/>
            </a:pPr>
            <a:r>
              <a:rPr lang="en-US" sz="1150" dirty="0">
                <a:solidFill>
                  <a:schemeClr val="tx2"/>
                </a:solidFill>
              </a:rPr>
              <a:t>Studio category  ·  Andheri West, Mumbai</a:t>
            </a:r>
            <a:endParaRPr lang="en-US" sz="1150" dirty="0"/>
          </a:p>
        </p:txBody>
      </p:sp>
      <p:sp>
        <p:nvSpPr>
          <p:cNvPr id="14" name="Text 10"/>
          <p:cNvSpPr txBox="1"/>
          <p:nvPr/>
        </p:nvSpPr>
        <p:spPr>
          <a:xfrm>
            <a:off x="731520" y="4160520"/>
            <a:ext cx="3977640" cy="256032"/>
          </a:xfrm>
          <a:prstGeom prst="rect">
            <a:avLst/>
          </a:prstGeom>
          <a:noFill/>
          <a:ln/>
        </p:spPr>
        <p:txBody>
          <a:bodyPr wrap="square" lIns="0" tIns="0" rIns="0" bIns="0" rtlCol="0" anchor="t"/>
          <a:lstStyle/>
          <a:p>
            <a:pPr algn="l" indent="0" marL="0">
              <a:lnSpc>
                <a:spcPct val="112000"/>
              </a:lnSpc>
              <a:buNone/>
            </a:pPr>
            <a:r>
              <a:rPr lang="en-US" sz="1150" dirty="0">
                <a:solidFill>
                  <a:schemeClr val="tx2"/>
                </a:solidFill>
              </a:rPr>
              <a:t>Visits by appointment</a:t>
            </a:r>
            <a:endParaRPr lang="en-US" sz="1150" dirty="0"/>
          </a:p>
        </p:txBody>
      </p:sp>
      <p:sp>
        <p:nvSpPr>
          <p:cNvPr id="15" name="Shape 11"/>
          <p:cNvSpPr/>
          <p:nvPr/>
        </p:nvSpPr>
        <p:spPr>
          <a:xfrm>
            <a:off x="731520" y="4599432"/>
            <a:ext cx="1207008" cy="365760"/>
          </a:xfrm>
          <a:prstGeom prst="roundRect">
            <a:avLst>
              <a:gd name="adj" fmla="val 50000"/>
            </a:avLst>
          </a:prstGeom>
          <a:ln w="9525">
            <a:solidFill>
              <a:schemeClr val="tx1"/>
            </a:solidFill>
            <a:prstDash val="solid"/>
          </a:ln>
        </p:spPr>
      </p:sp>
      <p:sp>
        <p:nvSpPr>
          <p:cNvPr id="16" name="Text 12"/>
          <p:cNvSpPr txBox="1"/>
          <p:nvPr/>
        </p:nvSpPr>
        <p:spPr>
          <a:xfrm>
            <a:off x="731520" y="4599432"/>
            <a:ext cx="1207008" cy="365760"/>
          </a:xfrm>
          <a:prstGeom prst="rect">
            <a:avLst/>
          </a:prstGeom>
          <a:noFill/>
          <a:ln/>
        </p:spPr>
        <p:txBody>
          <a:bodyPr wrap="square" lIns="0" tIns="0" rIns="0" bIns="0" rtlCol="0" anchor="ctr"/>
          <a:lstStyle/>
          <a:p>
            <a:pPr algn="ctr" indent="0" marL="0">
              <a:lnSpc>
                <a:spcPct val="112000"/>
              </a:lnSpc>
              <a:buNone/>
            </a:pPr>
            <a:r>
              <a:rPr lang="en-US" sz="1150" dirty="0">
                <a:solidFill>
                  <a:schemeClr val="tx1"/>
                </a:solidFill>
              </a:rPr>
              <a:t>Website</a:t>
            </a:r>
            <a:endParaRPr lang="en-US" sz="1150" dirty="0"/>
          </a:p>
        </p:txBody>
      </p:sp>
      <p:sp>
        <p:nvSpPr>
          <p:cNvPr id="17" name="Shape 13"/>
          <p:cNvSpPr/>
          <p:nvPr/>
        </p:nvSpPr>
        <p:spPr>
          <a:xfrm>
            <a:off x="2075688" y="4599432"/>
            <a:ext cx="1207008" cy="365760"/>
          </a:xfrm>
          <a:prstGeom prst="roundRect">
            <a:avLst>
              <a:gd name="adj" fmla="val 50000"/>
            </a:avLst>
          </a:prstGeom>
          <a:ln w="9525">
            <a:solidFill>
              <a:schemeClr val="tx1"/>
            </a:solidFill>
            <a:prstDash val="solid"/>
          </a:ln>
        </p:spPr>
      </p:sp>
      <p:sp>
        <p:nvSpPr>
          <p:cNvPr id="18" name="Text 14"/>
          <p:cNvSpPr txBox="1"/>
          <p:nvPr/>
        </p:nvSpPr>
        <p:spPr>
          <a:xfrm>
            <a:off x="2075688" y="4599432"/>
            <a:ext cx="1207008" cy="365760"/>
          </a:xfrm>
          <a:prstGeom prst="rect">
            <a:avLst/>
          </a:prstGeom>
          <a:noFill/>
          <a:ln/>
        </p:spPr>
        <p:txBody>
          <a:bodyPr wrap="square" lIns="0" tIns="0" rIns="0" bIns="0" rtlCol="0" anchor="ctr"/>
          <a:lstStyle/>
          <a:p>
            <a:pPr algn="ctr" indent="0" marL="0">
              <a:lnSpc>
                <a:spcPct val="112000"/>
              </a:lnSpc>
              <a:buNone/>
            </a:pPr>
            <a:r>
              <a:rPr lang="en-US" sz="1150" dirty="0">
                <a:solidFill>
                  <a:schemeClr val="tx1"/>
                </a:solidFill>
              </a:rPr>
              <a:t>Directions</a:t>
            </a:r>
            <a:endParaRPr lang="en-US" sz="1150" dirty="0"/>
          </a:p>
        </p:txBody>
      </p:sp>
      <p:sp>
        <p:nvSpPr>
          <p:cNvPr id="19" name="Shape 15"/>
          <p:cNvSpPr/>
          <p:nvPr/>
        </p:nvSpPr>
        <p:spPr>
          <a:xfrm>
            <a:off x="3419856" y="4599432"/>
            <a:ext cx="1207008" cy="365760"/>
          </a:xfrm>
          <a:prstGeom prst="roundRect">
            <a:avLst>
              <a:gd name="adj" fmla="val 50000"/>
            </a:avLst>
          </a:prstGeom>
          <a:ln w="9525">
            <a:solidFill>
              <a:schemeClr val="tx1"/>
            </a:solidFill>
            <a:prstDash val="solid"/>
          </a:ln>
        </p:spPr>
      </p:sp>
      <p:sp>
        <p:nvSpPr>
          <p:cNvPr id="20" name="Text 16"/>
          <p:cNvSpPr txBox="1"/>
          <p:nvPr/>
        </p:nvSpPr>
        <p:spPr>
          <a:xfrm>
            <a:off x="3419856" y="4599432"/>
            <a:ext cx="1207008" cy="365760"/>
          </a:xfrm>
          <a:prstGeom prst="rect">
            <a:avLst/>
          </a:prstGeom>
          <a:noFill/>
          <a:ln/>
        </p:spPr>
        <p:txBody>
          <a:bodyPr wrap="square" lIns="0" tIns="0" rIns="0" bIns="0" rtlCol="0" anchor="ctr"/>
          <a:lstStyle/>
          <a:p>
            <a:pPr algn="ctr" indent="0" marL="0">
              <a:lnSpc>
                <a:spcPct val="112000"/>
              </a:lnSpc>
              <a:buNone/>
            </a:pPr>
            <a:r>
              <a:rPr lang="en-US" sz="1150" dirty="0">
                <a:solidFill>
                  <a:schemeClr val="tx1"/>
                </a:solidFill>
              </a:rPr>
              <a:t>Call</a:t>
            </a:r>
            <a:endParaRPr lang="en-US" sz="1150" dirty="0"/>
          </a:p>
        </p:txBody>
      </p:sp>
      <p:sp>
        <p:nvSpPr>
          <p:cNvPr id="21" name="Shape 17"/>
          <p:cNvSpPr/>
          <p:nvPr/>
        </p:nvSpPr>
        <p:spPr>
          <a:xfrm>
            <a:off x="731520" y="5184648"/>
            <a:ext cx="3977640" cy="0"/>
          </a:xfrm>
          <a:prstGeom prst="line">
            <a:avLst/>
          </a:prstGeom>
          <a:noFill/>
          <a:ln w="9525">
            <a:solidFill>
              <a:schemeClr val="accent5"/>
            </a:solidFill>
            <a:prstDash val="solid"/>
          </a:ln>
        </p:spPr>
      </p:sp>
      <p:sp>
        <p:nvSpPr>
          <p:cNvPr id="22" name="Text 18"/>
          <p:cNvSpPr txBox="1"/>
          <p:nvPr/>
        </p:nvSpPr>
        <p:spPr>
          <a:xfrm>
            <a:off x="731520" y="5303520"/>
            <a:ext cx="397764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Reviews from clients  ·  Services  ·  Photos</a:t>
            </a:r>
            <a:endParaRPr lang="en-US" sz="1100" dirty="0"/>
          </a:p>
        </p:txBody>
      </p:sp>
      <p:sp>
        <p:nvSpPr>
          <p:cNvPr id="23" name="Text 19"/>
          <p:cNvSpPr txBox="1"/>
          <p:nvPr/>
        </p:nvSpPr>
        <p:spPr>
          <a:xfrm>
            <a:off x="731520" y="5577840"/>
            <a:ext cx="3977640" cy="274320"/>
          </a:xfrm>
          <a:prstGeom prst="rect">
            <a:avLst/>
          </a:prstGeom>
          <a:noFill/>
          <a:ln/>
        </p:spPr>
        <p:txBody>
          <a:bodyPr wrap="square" lIns="0" tIns="0" rIns="0" bIns="0" rtlCol="0" anchor="t"/>
          <a:lstStyle/>
          <a:p>
            <a:pPr algn="l" indent="0" marL="0">
              <a:lnSpc>
                <a:spcPct val="112000"/>
              </a:lnSpc>
              <a:buNone/>
            </a:pPr>
            <a:r>
              <a:rPr lang="en-US" sz="1000" i="1" dirty="0">
                <a:solidFill>
                  <a:schemeClr val="accent2"/>
                </a:solidFill>
              </a:rPr>
              <a:t>Each button is measured: calls, direction requests, website visits.</a:t>
            </a:r>
            <a:endParaRPr lang="en-US" sz="1000" dirty="0"/>
          </a:p>
        </p:txBody>
      </p:sp>
      <p:sp>
        <p:nvSpPr>
          <p:cNvPr id="24" name="Shape 20"/>
          <p:cNvSpPr/>
          <p:nvPr/>
        </p:nvSpPr>
        <p:spPr>
          <a:xfrm>
            <a:off x="5532120" y="1874520"/>
            <a:ext cx="6110935" cy="0"/>
          </a:xfrm>
          <a:prstGeom prst="line">
            <a:avLst/>
          </a:prstGeom>
          <a:noFill/>
          <a:ln w="9525">
            <a:solidFill>
              <a:schemeClr val="tx1"/>
            </a:solidFill>
            <a:prstDash val="solid"/>
          </a:ln>
        </p:spPr>
      </p:sp>
      <p:sp>
        <p:nvSpPr>
          <p:cNvPr id="25" name="Text 21"/>
          <p:cNvSpPr txBox="1"/>
          <p:nvPr/>
        </p:nvSpPr>
        <p:spPr>
          <a:xfrm>
            <a:off x="5532120" y="2002536"/>
            <a:ext cx="45720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3"/>
                </a:solidFill>
                <a:latin typeface="+mj-lt" pitchFamily="34" charset="0"/>
                <a:ea typeface="+mj-lt" pitchFamily="34" charset="-122"/>
                <a:cs typeface="+mj-lt" pitchFamily="34" charset="-120"/>
              </a:rPr>
              <a:t>01</a:t>
            </a:r>
            <a:endParaRPr lang="en-US" sz="1300" dirty="0"/>
          </a:p>
        </p:txBody>
      </p:sp>
      <p:sp>
        <p:nvSpPr>
          <p:cNvPr id="26" name="Text 22"/>
          <p:cNvSpPr txBox="1"/>
          <p:nvPr/>
        </p:nvSpPr>
        <p:spPr>
          <a:xfrm>
            <a:off x="6080760" y="1993392"/>
            <a:ext cx="5562295" cy="566928"/>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One verified profile for each real studio — resolving the existing listing at the studio’s address first</a:t>
            </a:r>
            <a:endParaRPr lang="en-US" sz="1350" dirty="0"/>
          </a:p>
        </p:txBody>
      </p:sp>
      <p:sp>
        <p:nvSpPr>
          <p:cNvPr id="27" name="Shape 23"/>
          <p:cNvSpPr/>
          <p:nvPr/>
        </p:nvSpPr>
        <p:spPr>
          <a:xfrm>
            <a:off x="5532120" y="2606040"/>
            <a:ext cx="6110935" cy="0"/>
          </a:xfrm>
          <a:prstGeom prst="line">
            <a:avLst/>
          </a:prstGeom>
          <a:noFill/>
          <a:ln w="9525">
            <a:solidFill>
              <a:schemeClr val="accent5"/>
            </a:solidFill>
            <a:prstDash val="solid"/>
          </a:ln>
        </p:spPr>
      </p:sp>
      <p:sp>
        <p:nvSpPr>
          <p:cNvPr id="28" name="Text 24"/>
          <p:cNvSpPr txBox="1"/>
          <p:nvPr/>
        </p:nvSpPr>
        <p:spPr>
          <a:xfrm>
            <a:off x="5532120" y="2734056"/>
            <a:ext cx="45720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3"/>
                </a:solidFill>
                <a:latin typeface="+mj-lt" pitchFamily="34" charset="0"/>
                <a:ea typeface="+mj-lt" pitchFamily="34" charset="-122"/>
                <a:cs typeface="+mj-lt" pitchFamily="34" charset="-120"/>
              </a:rPr>
              <a:t>02</a:t>
            </a:r>
            <a:endParaRPr lang="en-US" sz="1300" dirty="0"/>
          </a:p>
        </p:txBody>
      </p:sp>
      <p:sp>
        <p:nvSpPr>
          <p:cNvPr id="29" name="Text 25"/>
          <p:cNvSpPr txBox="1"/>
          <p:nvPr/>
        </p:nvSpPr>
        <p:spPr>
          <a:xfrm>
            <a:off x="6080760" y="2724912"/>
            <a:ext cx="5562295" cy="566928"/>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The same name, address and phone on the profile, the website and Instagram</a:t>
            </a:r>
            <a:endParaRPr lang="en-US" sz="1350" dirty="0"/>
          </a:p>
        </p:txBody>
      </p:sp>
      <p:sp>
        <p:nvSpPr>
          <p:cNvPr id="30" name="Shape 26"/>
          <p:cNvSpPr/>
          <p:nvPr/>
        </p:nvSpPr>
        <p:spPr>
          <a:xfrm>
            <a:off x="5532120" y="3337560"/>
            <a:ext cx="6110935" cy="0"/>
          </a:xfrm>
          <a:prstGeom prst="line">
            <a:avLst/>
          </a:prstGeom>
          <a:noFill/>
          <a:ln w="9525">
            <a:solidFill>
              <a:schemeClr val="accent5"/>
            </a:solidFill>
            <a:prstDash val="solid"/>
          </a:ln>
        </p:spPr>
      </p:sp>
      <p:sp>
        <p:nvSpPr>
          <p:cNvPr id="31" name="Text 27"/>
          <p:cNvSpPr txBox="1"/>
          <p:nvPr/>
        </p:nvSpPr>
        <p:spPr>
          <a:xfrm>
            <a:off x="5532120" y="3465576"/>
            <a:ext cx="45720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3"/>
                </a:solidFill>
                <a:latin typeface="+mj-lt" pitchFamily="34" charset="0"/>
                <a:ea typeface="+mj-lt" pitchFamily="34" charset="-122"/>
                <a:cs typeface="+mj-lt" pitchFamily="34" charset="-120"/>
              </a:rPr>
              <a:t>03</a:t>
            </a:r>
            <a:endParaRPr lang="en-US" sz="1300" dirty="0"/>
          </a:p>
        </p:txBody>
      </p:sp>
      <p:sp>
        <p:nvSpPr>
          <p:cNvPr id="32" name="Text 28"/>
          <p:cNvSpPr txBox="1"/>
          <p:nvPr/>
        </p:nvSpPr>
        <p:spPr>
          <a:xfrm>
            <a:off x="6080760" y="3456432"/>
            <a:ext cx="5562295" cy="566928"/>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The website link tagged, so visits from Google Maps are measured on the site</a:t>
            </a:r>
            <a:endParaRPr lang="en-US" sz="1350" dirty="0"/>
          </a:p>
        </p:txBody>
      </p:sp>
      <p:sp>
        <p:nvSpPr>
          <p:cNvPr id="33" name="Shape 29"/>
          <p:cNvSpPr/>
          <p:nvPr/>
        </p:nvSpPr>
        <p:spPr>
          <a:xfrm>
            <a:off x="5532120" y="4069080"/>
            <a:ext cx="6110935" cy="0"/>
          </a:xfrm>
          <a:prstGeom prst="line">
            <a:avLst/>
          </a:prstGeom>
          <a:noFill/>
          <a:ln w="9525">
            <a:solidFill>
              <a:schemeClr val="accent5"/>
            </a:solidFill>
            <a:prstDash val="solid"/>
          </a:ln>
        </p:spPr>
      </p:sp>
      <p:sp>
        <p:nvSpPr>
          <p:cNvPr id="34" name="Text 30"/>
          <p:cNvSpPr txBox="1"/>
          <p:nvPr/>
        </p:nvSpPr>
        <p:spPr>
          <a:xfrm>
            <a:off x="5532120" y="4197096"/>
            <a:ext cx="45720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3"/>
                </a:solidFill>
                <a:latin typeface="+mj-lt" pitchFamily="34" charset="0"/>
                <a:ea typeface="+mj-lt" pitchFamily="34" charset="-122"/>
                <a:cs typeface="+mj-lt" pitchFamily="34" charset="-120"/>
              </a:rPr>
              <a:t>04</a:t>
            </a:r>
            <a:endParaRPr lang="en-US" sz="1300" dirty="0"/>
          </a:p>
        </p:txBody>
      </p:sp>
      <p:sp>
        <p:nvSpPr>
          <p:cNvPr id="35" name="Text 31"/>
          <p:cNvSpPr txBox="1"/>
          <p:nvPr/>
        </p:nvSpPr>
        <p:spPr>
          <a:xfrm>
            <a:off x="6080760" y="4187952"/>
            <a:ext cx="5562295" cy="566928"/>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Reviews requested from every client — never incentivised or filtered</a:t>
            </a:r>
            <a:endParaRPr lang="en-US" sz="1350" dirty="0"/>
          </a:p>
        </p:txBody>
      </p:sp>
      <p:sp>
        <p:nvSpPr>
          <p:cNvPr id="36" name="Shape 32"/>
          <p:cNvSpPr/>
          <p:nvPr/>
        </p:nvSpPr>
        <p:spPr>
          <a:xfrm>
            <a:off x="5532120" y="4800600"/>
            <a:ext cx="6110935" cy="0"/>
          </a:xfrm>
          <a:prstGeom prst="line">
            <a:avLst/>
          </a:prstGeom>
          <a:noFill/>
          <a:ln w="9525">
            <a:solidFill>
              <a:schemeClr val="accent5"/>
            </a:solidFill>
            <a:prstDash val="solid"/>
          </a:ln>
        </p:spPr>
      </p:sp>
      <p:sp>
        <p:nvSpPr>
          <p:cNvPr id="37" name="Text 33"/>
          <p:cNvSpPr txBox="1"/>
          <p:nvPr/>
        </p:nvSpPr>
        <p:spPr>
          <a:xfrm>
            <a:off x="5532120" y="4928616"/>
            <a:ext cx="45720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3"/>
                </a:solidFill>
                <a:latin typeface="+mj-lt" pitchFamily="34" charset="0"/>
                <a:ea typeface="+mj-lt" pitchFamily="34" charset="-122"/>
                <a:cs typeface="+mj-lt" pitchFamily="34" charset="-120"/>
              </a:rPr>
              <a:t>05</a:t>
            </a:r>
            <a:endParaRPr lang="en-US" sz="1300" dirty="0"/>
          </a:p>
        </p:txBody>
      </p:sp>
      <p:sp>
        <p:nvSpPr>
          <p:cNvPr id="38" name="Text 34"/>
          <p:cNvSpPr txBox="1"/>
          <p:nvPr/>
        </p:nvSpPr>
        <p:spPr>
          <a:xfrm>
            <a:off x="6080760" y="4919472"/>
            <a:ext cx="5562295" cy="566928"/>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New studios set up ahead: an opening date makes the profile visible 90 days before opening</a:t>
            </a:r>
            <a:endParaRPr lang="en-US" sz="1350" dirty="0"/>
          </a:p>
        </p:txBody>
      </p:sp>
      <p:sp>
        <p:nvSpPr>
          <p:cNvPr id="39" name="Shape 35"/>
          <p:cNvSpPr/>
          <p:nvPr/>
        </p:nvSpPr>
        <p:spPr>
          <a:xfrm>
            <a:off x="5532120" y="5532120"/>
            <a:ext cx="6110935" cy="0"/>
          </a:xfrm>
          <a:prstGeom prst="line">
            <a:avLst/>
          </a:prstGeom>
          <a:noFill/>
          <a:ln w="9525">
            <a:solidFill>
              <a:schemeClr val="accent5"/>
            </a:solidFill>
            <a:prstDash val="solid"/>
          </a:ln>
        </p:spPr>
      </p:sp>
      <p:sp>
        <p:nvSpPr>
          <p:cNvPr id="40" name="Text 36"/>
          <p:cNvSpPr txBox="1"/>
          <p:nvPr/>
        </p:nvSpPr>
        <p:spPr>
          <a:xfrm>
            <a:off x="5532120" y="5623560"/>
            <a:ext cx="6110935" cy="548640"/>
          </a:xfrm>
          <a:prstGeom prst="rect">
            <a:avLst/>
          </a:prstGeom>
          <a:noFill/>
          <a:ln/>
        </p:spPr>
        <p:txBody>
          <a:bodyPr wrap="square" lIns="0" tIns="0" rIns="0" bIns="0" rtlCol="0" anchor="t"/>
          <a:lstStyle/>
          <a:p>
            <a:pPr algn="l" indent="0" marL="0">
              <a:lnSpc>
                <a:spcPct val="115000"/>
              </a:lnSpc>
              <a:buNone/>
            </a:pPr>
            <a:r>
              <a:rPr lang="en-US" sz="1100" i="1" dirty="0">
                <a:solidFill>
                  <a:schemeClr val="accent2"/>
                </a:solidFill>
              </a:rPr>
              <a:t>Google ranks local results on relevance, distance and prominence, and states there is no way to pay for a better local ranking. Distance can’t change; completeness and reputation can.</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09 — PORTFOLIO AS A SEARCH ASSET</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Every project becomes a way in</a:t>
            </a:r>
            <a:endParaRPr lang="en-US" sz="3200" dirty="0"/>
          </a:p>
        </p:txBody>
      </p:sp>
      <p:sp>
        <p:nvSpPr>
          <p:cNvPr id="5" name="Shape 2"/>
          <p:cNvSpPr/>
          <p:nvPr/>
        </p:nvSpPr>
        <p:spPr>
          <a:xfrm>
            <a:off x="548640" y="1627632"/>
            <a:ext cx="1847088" cy="457200"/>
          </a:xfrm>
          <a:prstGeom prst="rect">
            <a:avLst/>
          </a:prstGeom>
          <a:ln w="9525">
            <a:solidFill>
              <a:schemeClr val="tx1"/>
            </a:solidFill>
            <a:prstDash val="solid"/>
          </a:ln>
        </p:spPr>
      </p:sp>
      <p:sp>
        <p:nvSpPr>
          <p:cNvPr id="6" name="Text 3"/>
          <p:cNvSpPr txBox="1"/>
          <p:nvPr/>
        </p:nvSpPr>
        <p:spPr>
          <a:xfrm>
            <a:off x="658368" y="1627632"/>
            <a:ext cx="1627632" cy="457200"/>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Project</a:t>
            </a:r>
            <a:endParaRPr lang="en-US" sz="1300" dirty="0"/>
          </a:p>
        </p:txBody>
      </p:sp>
      <p:sp>
        <p:nvSpPr>
          <p:cNvPr id="7" name="Shape 4"/>
          <p:cNvSpPr/>
          <p:nvPr/>
        </p:nvSpPr>
        <p:spPr>
          <a:xfrm>
            <a:off x="2459736" y="1856232"/>
            <a:ext cx="329184" cy="0"/>
          </a:xfrm>
          <a:prstGeom prst="line">
            <a:avLst/>
          </a:prstGeom>
          <a:noFill/>
          <a:ln w="9525">
            <a:solidFill>
              <a:schemeClr val="tx1"/>
            </a:solidFill>
            <a:prstDash val="solid"/>
            <a:tailEnd type="triangle"/>
          </a:ln>
        </p:spPr>
      </p:sp>
      <p:sp>
        <p:nvSpPr>
          <p:cNvPr id="8" name="Shape 5"/>
          <p:cNvSpPr/>
          <p:nvPr/>
        </p:nvSpPr>
        <p:spPr>
          <a:xfrm>
            <a:off x="2852928" y="1627632"/>
            <a:ext cx="1847088" cy="457200"/>
          </a:xfrm>
          <a:prstGeom prst="rect">
            <a:avLst/>
          </a:prstGeom>
          <a:solidFill>
            <a:schemeClr val="accent1"/>
          </a:solidFill>
          <a:ln w="9525">
            <a:solidFill>
              <a:schemeClr val="accent1"/>
            </a:solidFill>
            <a:prstDash val="solid"/>
          </a:ln>
        </p:spPr>
      </p:sp>
      <p:sp>
        <p:nvSpPr>
          <p:cNvPr id="9" name="Text 6"/>
          <p:cNvSpPr txBox="1"/>
          <p:nvPr/>
        </p:nvSpPr>
        <p:spPr>
          <a:xfrm>
            <a:off x="2962656" y="1627632"/>
            <a:ext cx="1627632" cy="457200"/>
          </a:xfrm>
          <a:prstGeom prst="rect">
            <a:avLst/>
          </a:prstGeom>
          <a:noFill/>
          <a:ln/>
        </p:spPr>
        <p:txBody>
          <a:bodyPr wrap="square" lIns="0" tIns="0" rIns="0" bIns="0" rtlCol="0" anchor="ctr"/>
          <a:lstStyle/>
          <a:p>
            <a:pPr algn="ctr" indent="0" marL="0">
              <a:lnSpc>
                <a:spcPct val="112000"/>
              </a:lnSpc>
              <a:buNone/>
            </a:pPr>
            <a:r>
              <a:rPr lang="en-US" sz="1300" dirty="0">
                <a:solidFill>
                  <a:schemeClr val="bg1"/>
                </a:solidFill>
              </a:rPr>
              <a:t>Project page</a:t>
            </a:r>
            <a:endParaRPr lang="en-US" sz="1300" dirty="0"/>
          </a:p>
        </p:txBody>
      </p:sp>
      <p:sp>
        <p:nvSpPr>
          <p:cNvPr id="10" name="Shape 7"/>
          <p:cNvSpPr/>
          <p:nvPr/>
        </p:nvSpPr>
        <p:spPr>
          <a:xfrm>
            <a:off x="4764024" y="1856232"/>
            <a:ext cx="329184" cy="0"/>
          </a:xfrm>
          <a:prstGeom prst="line">
            <a:avLst/>
          </a:prstGeom>
          <a:noFill/>
          <a:ln w="9525">
            <a:solidFill>
              <a:schemeClr val="tx1"/>
            </a:solidFill>
            <a:prstDash val="solid"/>
            <a:tailEnd type="triangle"/>
          </a:ln>
        </p:spPr>
      </p:sp>
      <p:sp>
        <p:nvSpPr>
          <p:cNvPr id="11" name="Shape 8"/>
          <p:cNvSpPr/>
          <p:nvPr/>
        </p:nvSpPr>
        <p:spPr>
          <a:xfrm>
            <a:off x="5157216" y="1627632"/>
            <a:ext cx="1847088" cy="457200"/>
          </a:xfrm>
          <a:prstGeom prst="rect">
            <a:avLst/>
          </a:prstGeom>
          <a:ln w="9525">
            <a:solidFill>
              <a:schemeClr val="tx1"/>
            </a:solidFill>
            <a:prstDash val="solid"/>
          </a:ln>
        </p:spPr>
      </p:sp>
      <p:sp>
        <p:nvSpPr>
          <p:cNvPr id="12" name="Text 9"/>
          <p:cNvSpPr txBox="1"/>
          <p:nvPr/>
        </p:nvSpPr>
        <p:spPr>
          <a:xfrm>
            <a:off x="5266944" y="1627632"/>
            <a:ext cx="1627632" cy="457200"/>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Search &amp; Images</a:t>
            </a:r>
            <a:endParaRPr lang="en-US" sz="1300" dirty="0"/>
          </a:p>
        </p:txBody>
      </p:sp>
      <p:sp>
        <p:nvSpPr>
          <p:cNvPr id="13" name="Shape 10"/>
          <p:cNvSpPr/>
          <p:nvPr/>
        </p:nvSpPr>
        <p:spPr>
          <a:xfrm>
            <a:off x="7068312" y="1856232"/>
            <a:ext cx="329184" cy="0"/>
          </a:xfrm>
          <a:prstGeom prst="line">
            <a:avLst/>
          </a:prstGeom>
          <a:noFill/>
          <a:ln w="9525">
            <a:solidFill>
              <a:schemeClr val="tx1"/>
            </a:solidFill>
            <a:prstDash val="solid"/>
            <a:tailEnd type="triangle"/>
          </a:ln>
        </p:spPr>
      </p:sp>
      <p:sp>
        <p:nvSpPr>
          <p:cNvPr id="14" name="Shape 11"/>
          <p:cNvSpPr/>
          <p:nvPr/>
        </p:nvSpPr>
        <p:spPr>
          <a:xfrm>
            <a:off x="7461504" y="1627632"/>
            <a:ext cx="1847088" cy="457200"/>
          </a:xfrm>
          <a:prstGeom prst="rect">
            <a:avLst/>
          </a:prstGeom>
          <a:ln w="9525">
            <a:solidFill>
              <a:schemeClr val="tx1"/>
            </a:solidFill>
            <a:prstDash val="solid"/>
          </a:ln>
        </p:spPr>
      </p:sp>
      <p:sp>
        <p:nvSpPr>
          <p:cNvPr id="15" name="Text 12"/>
          <p:cNvSpPr txBox="1"/>
          <p:nvPr/>
        </p:nvSpPr>
        <p:spPr>
          <a:xfrm>
            <a:off x="7571232" y="1627632"/>
            <a:ext cx="1627632" cy="457200"/>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Related work</a:t>
            </a:r>
            <a:endParaRPr lang="en-US" sz="1300" dirty="0"/>
          </a:p>
        </p:txBody>
      </p:sp>
      <p:sp>
        <p:nvSpPr>
          <p:cNvPr id="16" name="Shape 13"/>
          <p:cNvSpPr/>
          <p:nvPr/>
        </p:nvSpPr>
        <p:spPr>
          <a:xfrm>
            <a:off x="9372600" y="1856232"/>
            <a:ext cx="329184" cy="0"/>
          </a:xfrm>
          <a:prstGeom prst="line">
            <a:avLst/>
          </a:prstGeom>
          <a:noFill/>
          <a:ln w="9525">
            <a:solidFill>
              <a:schemeClr val="tx1"/>
            </a:solidFill>
            <a:prstDash val="solid"/>
            <a:tailEnd type="triangle"/>
          </a:ln>
        </p:spPr>
      </p:sp>
      <p:sp>
        <p:nvSpPr>
          <p:cNvPr id="17" name="Shape 14"/>
          <p:cNvSpPr/>
          <p:nvPr/>
        </p:nvSpPr>
        <p:spPr>
          <a:xfrm>
            <a:off x="9765792" y="1627632"/>
            <a:ext cx="1847088" cy="457200"/>
          </a:xfrm>
          <a:prstGeom prst="rect">
            <a:avLst/>
          </a:prstGeom>
          <a:ln w="9525">
            <a:solidFill>
              <a:schemeClr val="tx1"/>
            </a:solidFill>
            <a:prstDash val="solid"/>
          </a:ln>
        </p:spPr>
      </p:sp>
      <p:sp>
        <p:nvSpPr>
          <p:cNvPr id="18" name="Text 15"/>
          <p:cNvSpPr txBox="1"/>
          <p:nvPr/>
        </p:nvSpPr>
        <p:spPr>
          <a:xfrm>
            <a:off x="9875520" y="1627632"/>
            <a:ext cx="1627632" cy="457200"/>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Enquiry</a:t>
            </a:r>
            <a:endParaRPr lang="en-US" sz="1300" dirty="0"/>
          </a:p>
        </p:txBody>
      </p:sp>
      <p:pic>
        <p:nvPicPr>
          <p:cNvPr id="19" name="Image 0" descr="Red Fort Project, Dharampur: living room with a valley view (photography)">    </p:cNvPr>
          <p:cNvPicPr>
            <a:picLocks noChangeAspect="1"/>
          </p:cNvPicPr>
          <p:nvPr/>
        </p:nvPicPr>
        <p:blipFill>
          <a:blip r:embed="rId1"/>
          <a:srcRect l="0" r="0" t="0" b="0"/>
          <a:stretch/>
        </p:blipFill>
        <p:spPr>
          <a:xfrm>
            <a:off x="548640" y="2395728"/>
            <a:ext cx="5120640" cy="3429000"/>
          </a:xfrm>
          <a:prstGeom prst="rect">
            <a:avLst/>
          </a:prstGeom>
        </p:spPr>
      </p:pic>
      <p:sp>
        <p:nvSpPr>
          <p:cNvPr id="20" name="Text 16"/>
          <p:cNvSpPr txBox="1"/>
          <p:nvPr/>
        </p:nvSpPr>
        <p:spPr>
          <a:xfrm>
            <a:off x="548640" y="5897880"/>
            <a:ext cx="5120640"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Red Fort Project, Dharampur — photography</a:t>
            </a:r>
            <a:endParaRPr lang="en-US" sz="1000" dirty="0"/>
          </a:p>
        </p:txBody>
      </p:sp>
      <p:sp>
        <p:nvSpPr>
          <p:cNvPr id="21" name="Text 17"/>
          <p:cNvSpPr txBox="1"/>
          <p:nvPr/>
        </p:nvSpPr>
        <p:spPr>
          <a:xfrm>
            <a:off x="6172200" y="2395728"/>
            <a:ext cx="547085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EACH PROJECT PAGE CARRIES</a:t>
            </a:r>
            <a:endParaRPr lang="en-US" sz="950" dirty="0"/>
          </a:p>
        </p:txBody>
      </p:sp>
      <p:sp>
        <p:nvSpPr>
          <p:cNvPr id="22" name="Shape 18"/>
          <p:cNvSpPr/>
          <p:nvPr/>
        </p:nvSpPr>
        <p:spPr>
          <a:xfrm>
            <a:off x="6172200" y="2715768"/>
            <a:ext cx="5470855" cy="0"/>
          </a:xfrm>
          <a:prstGeom prst="line">
            <a:avLst/>
          </a:prstGeom>
          <a:noFill/>
          <a:ln w="9525">
            <a:solidFill>
              <a:schemeClr val="tx1"/>
            </a:solidFill>
            <a:prstDash val="solid"/>
          </a:ln>
        </p:spPr>
      </p:sp>
      <p:sp>
        <p:nvSpPr>
          <p:cNvPr id="23" name="Text 19"/>
          <p:cNvSpPr txBox="1"/>
          <p:nvPr/>
        </p:nvSpPr>
        <p:spPr>
          <a:xfrm>
            <a:off x="6172200" y="28254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Title &amp; place</a:t>
            </a:r>
            <a:endParaRPr lang="en-US" sz="1300" dirty="0"/>
          </a:p>
        </p:txBody>
      </p:sp>
      <p:sp>
        <p:nvSpPr>
          <p:cNvPr id="24" name="Text 20"/>
          <p:cNvSpPr txBox="1"/>
          <p:nvPr/>
        </p:nvSpPr>
        <p:spPr>
          <a:xfrm>
            <a:off x="7635240" y="28346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Red Fort Project, Dharampur</a:t>
            </a:r>
            <a:endParaRPr lang="en-US" sz="1250" dirty="0"/>
          </a:p>
        </p:txBody>
      </p:sp>
      <p:sp>
        <p:nvSpPr>
          <p:cNvPr id="25" name="Shape 21"/>
          <p:cNvSpPr/>
          <p:nvPr/>
        </p:nvSpPr>
        <p:spPr>
          <a:xfrm>
            <a:off x="6172200" y="3172968"/>
            <a:ext cx="5470855" cy="0"/>
          </a:xfrm>
          <a:prstGeom prst="line">
            <a:avLst/>
          </a:prstGeom>
          <a:noFill/>
          <a:ln w="9525">
            <a:solidFill>
              <a:schemeClr val="accent5"/>
            </a:solidFill>
            <a:prstDash val="solid"/>
          </a:ln>
        </p:spPr>
      </p:sp>
      <p:sp>
        <p:nvSpPr>
          <p:cNvPr id="26" name="Text 22"/>
          <p:cNvSpPr txBox="1"/>
          <p:nvPr/>
        </p:nvSpPr>
        <p:spPr>
          <a:xfrm>
            <a:off x="6172200" y="32826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Facts</a:t>
            </a:r>
            <a:endParaRPr lang="en-US" sz="1300" dirty="0"/>
          </a:p>
        </p:txBody>
      </p:sp>
      <p:sp>
        <p:nvSpPr>
          <p:cNvPr id="27" name="Text 23"/>
          <p:cNvSpPr txBox="1"/>
          <p:nvPr/>
        </p:nvSpPr>
        <p:spPr>
          <a:xfrm>
            <a:off x="7635240" y="32918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Type · scope · status · year · collaborators</a:t>
            </a:r>
            <a:endParaRPr lang="en-US" sz="1250" dirty="0"/>
          </a:p>
        </p:txBody>
      </p:sp>
      <p:sp>
        <p:nvSpPr>
          <p:cNvPr id="28" name="Shape 24"/>
          <p:cNvSpPr/>
          <p:nvPr/>
        </p:nvSpPr>
        <p:spPr>
          <a:xfrm>
            <a:off x="6172200" y="3630168"/>
            <a:ext cx="5470855" cy="0"/>
          </a:xfrm>
          <a:prstGeom prst="line">
            <a:avLst/>
          </a:prstGeom>
          <a:noFill/>
          <a:ln w="9525">
            <a:solidFill>
              <a:schemeClr val="accent5"/>
            </a:solidFill>
            <a:prstDash val="solid"/>
          </a:ln>
        </p:spPr>
      </p:sp>
      <p:sp>
        <p:nvSpPr>
          <p:cNvPr id="29" name="Text 25"/>
          <p:cNvSpPr txBox="1"/>
          <p:nvPr/>
        </p:nvSpPr>
        <p:spPr>
          <a:xfrm>
            <a:off x="6172200" y="37398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Story</a:t>
            </a:r>
            <a:endParaRPr lang="en-US" sz="1300" dirty="0"/>
          </a:p>
        </p:txBody>
      </p:sp>
      <p:sp>
        <p:nvSpPr>
          <p:cNvPr id="30" name="Text 26"/>
          <p:cNvSpPr txBox="1"/>
          <p:nvPr/>
        </p:nvSpPr>
        <p:spPr>
          <a:xfrm>
            <a:off x="7635240" y="37490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150–400 words: the brief, the site, what MACK did</a:t>
            </a:r>
            <a:endParaRPr lang="en-US" sz="1250" dirty="0"/>
          </a:p>
        </p:txBody>
      </p:sp>
      <p:sp>
        <p:nvSpPr>
          <p:cNvPr id="31" name="Shape 27"/>
          <p:cNvSpPr/>
          <p:nvPr/>
        </p:nvSpPr>
        <p:spPr>
          <a:xfrm>
            <a:off x="6172200" y="4087368"/>
            <a:ext cx="5470855" cy="0"/>
          </a:xfrm>
          <a:prstGeom prst="line">
            <a:avLst/>
          </a:prstGeom>
          <a:noFill/>
          <a:ln w="9525">
            <a:solidFill>
              <a:schemeClr val="accent5"/>
            </a:solidFill>
            <a:prstDash val="solid"/>
          </a:ln>
        </p:spPr>
      </p:sp>
      <p:sp>
        <p:nvSpPr>
          <p:cNvPr id="32" name="Text 28"/>
          <p:cNvSpPr txBox="1"/>
          <p:nvPr/>
        </p:nvSpPr>
        <p:spPr>
          <a:xfrm>
            <a:off x="6172200" y="41970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Images</a:t>
            </a:r>
            <a:endParaRPr lang="en-US" sz="1300" dirty="0"/>
          </a:p>
        </p:txBody>
      </p:sp>
      <p:sp>
        <p:nvSpPr>
          <p:cNvPr id="33" name="Text 29"/>
          <p:cNvSpPr txBox="1"/>
          <p:nvPr/>
        </p:nvSpPr>
        <p:spPr>
          <a:xfrm>
            <a:off x="7635240" y="42062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Descriptive names, alt text, photographer credited</a:t>
            </a:r>
            <a:endParaRPr lang="en-US" sz="1250" dirty="0"/>
          </a:p>
        </p:txBody>
      </p:sp>
      <p:sp>
        <p:nvSpPr>
          <p:cNvPr id="34" name="Shape 30"/>
          <p:cNvSpPr/>
          <p:nvPr/>
        </p:nvSpPr>
        <p:spPr>
          <a:xfrm>
            <a:off x="6172200" y="4544568"/>
            <a:ext cx="5470855" cy="0"/>
          </a:xfrm>
          <a:prstGeom prst="line">
            <a:avLst/>
          </a:prstGeom>
          <a:noFill/>
          <a:ln w="9525">
            <a:solidFill>
              <a:schemeClr val="accent5"/>
            </a:solidFill>
            <a:prstDash val="solid"/>
          </a:ln>
        </p:spPr>
      </p:sp>
      <p:sp>
        <p:nvSpPr>
          <p:cNvPr id="35" name="Text 31"/>
          <p:cNvSpPr txBox="1"/>
          <p:nvPr/>
        </p:nvSpPr>
        <p:spPr>
          <a:xfrm>
            <a:off x="6172200" y="46542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Links</a:t>
            </a:r>
            <a:endParaRPr lang="en-US" sz="1300" dirty="0"/>
          </a:p>
        </p:txBody>
      </p:sp>
      <p:sp>
        <p:nvSpPr>
          <p:cNvPr id="36" name="Text 32"/>
          <p:cNvSpPr txBox="1"/>
          <p:nvPr/>
        </p:nvSpPr>
        <p:spPr>
          <a:xfrm>
            <a:off x="7635240" y="46634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Related projects, the service, “discuss a similar project”</a:t>
            </a:r>
            <a:endParaRPr lang="en-US" sz="1250" dirty="0"/>
          </a:p>
        </p:txBody>
      </p:sp>
      <p:sp>
        <p:nvSpPr>
          <p:cNvPr id="37" name="Shape 33"/>
          <p:cNvSpPr/>
          <p:nvPr/>
        </p:nvSpPr>
        <p:spPr>
          <a:xfrm>
            <a:off x="6172200" y="5001768"/>
            <a:ext cx="5470855" cy="0"/>
          </a:xfrm>
          <a:prstGeom prst="line">
            <a:avLst/>
          </a:prstGeom>
          <a:noFill/>
          <a:ln w="9525">
            <a:solidFill>
              <a:schemeClr val="accent5"/>
            </a:solidFill>
            <a:prstDash val="solid"/>
          </a:ln>
        </p:spPr>
      </p:sp>
      <p:sp>
        <p:nvSpPr>
          <p:cNvPr id="38" name="Text 34"/>
          <p:cNvSpPr txBox="1"/>
          <p:nvPr/>
        </p:nvSpPr>
        <p:spPr>
          <a:xfrm>
            <a:off x="6172200" y="5111496"/>
            <a:ext cx="1417320" cy="27432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mj-lt" pitchFamily="34" charset="0"/>
                <a:ea typeface="+mj-lt" pitchFamily="34" charset="-122"/>
                <a:cs typeface="+mj-lt" pitchFamily="34" charset="-120"/>
              </a:rPr>
              <a:t>Data</a:t>
            </a:r>
            <a:endParaRPr lang="en-US" sz="1300" dirty="0"/>
          </a:p>
        </p:txBody>
      </p:sp>
      <p:sp>
        <p:nvSpPr>
          <p:cNvPr id="39" name="Text 35"/>
          <p:cNvSpPr txBox="1"/>
          <p:nvPr/>
        </p:nvSpPr>
        <p:spPr>
          <a:xfrm>
            <a:off x="7635240" y="5120640"/>
            <a:ext cx="4007815" cy="292608"/>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Structured data, so search engines read it as a project</a:t>
            </a:r>
            <a:endParaRPr lang="en-US" sz="1250" dirty="0"/>
          </a:p>
        </p:txBody>
      </p:sp>
      <p:sp>
        <p:nvSpPr>
          <p:cNvPr id="40" name="Shape 36"/>
          <p:cNvSpPr/>
          <p:nvPr/>
        </p:nvSpPr>
        <p:spPr>
          <a:xfrm>
            <a:off x="6172200" y="5458968"/>
            <a:ext cx="5470855" cy="0"/>
          </a:xfrm>
          <a:prstGeom prst="line">
            <a:avLst/>
          </a:prstGeom>
          <a:noFill/>
          <a:ln w="9525">
            <a:solidFill>
              <a:schemeClr val="accent5"/>
            </a:solidFill>
            <a:prstDash val="solid"/>
          </a:ln>
        </p:spPr>
      </p:sp>
      <p:sp>
        <p:nvSpPr>
          <p:cNvPr id="41" name="Shape 37"/>
          <p:cNvSpPr/>
          <p:nvPr/>
        </p:nvSpPr>
        <p:spPr>
          <a:xfrm>
            <a:off x="6172200" y="5596128"/>
            <a:ext cx="5470855" cy="548640"/>
          </a:xfrm>
          <a:prstGeom prst="rect">
            <a:avLst/>
          </a:prstGeom>
          <a:solidFill>
            <a:schemeClr val="bg2"/>
          </a:solidFill>
          <a:ln/>
        </p:spPr>
      </p:sp>
      <p:sp>
        <p:nvSpPr>
          <p:cNvPr id="42" name="Text 38"/>
          <p:cNvSpPr txBox="1"/>
          <p:nvPr/>
        </p:nvSpPr>
        <p:spPr>
          <a:xfrm>
            <a:off x="6355080" y="5596128"/>
            <a:ext cx="5196535" cy="548640"/>
          </a:xfrm>
          <a:prstGeom prst="rect">
            <a:avLst/>
          </a:prstGeom>
          <a:noFill/>
          <a:ln/>
        </p:spPr>
        <p:txBody>
          <a:bodyPr wrap="square" lIns="0" tIns="0" rIns="0" bIns="0" rtlCol="0" anchor="ctr"/>
          <a:lstStyle/>
          <a:p>
            <a:pPr algn="l" indent="0" marL="0">
              <a:lnSpc>
                <a:spcPct val="112000"/>
              </a:lnSpc>
              <a:buNone/>
            </a:pPr>
            <a:r>
              <a:rPr lang="en-US" sz="1300" dirty="0">
                <a:solidFill>
                  <a:schemeClr val="tx1"/>
                </a:solidFill>
              </a:rPr>
              <a:t>From the studio: about 10 minutes per project, through a short form.</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10 — PROFESSIONAL INFRASTRUCTURE</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Email, storage and a real backup</a:t>
            </a:r>
            <a:endParaRPr lang="en-US" sz="3200" dirty="0"/>
          </a:p>
        </p:txBody>
      </p:sp>
      <p:sp>
        <p:nvSpPr>
          <p:cNvPr id="5" name="Text 2"/>
          <p:cNvSpPr txBox="1"/>
          <p:nvPr/>
        </p:nvSpPr>
        <p:spPr>
          <a:xfrm>
            <a:off x="548640" y="1645920"/>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01</a:t>
            </a:r>
            <a:endParaRPr lang="en-US" sz="1100" dirty="0"/>
          </a:p>
        </p:txBody>
      </p:sp>
      <p:sp>
        <p:nvSpPr>
          <p:cNvPr id="6" name="Text 3"/>
          <p:cNvSpPr txBox="1"/>
          <p:nvPr/>
        </p:nvSpPr>
        <p:spPr>
          <a:xfrm>
            <a:off x="548640" y="1901952"/>
            <a:ext cx="3429000" cy="457200"/>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Email</a:t>
            </a:r>
            <a:endParaRPr lang="en-US" sz="2200" dirty="0"/>
          </a:p>
        </p:txBody>
      </p:sp>
      <p:sp>
        <p:nvSpPr>
          <p:cNvPr id="7" name="Text 4"/>
          <p:cNvSpPr txBox="1"/>
          <p:nvPr/>
        </p:nvSpPr>
        <p:spPr>
          <a:xfrm>
            <a:off x="548640" y="2423160"/>
            <a:ext cx="3429000" cy="566928"/>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Gmail address → name@ studio domain</a:t>
            </a:r>
            <a:endParaRPr lang="en-US" sz="1400" dirty="0"/>
          </a:p>
        </p:txBody>
      </p:sp>
      <p:sp>
        <p:nvSpPr>
          <p:cNvPr id="8" name="Shape 5"/>
          <p:cNvSpPr/>
          <p:nvPr/>
        </p:nvSpPr>
        <p:spPr>
          <a:xfrm>
            <a:off x="548640" y="3108960"/>
            <a:ext cx="3429000" cy="0"/>
          </a:xfrm>
          <a:prstGeom prst="line">
            <a:avLst/>
          </a:prstGeom>
          <a:noFill/>
          <a:ln w="9525">
            <a:solidFill>
              <a:schemeClr val="tx1"/>
            </a:solidFill>
            <a:prstDash val="solid"/>
          </a:ln>
        </p:spPr>
      </p:sp>
      <p:sp>
        <p:nvSpPr>
          <p:cNvPr id="9" name="Text 6"/>
          <p:cNvSpPr txBox="1"/>
          <p:nvPr/>
        </p:nvSpPr>
        <p:spPr>
          <a:xfrm>
            <a:off x="548640" y="3218688"/>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Authenticated (SPF, DKIM, DMARC) so mail is trusted</a:t>
            </a:r>
            <a:endParaRPr lang="en-US" sz="1300" dirty="0"/>
          </a:p>
        </p:txBody>
      </p:sp>
      <p:sp>
        <p:nvSpPr>
          <p:cNvPr id="10" name="Shape 7"/>
          <p:cNvSpPr/>
          <p:nvPr/>
        </p:nvSpPr>
        <p:spPr>
          <a:xfrm>
            <a:off x="548640" y="3822192"/>
            <a:ext cx="3429000" cy="0"/>
          </a:xfrm>
          <a:prstGeom prst="line">
            <a:avLst/>
          </a:prstGeom>
          <a:noFill/>
          <a:ln w="9525">
            <a:solidFill>
              <a:schemeClr val="accent5"/>
            </a:solidFill>
            <a:prstDash val="solid"/>
          </a:ln>
        </p:spPr>
      </p:sp>
      <p:sp>
        <p:nvSpPr>
          <p:cNvPr id="11" name="Text 8"/>
          <p:cNvSpPr txBox="1"/>
          <p:nvPr/>
        </p:nvSpPr>
        <p:spPr>
          <a:xfrm>
            <a:off x="548640" y="3931920"/>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Shared addresses: studio@, careers@</a:t>
            </a:r>
            <a:endParaRPr lang="en-US" sz="1300" dirty="0"/>
          </a:p>
        </p:txBody>
      </p:sp>
      <p:sp>
        <p:nvSpPr>
          <p:cNvPr id="12" name="Shape 9"/>
          <p:cNvSpPr/>
          <p:nvPr/>
        </p:nvSpPr>
        <p:spPr>
          <a:xfrm>
            <a:off x="548640" y="4535424"/>
            <a:ext cx="3429000" cy="0"/>
          </a:xfrm>
          <a:prstGeom prst="line">
            <a:avLst/>
          </a:prstGeom>
          <a:noFill/>
          <a:ln w="9525">
            <a:solidFill>
              <a:schemeClr val="accent5"/>
            </a:solidFill>
            <a:prstDash val="solid"/>
          </a:ln>
        </p:spPr>
      </p:sp>
      <p:sp>
        <p:nvSpPr>
          <p:cNvPr id="13" name="Text 10"/>
          <p:cNvSpPr txBox="1"/>
          <p:nvPr/>
        </p:nvSpPr>
        <p:spPr>
          <a:xfrm>
            <a:off x="548640" y="4645152"/>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Old address forwarded — nothing lost</a:t>
            </a:r>
            <a:endParaRPr lang="en-US" sz="1300" dirty="0"/>
          </a:p>
        </p:txBody>
      </p:sp>
      <p:sp>
        <p:nvSpPr>
          <p:cNvPr id="14" name="Text 11"/>
          <p:cNvSpPr txBox="1"/>
          <p:nvPr/>
        </p:nvSpPr>
        <p:spPr>
          <a:xfrm>
            <a:off x="4379976" y="1645920"/>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02</a:t>
            </a:r>
            <a:endParaRPr lang="en-US" sz="1100" dirty="0"/>
          </a:p>
        </p:txBody>
      </p:sp>
      <p:sp>
        <p:nvSpPr>
          <p:cNvPr id="15" name="Text 12"/>
          <p:cNvSpPr txBox="1"/>
          <p:nvPr/>
        </p:nvSpPr>
        <p:spPr>
          <a:xfrm>
            <a:off x="4379976" y="1901952"/>
            <a:ext cx="3429000" cy="457200"/>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Cloud workspace</a:t>
            </a:r>
            <a:endParaRPr lang="en-US" sz="2200" dirty="0"/>
          </a:p>
        </p:txBody>
      </p:sp>
      <p:sp>
        <p:nvSpPr>
          <p:cNvPr id="16" name="Text 13"/>
          <p:cNvSpPr txBox="1"/>
          <p:nvPr/>
        </p:nvSpPr>
        <p:spPr>
          <a:xfrm>
            <a:off x="4379976" y="2423160"/>
            <a:ext cx="3429000" cy="566928"/>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Shared drives for 2–3 TB of project files</a:t>
            </a:r>
            <a:endParaRPr lang="en-US" sz="1400" dirty="0"/>
          </a:p>
        </p:txBody>
      </p:sp>
      <p:sp>
        <p:nvSpPr>
          <p:cNvPr id="17" name="Shape 14"/>
          <p:cNvSpPr/>
          <p:nvPr/>
        </p:nvSpPr>
        <p:spPr>
          <a:xfrm>
            <a:off x="4379976" y="3108960"/>
            <a:ext cx="3429000" cy="0"/>
          </a:xfrm>
          <a:prstGeom prst="line">
            <a:avLst/>
          </a:prstGeom>
          <a:noFill/>
          <a:ln w="9525">
            <a:solidFill>
              <a:schemeClr val="tx1"/>
            </a:solidFill>
            <a:prstDash val="solid"/>
          </a:ln>
        </p:spPr>
      </p:sp>
      <p:sp>
        <p:nvSpPr>
          <p:cNvPr id="18" name="Text 15"/>
          <p:cNvSpPr txBox="1"/>
          <p:nvPr/>
        </p:nvSpPr>
        <p:spPr>
          <a:xfrm>
            <a:off x="4379976" y="3218688"/>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One folder system for every project</a:t>
            </a:r>
            <a:endParaRPr lang="en-US" sz="1300" dirty="0"/>
          </a:p>
        </p:txBody>
      </p:sp>
      <p:sp>
        <p:nvSpPr>
          <p:cNvPr id="19" name="Shape 16"/>
          <p:cNvSpPr/>
          <p:nvPr/>
        </p:nvSpPr>
        <p:spPr>
          <a:xfrm>
            <a:off x="4379976" y="3822192"/>
            <a:ext cx="3429000" cy="0"/>
          </a:xfrm>
          <a:prstGeom prst="line">
            <a:avLst/>
          </a:prstGeom>
          <a:noFill/>
          <a:ln w="9525">
            <a:solidFill>
              <a:schemeClr val="accent5"/>
            </a:solidFill>
            <a:prstDash val="solid"/>
          </a:ln>
        </p:spPr>
      </p:sp>
      <p:sp>
        <p:nvSpPr>
          <p:cNvPr id="20" name="Text 17"/>
          <p:cNvSpPr txBox="1"/>
          <p:nvPr/>
        </p:nvSpPr>
        <p:spPr>
          <a:xfrm>
            <a:off x="4379976" y="3931920"/>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Access by role; clients see only what is issued</a:t>
            </a:r>
            <a:endParaRPr lang="en-US" sz="1300" dirty="0"/>
          </a:p>
        </p:txBody>
      </p:sp>
      <p:sp>
        <p:nvSpPr>
          <p:cNvPr id="21" name="Shape 18"/>
          <p:cNvSpPr/>
          <p:nvPr/>
        </p:nvSpPr>
        <p:spPr>
          <a:xfrm>
            <a:off x="4379976" y="4535424"/>
            <a:ext cx="3429000" cy="0"/>
          </a:xfrm>
          <a:prstGeom prst="line">
            <a:avLst/>
          </a:prstGeom>
          <a:noFill/>
          <a:ln w="9525">
            <a:solidFill>
              <a:schemeClr val="accent5"/>
            </a:solidFill>
            <a:prstDash val="solid"/>
          </a:ln>
        </p:spPr>
      </p:sp>
      <p:sp>
        <p:nvSpPr>
          <p:cNvPr id="22" name="Text 19"/>
          <p:cNvSpPr txBox="1"/>
          <p:nvPr/>
        </p:nvSpPr>
        <p:spPr>
          <a:xfrm>
            <a:off x="4379976" y="4645152"/>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Large CAD and render files available on studio machines</a:t>
            </a:r>
            <a:endParaRPr lang="en-US" sz="1300" dirty="0"/>
          </a:p>
        </p:txBody>
      </p:sp>
      <p:sp>
        <p:nvSpPr>
          <p:cNvPr id="23" name="Text 20"/>
          <p:cNvSpPr txBox="1"/>
          <p:nvPr/>
        </p:nvSpPr>
        <p:spPr>
          <a:xfrm>
            <a:off x="8211312" y="1645920"/>
            <a:ext cx="45720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2"/>
                </a:solidFill>
              </a:rPr>
              <a:t>03</a:t>
            </a:r>
            <a:endParaRPr lang="en-US" sz="1100" dirty="0"/>
          </a:p>
        </p:txBody>
      </p:sp>
      <p:sp>
        <p:nvSpPr>
          <p:cNvPr id="24" name="Text 21"/>
          <p:cNvSpPr txBox="1"/>
          <p:nvPr/>
        </p:nvSpPr>
        <p:spPr>
          <a:xfrm>
            <a:off x="8211312" y="1901952"/>
            <a:ext cx="3429000" cy="457200"/>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Backup</a:t>
            </a:r>
            <a:endParaRPr lang="en-US" sz="2200" dirty="0"/>
          </a:p>
        </p:txBody>
      </p:sp>
      <p:sp>
        <p:nvSpPr>
          <p:cNvPr id="25" name="Text 22"/>
          <p:cNvSpPr txBox="1"/>
          <p:nvPr/>
        </p:nvSpPr>
        <p:spPr>
          <a:xfrm>
            <a:off x="8211312" y="2423160"/>
            <a:ext cx="3429000" cy="566928"/>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An independent copy outside the cloud account</a:t>
            </a:r>
            <a:endParaRPr lang="en-US" sz="1400" dirty="0"/>
          </a:p>
        </p:txBody>
      </p:sp>
      <p:sp>
        <p:nvSpPr>
          <p:cNvPr id="26" name="Shape 23"/>
          <p:cNvSpPr/>
          <p:nvPr/>
        </p:nvSpPr>
        <p:spPr>
          <a:xfrm>
            <a:off x="8211312" y="3108960"/>
            <a:ext cx="3429000" cy="0"/>
          </a:xfrm>
          <a:prstGeom prst="line">
            <a:avLst/>
          </a:prstGeom>
          <a:noFill/>
          <a:ln w="9525">
            <a:solidFill>
              <a:schemeClr val="tx1"/>
            </a:solidFill>
            <a:prstDash val="solid"/>
          </a:ln>
        </p:spPr>
      </p:sp>
      <p:sp>
        <p:nvSpPr>
          <p:cNvPr id="27" name="Text 24"/>
          <p:cNvSpPr txBox="1"/>
          <p:nvPr/>
        </p:nvSpPr>
        <p:spPr>
          <a:xfrm>
            <a:off x="8211312" y="3218688"/>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Versioned: last week’s or last month’s file can be recovered</a:t>
            </a:r>
            <a:endParaRPr lang="en-US" sz="1300" dirty="0"/>
          </a:p>
        </p:txBody>
      </p:sp>
      <p:sp>
        <p:nvSpPr>
          <p:cNvPr id="28" name="Shape 25"/>
          <p:cNvSpPr/>
          <p:nvPr/>
        </p:nvSpPr>
        <p:spPr>
          <a:xfrm>
            <a:off x="8211312" y="3822192"/>
            <a:ext cx="3429000" cy="0"/>
          </a:xfrm>
          <a:prstGeom prst="line">
            <a:avLst/>
          </a:prstGeom>
          <a:noFill/>
          <a:ln w="9525">
            <a:solidFill>
              <a:schemeClr val="accent5"/>
            </a:solidFill>
            <a:prstDash val="solid"/>
          </a:ln>
        </p:spPr>
      </p:sp>
      <p:sp>
        <p:nvSpPr>
          <p:cNvPr id="29" name="Text 26"/>
          <p:cNvSpPr txBox="1"/>
          <p:nvPr/>
        </p:nvSpPr>
        <p:spPr>
          <a:xfrm>
            <a:off x="8211312" y="3931920"/>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One copy kept off-site</a:t>
            </a:r>
            <a:endParaRPr lang="en-US" sz="1300" dirty="0"/>
          </a:p>
        </p:txBody>
      </p:sp>
      <p:sp>
        <p:nvSpPr>
          <p:cNvPr id="30" name="Shape 27"/>
          <p:cNvSpPr/>
          <p:nvPr/>
        </p:nvSpPr>
        <p:spPr>
          <a:xfrm>
            <a:off x="8211312" y="4535424"/>
            <a:ext cx="3429000" cy="0"/>
          </a:xfrm>
          <a:prstGeom prst="line">
            <a:avLst/>
          </a:prstGeom>
          <a:noFill/>
          <a:ln w="9525">
            <a:solidFill>
              <a:schemeClr val="accent5"/>
            </a:solidFill>
            <a:prstDash val="solid"/>
          </a:ln>
        </p:spPr>
      </p:sp>
      <p:sp>
        <p:nvSpPr>
          <p:cNvPr id="31" name="Text 28"/>
          <p:cNvSpPr txBox="1"/>
          <p:nvPr/>
        </p:nvSpPr>
        <p:spPr>
          <a:xfrm>
            <a:off x="8211312" y="4645152"/>
            <a:ext cx="3429000" cy="548640"/>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Restores tested every quarter</a:t>
            </a:r>
            <a:endParaRPr lang="en-US" sz="1300" dirty="0"/>
          </a:p>
        </p:txBody>
      </p:sp>
      <p:sp>
        <p:nvSpPr>
          <p:cNvPr id="32" name="Shape 29"/>
          <p:cNvSpPr/>
          <p:nvPr/>
        </p:nvSpPr>
        <p:spPr>
          <a:xfrm>
            <a:off x="548640" y="5440680"/>
            <a:ext cx="11094415" cy="685800"/>
          </a:xfrm>
          <a:prstGeom prst="rect">
            <a:avLst/>
          </a:prstGeom>
          <a:solidFill>
            <a:schemeClr val="accent1"/>
          </a:solidFill>
          <a:ln/>
        </p:spPr>
      </p:sp>
      <p:sp>
        <p:nvSpPr>
          <p:cNvPr id="33" name="Text 30"/>
          <p:cNvSpPr txBox="1"/>
          <p:nvPr/>
        </p:nvSpPr>
        <p:spPr>
          <a:xfrm>
            <a:off x="777240" y="5440680"/>
            <a:ext cx="2560320" cy="685800"/>
          </a:xfrm>
          <a:prstGeom prst="rect">
            <a:avLst/>
          </a:prstGeom>
          <a:noFill/>
          <a:ln/>
        </p:spPr>
        <p:txBody>
          <a:bodyPr wrap="square" lIns="0" tIns="0" rIns="0" bIns="0" rtlCol="0" anchor="ctr"/>
          <a:lstStyle/>
          <a:p>
            <a:pPr algn="l" indent="0" marL="0">
              <a:lnSpc>
                <a:spcPct val="112000"/>
              </a:lnSpc>
              <a:buNone/>
            </a:pPr>
            <a:r>
              <a:rPr lang="en-US" sz="1700" dirty="0">
                <a:solidFill>
                  <a:schemeClr val="bg1"/>
                </a:solidFill>
                <a:latin typeface="+mj-lt" pitchFamily="34" charset="0"/>
                <a:ea typeface="+mj-lt" pitchFamily="34" charset="-122"/>
                <a:cs typeface="+mj-lt" pitchFamily="34" charset="-120"/>
              </a:rPr>
              <a:t>Sync is not backup.</a:t>
            </a:r>
            <a:endParaRPr lang="en-US" sz="1700" dirty="0"/>
          </a:p>
        </p:txBody>
      </p:sp>
      <p:sp>
        <p:nvSpPr>
          <p:cNvPr id="34" name="Text 31"/>
          <p:cNvSpPr txBox="1"/>
          <p:nvPr/>
        </p:nvSpPr>
        <p:spPr>
          <a:xfrm>
            <a:off x="3291840" y="5440680"/>
            <a:ext cx="8138160" cy="685800"/>
          </a:xfrm>
          <a:prstGeom prst="rect">
            <a:avLst/>
          </a:prstGeom>
          <a:noFill/>
          <a:ln/>
        </p:spPr>
        <p:txBody>
          <a:bodyPr wrap="square" lIns="0" tIns="0" rIns="0" bIns="0" rtlCol="0" anchor="ctr"/>
          <a:lstStyle/>
          <a:p>
            <a:pPr algn="l" indent="0" marL="0">
              <a:lnSpc>
                <a:spcPct val="112000"/>
              </a:lnSpc>
              <a:buNone/>
            </a:pPr>
            <a:r>
              <a:rPr lang="en-US" sz="1300" dirty="0">
                <a:solidFill>
                  <a:schemeClr val="accent4"/>
                </a:solidFill>
              </a:rPr>
              <a:t>A deleted or overwritten file syncs everywhere within seconds, and cloud version history is time-limited. The backup is a separate copy.</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11 — MEASUREMENT</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What we measure, and what we leave out</a:t>
            </a:r>
            <a:endParaRPr lang="en-US" sz="3200" dirty="0"/>
          </a:p>
        </p:txBody>
      </p:sp>
      <p:sp>
        <p:nvSpPr>
          <p:cNvPr id="5" name="Text 2"/>
          <p:cNvSpPr txBox="1"/>
          <p:nvPr/>
        </p:nvSpPr>
        <p:spPr>
          <a:xfrm>
            <a:off x="548640" y="1691640"/>
            <a:ext cx="16459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STAGE</a:t>
            </a:r>
            <a:endParaRPr lang="en-US" sz="950" dirty="0"/>
          </a:p>
        </p:txBody>
      </p:sp>
      <p:sp>
        <p:nvSpPr>
          <p:cNvPr id="6" name="Text 3"/>
          <p:cNvSpPr txBox="1"/>
          <p:nvPr/>
        </p:nvSpPr>
        <p:spPr>
          <a:xfrm>
            <a:off x="2331720" y="1691640"/>
            <a:ext cx="36576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MEASURE</a:t>
            </a:r>
            <a:endParaRPr lang="en-US" sz="950" dirty="0"/>
          </a:p>
        </p:txBody>
      </p:sp>
      <p:sp>
        <p:nvSpPr>
          <p:cNvPr id="7" name="Text 4"/>
          <p:cNvSpPr txBox="1"/>
          <p:nvPr/>
        </p:nvSpPr>
        <p:spPr>
          <a:xfrm>
            <a:off x="6355080" y="1691640"/>
            <a:ext cx="16459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SOURCE</a:t>
            </a:r>
            <a:endParaRPr lang="en-US" sz="950" dirty="0"/>
          </a:p>
        </p:txBody>
      </p:sp>
      <p:sp>
        <p:nvSpPr>
          <p:cNvPr id="8" name="Shape 5"/>
          <p:cNvSpPr/>
          <p:nvPr/>
        </p:nvSpPr>
        <p:spPr>
          <a:xfrm>
            <a:off x="548640" y="2011680"/>
            <a:ext cx="7543800" cy="0"/>
          </a:xfrm>
          <a:prstGeom prst="line">
            <a:avLst/>
          </a:prstGeom>
          <a:noFill/>
          <a:ln w="9525">
            <a:solidFill>
              <a:schemeClr val="tx1"/>
            </a:solidFill>
            <a:prstDash val="solid"/>
          </a:ln>
        </p:spPr>
      </p:sp>
      <p:sp>
        <p:nvSpPr>
          <p:cNvPr id="9" name="Text 6"/>
          <p:cNvSpPr txBox="1"/>
          <p:nvPr/>
        </p:nvSpPr>
        <p:spPr>
          <a:xfrm>
            <a:off x="548640" y="2157984"/>
            <a:ext cx="1737360"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Visibility</a:t>
            </a:r>
            <a:endParaRPr lang="en-US" sz="1700" dirty="0"/>
          </a:p>
        </p:txBody>
      </p:sp>
      <p:sp>
        <p:nvSpPr>
          <p:cNvPr id="10" name="Text 7"/>
          <p:cNvSpPr txBox="1"/>
          <p:nvPr/>
        </p:nvSpPr>
        <p:spPr>
          <a:xfrm>
            <a:off x="2331720" y="2157984"/>
            <a:ext cx="3840480" cy="566928"/>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How often MACK appears in Google: name searches and new searches, kept separate</a:t>
            </a:r>
            <a:endParaRPr lang="en-US" sz="1300" dirty="0"/>
          </a:p>
        </p:txBody>
      </p:sp>
      <p:sp>
        <p:nvSpPr>
          <p:cNvPr id="11" name="Text 8"/>
          <p:cNvSpPr txBox="1"/>
          <p:nvPr/>
        </p:nvSpPr>
        <p:spPr>
          <a:xfrm>
            <a:off x="6355080" y="2194560"/>
            <a:ext cx="1737360" cy="457200"/>
          </a:xfrm>
          <a:prstGeom prst="rect">
            <a:avLst/>
          </a:prstGeom>
          <a:noFill/>
          <a:ln/>
        </p:spPr>
        <p:txBody>
          <a:bodyPr wrap="square" lIns="0" tIns="0" rIns="0" bIns="0" rtlCol="0" anchor="t"/>
          <a:lstStyle/>
          <a:p>
            <a:pPr algn="l" indent="0" marL="0">
              <a:lnSpc>
                <a:spcPct val="120000"/>
              </a:lnSpc>
              <a:buNone/>
            </a:pPr>
            <a:r>
              <a:rPr lang="en-US" sz="950" spc="120" kern="0" dirty="0">
                <a:solidFill>
                  <a:schemeClr val="accent2"/>
                </a:solidFill>
              </a:rPr>
              <a:t>SEARCH CONSOLE</a:t>
            </a:r>
            <a:endParaRPr lang="en-US" sz="950" dirty="0"/>
          </a:p>
        </p:txBody>
      </p:sp>
      <p:sp>
        <p:nvSpPr>
          <p:cNvPr id="12" name="Shape 9"/>
          <p:cNvSpPr/>
          <p:nvPr/>
        </p:nvSpPr>
        <p:spPr>
          <a:xfrm>
            <a:off x="548640" y="2779776"/>
            <a:ext cx="7543800" cy="0"/>
          </a:xfrm>
          <a:prstGeom prst="line">
            <a:avLst/>
          </a:prstGeom>
          <a:noFill/>
          <a:ln w="9525">
            <a:solidFill>
              <a:schemeClr val="accent5"/>
            </a:solidFill>
            <a:prstDash val="solid"/>
          </a:ln>
        </p:spPr>
      </p:sp>
      <p:sp>
        <p:nvSpPr>
          <p:cNvPr id="13" name="Text 10"/>
          <p:cNvSpPr txBox="1"/>
          <p:nvPr/>
        </p:nvSpPr>
        <p:spPr>
          <a:xfrm>
            <a:off x="548640" y="2926080"/>
            <a:ext cx="1737360"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Discovery</a:t>
            </a:r>
            <a:endParaRPr lang="en-US" sz="1700" dirty="0"/>
          </a:p>
        </p:txBody>
      </p:sp>
      <p:sp>
        <p:nvSpPr>
          <p:cNvPr id="14" name="Text 11"/>
          <p:cNvSpPr txBox="1"/>
          <p:nvPr/>
        </p:nvSpPr>
        <p:spPr>
          <a:xfrm>
            <a:off x="2331720" y="2926080"/>
            <a:ext cx="3840480" cy="566928"/>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Which projects and images people find; what they search on Maps</a:t>
            </a:r>
            <a:endParaRPr lang="en-US" sz="1300" dirty="0"/>
          </a:p>
        </p:txBody>
      </p:sp>
      <p:sp>
        <p:nvSpPr>
          <p:cNvPr id="15" name="Text 12"/>
          <p:cNvSpPr txBox="1"/>
          <p:nvPr/>
        </p:nvSpPr>
        <p:spPr>
          <a:xfrm>
            <a:off x="6355080" y="2962656"/>
            <a:ext cx="1737360" cy="457200"/>
          </a:xfrm>
          <a:prstGeom prst="rect">
            <a:avLst/>
          </a:prstGeom>
          <a:noFill/>
          <a:ln/>
        </p:spPr>
        <p:txBody>
          <a:bodyPr wrap="square" lIns="0" tIns="0" rIns="0" bIns="0" rtlCol="0" anchor="t"/>
          <a:lstStyle/>
          <a:p>
            <a:pPr algn="l" indent="0" marL="0">
              <a:lnSpc>
                <a:spcPct val="120000"/>
              </a:lnSpc>
              <a:buNone/>
            </a:pPr>
            <a:r>
              <a:rPr lang="en-US" sz="950" spc="120" kern="0" dirty="0">
                <a:solidFill>
                  <a:schemeClr val="accent2"/>
                </a:solidFill>
              </a:rPr>
              <a:t>SEARCH CONSOLE · PROFILE</a:t>
            </a:r>
            <a:endParaRPr lang="en-US" sz="950" dirty="0"/>
          </a:p>
        </p:txBody>
      </p:sp>
      <p:sp>
        <p:nvSpPr>
          <p:cNvPr id="16" name="Shape 13"/>
          <p:cNvSpPr/>
          <p:nvPr/>
        </p:nvSpPr>
        <p:spPr>
          <a:xfrm>
            <a:off x="548640" y="3547872"/>
            <a:ext cx="7543800" cy="0"/>
          </a:xfrm>
          <a:prstGeom prst="line">
            <a:avLst/>
          </a:prstGeom>
          <a:noFill/>
          <a:ln w="9525">
            <a:solidFill>
              <a:schemeClr val="accent5"/>
            </a:solidFill>
            <a:prstDash val="solid"/>
          </a:ln>
        </p:spPr>
      </p:sp>
      <p:sp>
        <p:nvSpPr>
          <p:cNvPr id="17" name="Text 14"/>
          <p:cNvSpPr txBox="1"/>
          <p:nvPr/>
        </p:nvSpPr>
        <p:spPr>
          <a:xfrm>
            <a:off x="548640" y="3694176"/>
            <a:ext cx="1737360"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Engagement</a:t>
            </a:r>
            <a:endParaRPr lang="en-US" sz="1700" dirty="0"/>
          </a:p>
        </p:txBody>
      </p:sp>
      <p:sp>
        <p:nvSpPr>
          <p:cNvPr id="18" name="Text 15"/>
          <p:cNvSpPr txBox="1"/>
          <p:nvPr/>
        </p:nvSpPr>
        <p:spPr>
          <a:xfrm>
            <a:off x="2331720" y="3694176"/>
            <a:ext cx="3840480" cy="566928"/>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Which project pages visitors explore</a:t>
            </a:r>
            <a:endParaRPr lang="en-US" sz="1300" dirty="0"/>
          </a:p>
        </p:txBody>
      </p:sp>
      <p:sp>
        <p:nvSpPr>
          <p:cNvPr id="19" name="Text 16"/>
          <p:cNvSpPr txBox="1"/>
          <p:nvPr/>
        </p:nvSpPr>
        <p:spPr>
          <a:xfrm>
            <a:off x="6355080" y="3730752"/>
            <a:ext cx="1737360" cy="457200"/>
          </a:xfrm>
          <a:prstGeom prst="rect">
            <a:avLst/>
          </a:prstGeom>
          <a:noFill/>
          <a:ln/>
        </p:spPr>
        <p:txBody>
          <a:bodyPr wrap="square" lIns="0" tIns="0" rIns="0" bIns="0" rtlCol="0" anchor="t"/>
          <a:lstStyle/>
          <a:p>
            <a:pPr algn="l" indent="0" marL="0">
              <a:lnSpc>
                <a:spcPct val="120000"/>
              </a:lnSpc>
              <a:buNone/>
            </a:pPr>
            <a:r>
              <a:rPr lang="en-US" sz="950" spc="120" kern="0" dirty="0">
                <a:solidFill>
                  <a:schemeClr val="accent2"/>
                </a:solidFill>
              </a:rPr>
              <a:t>ANALYTICS</a:t>
            </a:r>
            <a:endParaRPr lang="en-US" sz="950" dirty="0"/>
          </a:p>
        </p:txBody>
      </p:sp>
      <p:sp>
        <p:nvSpPr>
          <p:cNvPr id="20" name="Shape 17"/>
          <p:cNvSpPr/>
          <p:nvPr/>
        </p:nvSpPr>
        <p:spPr>
          <a:xfrm>
            <a:off x="548640" y="4315968"/>
            <a:ext cx="7543800" cy="0"/>
          </a:xfrm>
          <a:prstGeom prst="line">
            <a:avLst/>
          </a:prstGeom>
          <a:noFill/>
          <a:ln w="9525">
            <a:solidFill>
              <a:schemeClr val="accent5"/>
            </a:solidFill>
            <a:prstDash val="solid"/>
          </a:ln>
        </p:spPr>
      </p:sp>
      <p:sp>
        <p:nvSpPr>
          <p:cNvPr id="21" name="Text 18"/>
          <p:cNvSpPr txBox="1"/>
          <p:nvPr/>
        </p:nvSpPr>
        <p:spPr>
          <a:xfrm>
            <a:off x="548640" y="4462272"/>
            <a:ext cx="1737360"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Action</a:t>
            </a:r>
            <a:endParaRPr lang="en-US" sz="1700" dirty="0"/>
          </a:p>
        </p:txBody>
      </p:sp>
      <p:sp>
        <p:nvSpPr>
          <p:cNvPr id="22" name="Text 19"/>
          <p:cNvSpPr txBox="1"/>
          <p:nvPr/>
        </p:nvSpPr>
        <p:spPr>
          <a:xfrm>
            <a:off x="2331720" y="4462272"/>
            <a:ext cx="3840480" cy="566928"/>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Enquiries, call taps, email taps, direction requests</a:t>
            </a:r>
            <a:endParaRPr lang="en-US" sz="1300" dirty="0"/>
          </a:p>
        </p:txBody>
      </p:sp>
      <p:sp>
        <p:nvSpPr>
          <p:cNvPr id="23" name="Text 20"/>
          <p:cNvSpPr txBox="1"/>
          <p:nvPr/>
        </p:nvSpPr>
        <p:spPr>
          <a:xfrm>
            <a:off x="6355080" y="4498848"/>
            <a:ext cx="1737360" cy="457200"/>
          </a:xfrm>
          <a:prstGeom prst="rect">
            <a:avLst/>
          </a:prstGeom>
          <a:noFill/>
          <a:ln/>
        </p:spPr>
        <p:txBody>
          <a:bodyPr wrap="square" lIns="0" tIns="0" rIns="0" bIns="0" rtlCol="0" anchor="t"/>
          <a:lstStyle/>
          <a:p>
            <a:pPr algn="l" indent="0" marL="0">
              <a:lnSpc>
                <a:spcPct val="120000"/>
              </a:lnSpc>
              <a:buNone/>
            </a:pPr>
            <a:r>
              <a:rPr lang="en-US" sz="950" spc="120" kern="0" dirty="0">
                <a:solidFill>
                  <a:schemeClr val="accent2"/>
                </a:solidFill>
              </a:rPr>
              <a:t>ANALYTICS · PROFILE</a:t>
            </a:r>
            <a:endParaRPr lang="en-US" sz="950" dirty="0"/>
          </a:p>
        </p:txBody>
      </p:sp>
      <p:sp>
        <p:nvSpPr>
          <p:cNvPr id="24" name="Shape 21"/>
          <p:cNvSpPr/>
          <p:nvPr/>
        </p:nvSpPr>
        <p:spPr>
          <a:xfrm>
            <a:off x="548640" y="5084064"/>
            <a:ext cx="7543800" cy="0"/>
          </a:xfrm>
          <a:prstGeom prst="line">
            <a:avLst/>
          </a:prstGeom>
          <a:noFill/>
          <a:ln w="9525">
            <a:solidFill>
              <a:schemeClr val="accent5"/>
            </a:solidFill>
            <a:prstDash val="solid"/>
          </a:ln>
        </p:spPr>
      </p:sp>
      <p:sp>
        <p:nvSpPr>
          <p:cNvPr id="25" name="Text 22"/>
          <p:cNvSpPr txBox="1"/>
          <p:nvPr/>
        </p:nvSpPr>
        <p:spPr>
          <a:xfrm>
            <a:off x="548640" y="5230368"/>
            <a:ext cx="1737360" cy="365760"/>
          </a:xfrm>
          <a:prstGeom prst="rect">
            <a:avLst/>
          </a:prstGeom>
          <a:noFill/>
          <a:ln/>
        </p:spPr>
        <p:txBody>
          <a:bodyPr wrap="square" lIns="0" tIns="0" rIns="0" bIns="0" rtlCol="0" anchor="t"/>
          <a:lstStyle/>
          <a:p>
            <a:pPr algn="l" indent="0" marL="0">
              <a:lnSpc>
                <a:spcPct val="112000"/>
              </a:lnSpc>
              <a:buNone/>
            </a:pPr>
            <a:r>
              <a:rPr lang="en-US" sz="1700" dirty="0">
                <a:solidFill>
                  <a:schemeClr val="accent3"/>
                </a:solidFill>
                <a:latin typeface="+mj-lt" pitchFamily="34" charset="0"/>
                <a:ea typeface="+mj-lt" pitchFamily="34" charset="-122"/>
                <a:cs typeface="+mj-lt" pitchFamily="34" charset="-120"/>
              </a:rPr>
              <a:t>Outcome</a:t>
            </a:r>
            <a:endParaRPr lang="en-US" sz="1700" dirty="0"/>
          </a:p>
        </p:txBody>
      </p:sp>
      <p:sp>
        <p:nvSpPr>
          <p:cNvPr id="26" name="Text 23"/>
          <p:cNvSpPr txBox="1"/>
          <p:nvPr/>
        </p:nvSpPr>
        <p:spPr>
          <a:xfrm>
            <a:off x="2331720" y="5230368"/>
            <a:ext cx="3840480" cy="566928"/>
          </a:xfrm>
          <a:prstGeom prst="rect">
            <a:avLst/>
          </a:prstGeom>
          <a:noFill/>
          <a:ln/>
        </p:spPr>
        <p:txBody>
          <a:bodyPr wrap="square" lIns="0" tIns="0" rIns="0" bIns="0" rtlCol="0" anchor="t"/>
          <a:lstStyle/>
          <a:p>
            <a:pPr algn="l" indent="0" marL="0">
              <a:lnSpc>
                <a:spcPct val="115000"/>
              </a:lnSpc>
              <a:buNone/>
            </a:pPr>
            <a:r>
              <a:rPr lang="en-US" sz="1300" dirty="0">
                <a:solidFill>
                  <a:schemeClr val="tx2"/>
                </a:solidFill>
              </a:rPr>
              <a:t>Qualified enquiries, by where they came from</a:t>
            </a:r>
            <a:endParaRPr lang="en-US" sz="1300" dirty="0"/>
          </a:p>
        </p:txBody>
      </p:sp>
      <p:sp>
        <p:nvSpPr>
          <p:cNvPr id="27" name="Text 24"/>
          <p:cNvSpPr txBox="1"/>
          <p:nvPr/>
        </p:nvSpPr>
        <p:spPr>
          <a:xfrm>
            <a:off x="6355080" y="5266944"/>
            <a:ext cx="1737360" cy="457200"/>
          </a:xfrm>
          <a:prstGeom prst="rect">
            <a:avLst/>
          </a:prstGeom>
          <a:noFill/>
          <a:ln/>
        </p:spPr>
        <p:txBody>
          <a:bodyPr wrap="square" lIns="0" tIns="0" rIns="0" bIns="0" rtlCol="0" anchor="t"/>
          <a:lstStyle/>
          <a:p>
            <a:pPr algn="l" indent="0" marL="0">
              <a:lnSpc>
                <a:spcPct val="120000"/>
              </a:lnSpc>
              <a:buNone/>
            </a:pPr>
            <a:r>
              <a:rPr lang="en-US" sz="950" spc="120" kern="0" dirty="0">
                <a:solidFill>
                  <a:schemeClr val="accent2"/>
                </a:solidFill>
              </a:rPr>
              <a:t>STUDIO ENQUIRY LOG</a:t>
            </a:r>
            <a:endParaRPr lang="en-US" sz="950" dirty="0"/>
          </a:p>
        </p:txBody>
      </p:sp>
      <p:sp>
        <p:nvSpPr>
          <p:cNvPr id="28" name="Shape 25"/>
          <p:cNvSpPr/>
          <p:nvPr/>
        </p:nvSpPr>
        <p:spPr>
          <a:xfrm>
            <a:off x="548640" y="5852160"/>
            <a:ext cx="7543800" cy="0"/>
          </a:xfrm>
          <a:prstGeom prst="line">
            <a:avLst/>
          </a:prstGeom>
          <a:noFill/>
          <a:ln w="9525">
            <a:solidFill>
              <a:schemeClr val="accent5"/>
            </a:solidFill>
            <a:prstDash val="solid"/>
          </a:ln>
        </p:spPr>
      </p:sp>
      <p:sp>
        <p:nvSpPr>
          <p:cNvPr id="29" name="Text 26"/>
          <p:cNvSpPr txBox="1"/>
          <p:nvPr/>
        </p:nvSpPr>
        <p:spPr>
          <a:xfrm>
            <a:off x="8778240" y="1691640"/>
            <a:ext cx="286481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LEFT OUT ON PURPOSE</a:t>
            </a:r>
            <a:endParaRPr lang="en-US" sz="950" dirty="0"/>
          </a:p>
        </p:txBody>
      </p:sp>
      <p:sp>
        <p:nvSpPr>
          <p:cNvPr id="30" name="Shape 27"/>
          <p:cNvSpPr/>
          <p:nvPr/>
        </p:nvSpPr>
        <p:spPr>
          <a:xfrm>
            <a:off x="8778240" y="2011680"/>
            <a:ext cx="2864815" cy="0"/>
          </a:xfrm>
          <a:prstGeom prst="line">
            <a:avLst/>
          </a:prstGeom>
          <a:noFill/>
          <a:ln w="9525">
            <a:solidFill>
              <a:schemeClr val="tx1"/>
            </a:solidFill>
            <a:prstDash val="solid"/>
          </a:ln>
        </p:spPr>
      </p:sp>
      <p:sp>
        <p:nvSpPr>
          <p:cNvPr id="31" name="Text 28"/>
          <p:cNvSpPr txBox="1"/>
          <p:nvPr/>
        </p:nvSpPr>
        <p:spPr>
          <a:xfrm>
            <a:off x="8778240" y="2103120"/>
            <a:ext cx="2864815" cy="27432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Total page views</a:t>
            </a:r>
            <a:endParaRPr lang="en-US" sz="1300" dirty="0"/>
          </a:p>
        </p:txBody>
      </p:sp>
      <p:sp>
        <p:nvSpPr>
          <p:cNvPr id="32" name="Shape 29"/>
          <p:cNvSpPr/>
          <p:nvPr/>
        </p:nvSpPr>
        <p:spPr>
          <a:xfrm>
            <a:off x="8778240" y="2414016"/>
            <a:ext cx="2864815" cy="0"/>
          </a:xfrm>
          <a:prstGeom prst="line">
            <a:avLst/>
          </a:prstGeom>
          <a:noFill/>
          <a:ln w="9525">
            <a:solidFill>
              <a:schemeClr val="accent5"/>
            </a:solidFill>
            <a:prstDash val="solid"/>
          </a:ln>
        </p:spPr>
      </p:sp>
      <p:sp>
        <p:nvSpPr>
          <p:cNvPr id="33" name="Text 30"/>
          <p:cNvSpPr txBox="1"/>
          <p:nvPr/>
        </p:nvSpPr>
        <p:spPr>
          <a:xfrm>
            <a:off x="8778240" y="2505456"/>
            <a:ext cx="2864815" cy="27432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Follower counts</a:t>
            </a:r>
            <a:endParaRPr lang="en-US" sz="1300" dirty="0"/>
          </a:p>
        </p:txBody>
      </p:sp>
      <p:sp>
        <p:nvSpPr>
          <p:cNvPr id="34" name="Shape 31"/>
          <p:cNvSpPr/>
          <p:nvPr/>
        </p:nvSpPr>
        <p:spPr>
          <a:xfrm>
            <a:off x="8778240" y="2816352"/>
            <a:ext cx="2864815" cy="0"/>
          </a:xfrm>
          <a:prstGeom prst="line">
            <a:avLst/>
          </a:prstGeom>
          <a:noFill/>
          <a:ln w="9525">
            <a:solidFill>
              <a:schemeClr val="accent5"/>
            </a:solidFill>
            <a:prstDash val="solid"/>
          </a:ln>
        </p:spPr>
      </p:sp>
      <p:sp>
        <p:nvSpPr>
          <p:cNvPr id="35" name="Text 32"/>
          <p:cNvSpPr txBox="1"/>
          <p:nvPr/>
        </p:nvSpPr>
        <p:spPr>
          <a:xfrm>
            <a:off x="8778240" y="2907792"/>
            <a:ext cx="2864815" cy="27432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Third-party “authority” scores</a:t>
            </a:r>
            <a:endParaRPr lang="en-US" sz="1300" dirty="0"/>
          </a:p>
        </p:txBody>
      </p:sp>
      <p:sp>
        <p:nvSpPr>
          <p:cNvPr id="36" name="Shape 33"/>
          <p:cNvSpPr/>
          <p:nvPr/>
        </p:nvSpPr>
        <p:spPr>
          <a:xfrm>
            <a:off x="8778240" y="3218688"/>
            <a:ext cx="2864815" cy="0"/>
          </a:xfrm>
          <a:prstGeom prst="line">
            <a:avLst/>
          </a:prstGeom>
          <a:noFill/>
          <a:ln w="9525">
            <a:solidFill>
              <a:schemeClr val="accent5"/>
            </a:solidFill>
            <a:prstDash val="solid"/>
          </a:ln>
        </p:spPr>
      </p:sp>
      <p:sp>
        <p:nvSpPr>
          <p:cNvPr id="37" name="Text 34"/>
          <p:cNvSpPr txBox="1"/>
          <p:nvPr/>
        </p:nvSpPr>
        <p:spPr>
          <a:xfrm>
            <a:off x="8778240" y="3310128"/>
            <a:ext cx="2864815" cy="274320"/>
          </a:xfrm>
          <a:prstGeom prst="rect">
            <a:avLst/>
          </a:prstGeom>
          <a:noFill/>
          <a:ln/>
        </p:spPr>
        <p:txBody>
          <a:bodyPr wrap="square" lIns="0" tIns="0" rIns="0" bIns="0" rtlCol="0" anchor="t"/>
          <a:lstStyle/>
          <a:p>
            <a:pPr algn="l" indent="0" marL="0">
              <a:lnSpc>
                <a:spcPct val="112000"/>
              </a:lnSpc>
              <a:buNone/>
            </a:pPr>
            <a:r>
              <a:rPr lang="en-US" sz="1300" dirty="0">
                <a:solidFill>
                  <a:schemeClr val="tx2"/>
                </a:solidFill>
              </a:rPr>
              <a:t>Rankings for long keyword lists</a:t>
            </a:r>
            <a:endParaRPr lang="en-US" sz="1300" dirty="0"/>
          </a:p>
        </p:txBody>
      </p:sp>
      <p:sp>
        <p:nvSpPr>
          <p:cNvPr id="38" name="Text 35"/>
          <p:cNvSpPr txBox="1"/>
          <p:nvPr/>
        </p:nvSpPr>
        <p:spPr>
          <a:xfrm>
            <a:off x="8778240" y="3977640"/>
            <a:ext cx="286481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EVERY REPORT ANSWERS</a:t>
            </a:r>
            <a:endParaRPr lang="en-US" sz="950" dirty="0"/>
          </a:p>
        </p:txBody>
      </p:sp>
      <p:sp>
        <p:nvSpPr>
          <p:cNvPr id="39" name="Text 36"/>
          <p:cNvSpPr txBox="1"/>
          <p:nvPr/>
        </p:nvSpPr>
        <p:spPr>
          <a:xfrm>
            <a:off x="8778240" y="4297680"/>
            <a:ext cx="2864815" cy="384048"/>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mj-lt" pitchFamily="34" charset="0"/>
                <a:ea typeface="+mj-lt" pitchFamily="34" charset="-122"/>
                <a:cs typeface="+mj-lt" pitchFamily="34" charset="-120"/>
              </a:rPr>
              <a:t>What changed?</a:t>
            </a:r>
            <a:endParaRPr lang="en-US" sz="1800" dirty="0"/>
          </a:p>
        </p:txBody>
      </p:sp>
      <p:sp>
        <p:nvSpPr>
          <p:cNvPr id="40" name="Text 37"/>
          <p:cNvSpPr txBox="1"/>
          <p:nvPr/>
        </p:nvSpPr>
        <p:spPr>
          <a:xfrm>
            <a:off x="8778240" y="4754880"/>
            <a:ext cx="2864815" cy="384048"/>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mj-lt" pitchFamily="34" charset="0"/>
                <a:ea typeface="+mj-lt" pitchFamily="34" charset="-122"/>
                <a:cs typeface="+mj-lt" pitchFamily="34" charset="-120"/>
              </a:rPr>
              <a:t>Why does it matter?</a:t>
            </a:r>
            <a:endParaRPr lang="en-US" sz="1800" dirty="0"/>
          </a:p>
        </p:txBody>
      </p:sp>
      <p:sp>
        <p:nvSpPr>
          <p:cNvPr id="41" name="Text 38"/>
          <p:cNvSpPr txBox="1"/>
          <p:nvPr/>
        </p:nvSpPr>
        <p:spPr>
          <a:xfrm>
            <a:off x="8778240" y="5212080"/>
            <a:ext cx="2864815" cy="384048"/>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mj-lt" pitchFamily="34" charset="0"/>
                <a:ea typeface="+mj-lt" pitchFamily="34" charset="-122"/>
                <a:cs typeface="+mj-lt" pitchFamily="34" charset="-120"/>
              </a:rPr>
              <a:t>What happens next?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12 — THE MONTHLY REPORT</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One page, every month</a:t>
            </a:r>
            <a:endParaRPr lang="en-US" sz="3200" dirty="0"/>
          </a:p>
        </p:txBody>
      </p:sp>
      <p:sp>
        <p:nvSpPr>
          <p:cNvPr id="5" name="Shape 2"/>
          <p:cNvSpPr/>
          <p:nvPr/>
        </p:nvSpPr>
        <p:spPr>
          <a:xfrm>
            <a:off x="548640" y="1572768"/>
            <a:ext cx="7635240" cy="4645152"/>
          </a:xfrm>
          <a:prstGeom prst="rect">
            <a:avLst/>
          </a:prstGeom>
          <a:solidFill>
            <a:schemeClr val="accent6"/>
          </a:solidFill>
          <a:ln w="9525">
            <a:solidFill>
              <a:schemeClr val="accent5"/>
            </a:solidFill>
            <a:prstDash val="solid"/>
          </a:ln>
        </p:spPr>
      </p:sp>
      <p:sp>
        <p:nvSpPr>
          <p:cNvPr id="6" name="Text 3"/>
          <p:cNvSpPr txBox="1"/>
          <p:nvPr/>
        </p:nvSpPr>
        <p:spPr>
          <a:xfrm>
            <a:off x="822960" y="1773936"/>
            <a:ext cx="4572000" cy="201168"/>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MACK &amp; CO ARCHITECTS  ·  DIGITAL REPORT</a:t>
            </a:r>
            <a:endParaRPr lang="en-US" sz="950" dirty="0"/>
          </a:p>
        </p:txBody>
      </p:sp>
      <p:sp>
        <p:nvSpPr>
          <p:cNvPr id="7" name="Text 4"/>
          <p:cNvSpPr txBox="1"/>
          <p:nvPr/>
        </p:nvSpPr>
        <p:spPr>
          <a:xfrm>
            <a:off x="6080760" y="1737360"/>
            <a:ext cx="1828800" cy="274320"/>
          </a:xfrm>
          <a:prstGeom prst="rect">
            <a:avLst/>
          </a:prstGeom>
          <a:noFill/>
          <a:ln/>
        </p:spPr>
        <p:txBody>
          <a:bodyPr wrap="square" lIns="0" tIns="0" rIns="0" bIns="0" rtlCol="0" anchor="t"/>
          <a:lstStyle/>
          <a:p>
            <a:pPr algn="r" indent="0" marL="0">
              <a:lnSpc>
                <a:spcPct val="112000"/>
              </a:lnSpc>
              <a:buNone/>
            </a:pPr>
            <a:r>
              <a:rPr lang="en-US" sz="1300" dirty="0">
                <a:solidFill>
                  <a:schemeClr val="tx1"/>
                </a:solidFill>
                <a:latin typeface="+mj-lt" pitchFamily="34" charset="0"/>
                <a:ea typeface="+mj-lt" pitchFamily="34" charset="-122"/>
                <a:cs typeface="+mj-lt" pitchFamily="34" charset="-120"/>
              </a:rPr>
              <a:t>Month 1</a:t>
            </a:r>
            <a:endParaRPr lang="en-US" sz="1300" dirty="0"/>
          </a:p>
        </p:txBody>
      </p:sp>
      <p:sp>
        <p:nvSpPr>
          <p:cNvPr id="8" name="Shape 5"/>
          <p:cNvSpPr/>
          <p:nvPr/>
        </p:nvSpPr>
        <p:spPr>
          <a:xfrm>
            <a:off x="822960" y="2075688"/>
            <a:ext cx="7086600" cy="0"/>
          </a:xfrm>
          <a:prstGeom prst="line">
            <a:avLst/>
          </a:prstGeom>
          <a:noFill/>
          <a:ln w="9525">
            <a:solidFill>
              <a:schemeClr val="tx1"/>
            </a:solidFill>
            <a:prstDash val="solid"/>
          </a:ln>
        </p:spPr>
      </p:sp>
      <p:sp>
        <p:nvSpPr>
          <p:cNvPr id="9" name="Text 6"/>
          <p:cNvSpPr txBox="1"/>
          <p:nvPr/>
        </p:nvSpPr>
        <p:spPr>
          <a:xfrm>
            <a:off x="822960" y="2194560"/>
            <a:ext cx="1463040" cy="256032"/>
          </a:xfrm>
          <a:prstGeom prst="rect">
            <a:avLst/>
          </a:prstGeom>
          <a:noFill/>
          <a:ln/>
        </p:spPr>
        <p:txBody>
          <a:bodyPr wrap="square" lIns="0" tIns="0" rIns="0" bIns="0" rtlCol="0" anchor="t"/>
          <a:lstStyle/>
          <a:p>
            <a:pPr algn="l" indent="0" marL="0">
              <a:lnSpc>
                <a:spcPct val="112000"/>
              </a:lnSpc>
              <a:buNone/>
            </a:pPr>
            <a:r>
              <a:rPr lang="en-US" sz="1150" b="1" dirty="0">
                <a:solidFill>
                  <a:schemeClr val="tx1"/>
                </a:solidFill>
              </a:rPr>
              <a:t>What changed</a:t>
            </a:r>
            <a:endParaRPr lang="en-US" sz="1150" dirty="0"/>
          </a:p>
        </p:txBody>
      </p:sp>
      <p:sp>
        <p:nvSpPr>
          <p:cNvPr id="10" name="Shape 7"/>
          <p:cNvSpPr/>
          <p:nvPr/>
        </p:nvSpPr>
        <p:spPr>
          <a:xfrm>
            <a:off x="2331720" y="2377440"/>
            <a:ext cx="5577840" cy="0"/>
          </a:xfrm>
          <a:prstGeom prst="line">
            <a:avLst/>
          </a:prstGeom>
          <a:noFill/>
          <a:ln w="9525">
            <a:solidFill>
              <a:schemeClr val="accent5"/>
            </a:solidFill>
            <a:prstDash val="solid"/>
          </a:ln>
        </p:spPr>
      </p:sp>
      <p:sp>
        <p:nvSpPr>
          <p:cNvPr id="11" name="Text 8"/>
          <p:cNvSpPr txBox="1"/>
          <p:nvPr/>
        </p:nvSpPr>
        <p:spPr>
          <a:xfrm>
            <a:off x="822960" y="2487168"/>
            <a:ext cx="1463040" cy="256032"/>
          </a:xfrm>
          <a:prstGeom prst="rect">
            <a:avLst/>
          </a:prstGeom>
          <a:noFill/>
          <a:ln/>
        </p:spPr>
        <p:txBody>
          <a:bodyPr wrap="square" lIns="0" tIns="0" rIns="0" bIns="0" rtlCol="0" anchor="t"/>
          <a:lstStyle/>
          <a:p>
            <a:pPr algn="l" indent="0" marL="0">
              <a:lnSpc>
                <a:spcPct val="112000"/>
              </a:lnSpc>
              <a:buNone/>
            </a:pPr>
            <a:r>
              <a:rPr lang="en-US" sz="1150" b="1" dirty="0">
                <a:solidFill>
                  <a:schemeClr val="tx1"/>
                </a:solidFill>
              </a:rPr>
              <a:t>Why it matters</a:t>
            </a:r>
            <a:endParaRPr lang="en-US" sz="1150" dirty="0"/>
          </a:p>
        </p:txBody>
      </p:sp>
      <p:sp>
        <p:nvSpPr>
          <p:cNvPr id="12" name="Shape 9"/>
          <p:cNvSpPr/>
          <p:nvPr/>
        </p:nvSpPr>
        <p:spPr>
          <a:xfrm>
            <a:off x="2331720" y="2670048"/>
            <a:ext cx="5577840" cy="0"/>
          </a:xfrm>
          <a:prstGeom prst="line">
            <a:avLst/>
          </a:prstGeom>
          <a:noFill/>
          <a:ln w="9525">
            <a:solidFill>
              <a:schemeClr val="accent5"/>
            </a:solidFill>
            <a:prstDash val="solid"/>
          </a:ln>
        </p:spPr>
      </p:sp>
      <p:sp>
        <p:nvSpPr>
          <p:cNvPr id="13" name="Text 10"/>
          <p:cNvSpPr txBox="1"/>
          <p:nvPr/>
        </p:nvSpPr>
        <p:spPr>
          <a:xfrm>
            <a:off x="822960" y="2779776"/>
            <a:ext cx="1463040" cy="256032"/>
          </a:xfrm>
          <a:prstGeom prst="rect">
            <a:avLst/>
          </a:prstGeom>
          <a:noFill/>
          <a:ln/>
        </p:spPr>
        <p:txBody>
          <a:bodyPr wrap="square" lIns="0" tIns="0" rIns="0" bIns="0" rtlCol="0" anchor="t"/>
          <a:lstStyle/>
          <a:p>
            <a:pPr algn="l" indent="0" marL="0">
              <a:lnSpc>
                <a:spcPct val="112000"/>
              </a:lnSpc>
              <a:buNone/>
            </a:pPr>
            <a:r>
              <a:rPr lang="en-US" sz="1150" b="1" dirty="0">
                <a:solidFill>
                  <a:schemeClr val="tx1"/>
                </a:solidFill>
              </a:rPr>
              <a:t>Next</a:t>
            </a:r>
            <a:endParaRPr lang="en-US" sz="1150" dirty="0"/>
          </a:p>
        </p:txBody>
      </p:sp>
      <p:sp>
        <p:nvSpPr>
          <p:cNvPr id="14" name="Shape 11"/>
          <p:cNvSpPr/>
          <p:nvPr/>
        </p:nvSpPr>
        <p:spPr>
          <a:xfrm>
            <a:off x="2331720" y="2962656"/>
            <a:ext cx="5577840" cy="0"/>
          </a:xfrm>
          <a:prstGeom prst="line">
            <a:avLst/>
          </a:prstGeom>
          <a:noFill/>
          <a:ln w="9525">
            <a:solidFill>
              <a:schemeClr val="accent5"/>
            </a:solidFill>
            <a:prstDash val="solid"/>
          </a:ln>
        </p:spPr>
      </p:sp>
      <p:sp>
        <p:nvSpPr>
          <p:cNvPr id="15" name="Shape 12"/>
          <p:cNvSpPr/>
          <p:nvPr/>
        </p:nvSpPr>
        <p:spPr>
          <a:xfrm>
            <a:off x="822960" y="3145536"/>
            <a:ext cx="2240280" cy="786384"/>
          </a:xfrm>
          <a:prstGeom prst="rect">
            <a:avLst/>
          </a:prstGeom>
          <a:ln w="9525">
            <a:solidFill>
              <a:schemeClr val="accent5"/>
            </a:solidFill>
            <a:prstDash val="solid"/>
          </a:ln>
        </p:spPr>
      </p:sp>
      <p:sp>
        <p:nvSpPr>
          <p:cNvPr id="16" name="Text 13"/>
          <p:cNvSpPr txBox="1"/>
          <p:nvPr/>
        </p:nvSpPr>
        <p:spPr>
          <a:xfrm>
            <a:off x="932688" y="3236976"/>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New-search impressions</a:t>
            </a:r>
            <a:endParaRPr lang="en-US" sz="1000" dirty="0"/>
          </a:p>
        </p:txBody>
      </p:sp>
      <p:sp>
        <p:nvSpPr>
          <p:cNvPr id="17" name="Text 14"/>
          <p:cNvSpPr txBox="1"/>
          <p:nvPr/>
        </p:nvSpPr>
        <p:spPr>
          <a:xfrm>
            <a:off x="932688" y="3438144"/>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18" name="Text 15"/>
          <p:cNvSpPr txBox="1"/>
          <p:nvPr/>
        </p:nvSpPr>
        <p:spPr>
          <a:xfrm>
            <a:off x="2011680" y="3602736"/>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19" name="Shape 16"/>
          <p:cNvSpPr/>
          <p:nvPr/>
        </p:nvSpPr>
        <p:spPr>
          <a:xfrm>
            <a:off x="3246120" y="3145536"/>
            <a:ext cx="2240280" cy="786384"/>
          </a:xfrm>
          <a:prstGeom prst="rect">
            <a:avLst/>
          </a:prstGeom>
          <a:ln w="9525">
            <a:solidFill>
              <a:schemeClr val="accent5"/>
            </a:solidFill>
            <a:prstDash val="solid"/>
          </a:ln>
        </p:spPr>
      </p:sp>
      <p:sp>
        <p:nvSpPr>
          <p:cNvPr id="20" name="Text 17"/>
          <p:cNvSpPr txBox="1"/>
          <p:nvPr/>
        </p:nvSpPr>
        <p:spPr>
          <a:xfrm>
            <a:off x="3355848" y="3236976"/>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New-search clicks</a:t>
            </a:r>
            <a:endParaRPr lang="en-US" sz="1000" dirty="0"/>
          </a:p>
        </p:txBody>
      </p:sp>
      <p:sp>
        <p:nvSpPr>
          <p:cNvPr id="21" name="Text 18"/>
          <p:cNvSpPr txBox="1"/>
          <p:nvPr/>
        </p:nvSpPr>
        <p:spPr>
          <a:xfrm>
            <a:off x="3355848" y="3438144"/>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22" name="Text 19"/>
          <p:cNvSpPr txBox="1"/>
          <p:nvPr/>
        </p:nvSpPr>
        <p:spPr>
          <a:xfrm>
            <a:off x="4434840" y="3602736"/>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23" name="Shape 20"/>
          <p:cNvSpPr/>
          <p:nvPr/>
        </p:nvSpPr>
        <p:spPr>
          <a:xfrm>
            <a:off x="5669280" y="3145536"/>
            <a:ext cx="2240280" cy="786384"/>
          </a:xfrm>
          <a:prstGeom prst="rect">
            <a:avLst/>
          </a:prstGeom>
          <a:ln w="9525">
            <a:solidFill>
              <a:schemeClr val="accent5"/>
            </a:solidFill>
            <a:prstDash val="solid"/>
          </a:ln>
        </p:spPr>
      </p:sp>
      <p:sp>
        <p:nvSpPr>
          <p:cNvPr id="24" name="Text 21"/>
          <p:cNvSpPr txBox="1"/>
          <p:nvPr/>
        </p:nvSpPr>
        <p:spPr>
          <a:xfrm>
            <a:off x="5779008" y="3236976"/>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Name-search clicks</a:t>
            </a:r>
            <a:endParaRPr lang="en-US" sz="1000" dirty="0"/>
          </a:p>
        </p:txBody>
      </p:sp>
      <p:sp>
        <p:nvSpPr>
          <p:cNvPr id="25" name="Text 22"/>
          <p:cNvSpPr txBox="1"/>
          <p:nvPr/>
        </p:nvSpPr>
        <p:spPr>
          <a:xfrm>
            <a:off x="5779008" y="3438144"/>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26" name="Text 23"/>
          <p:cNvSpPr txBox="1"/>
          <p:nvPr/>
        </p:nvSpPr>
        <p:spPr>
          <a:xfrm>
            <a:off x="6858000" y="3602736"/>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27" name="Shape 24"/>
          <p:cNvSpPr/>
          <p:nvPr/>
        </p:nvSpPr>
        <p:spPr>
          <a:xfrm>
            <a:off x="822960" y="4069080"/>
            <a:ext cx="2240280" cy="786384"/>
          </a:xfrm>
          <a:prstGeom prst="rect">
            <a:avLst/>
          </a:prstGeom>
          <a:ln w="9525">
            <a:solidFill>
              <a:schemeClr val="accent5"/>
            </a:solidFill>
            <a:prstDash val="solid"/>
          </a:ln>
        </p:spPr>
      </p:sp>
      <p:sp>
        <p:nvSpPr>
          <p:cNvPr id="28" name="Text 25"/>
          <p:cNvSpPr txBox="1"/>
          <p:nvPr/>
        </p:nvSpPr>
        <p:spPr>
          <a:xfrm>
            <a:off x="932688" y="4160520"/>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Profile: calls · directions</a:t>
            </a:r>
            <a:endParaRPr lang="en-US" sz="1000" dirty="0"/>
          </a:p>
        </p:txBody>
      </p:sp>
      <p:sp>
        <p:nvSpPr>
          <p:cNvPr id="29" name="Text 26"/>
          <p:cNvSpPr txBox="1"/>
          <p:nvPr/>
        </p:nvSpPr>
        <p:spPr>
          <a:xfrm>
            <a:off x="932688" y="4361688"/>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30" name="Text 27"/>
          <p:cNvSpPr txBox="1"/>
          <p:nvPr/>
        </p:nvSpPr>
        <p:spPr>
          <a:xfrm>
            <a:off x="2011680" y="4526280"/>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31" name="Shape 28"/>
          <p:cNvSpPr/>
          <p:nvPr/>
        </p:nvSpPr>
        <p:spPr>
          <a:xfrm>
            <a:off x="3246120" y="4069080"/>
            <a:ext cx="2240280" cy="786384"/>
          </a:xfrm>
          <a:prstGeom prst="rect">
            <a:avLst/>
          </a:prstGeom>
          <a:ln w="9525">
            <a:solidFill>
              <a:schemeClr val="accent5"/>
            </a:solidFill>
            <a:prstDash val="solid"/>
          </a:ln>
        </p:spPr>
      </p:sp>
      <p:sp>
        <p:nvSpPr>
          <p:cNvPr id="32" name="Text 29"/>
          <p:cNvSpPr txBox="1"/>
          <p:nvPr/>
        </p:nvSpPr>
        <p:spPr>
          <a:xfrm>
            <a:off x="3355848" y="4160520"/>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Enquiries</a:t>
            </a:r>
            <a:endParaRPr lang="en-US" sz="1000" dirty="0"/>
          </a:p>
        </p:txBody>
      </p:sp>
      <p:sp>
        <p:nvSpPr>
          <p:cNvPr id="33" name="Text 30"/>
          <p:cNvSpPr txBox="1"/>
          <p:nvPr/>
        </p:nvSpPr>
        <p:spPr>
          <a:xfrm>
            <a:off x="3355848" y="4361688"/>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34" name="Text 31"/>
          <p:cNvSpPr txBox="1"/>
          <p:nvPr/>
        </p:nvSpPr>
        <p:spPr>
          <a:xfrm>
            <a:off x="4434840" y="4526280"/>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35" name="Shape 32"/>
          <p:cNvSpPr/>
          <p:nvPr/>
        </p:nvSpPr>
        <p:spPr>
          <a:xfrm>
            <a:off x="5669280" y="4069080"/>
            <a:ext cx="2240280" cy="786384"/>
          </a:xfrm>
          <a:prstGeom prst="rect">
            <a:avLst/>
          </a:prstGeom>
          <a:ln w="9525">
            <a:solidFill>
              <a:schemeClr val="accent5"/>
            </a:solidFill>
            <a:prstDash val="solid"/>
          </a:ln>
        </p:spPr>
      </p:sp>
      <p:sp>
        <p:nvSpPr>
          <p:cNvPr id="36" name="Text 33"/>
          <p:cNvSpPr txBox="1"/>
          <p:nvPr/>
        </p:nvSpPr>
        <p:spPr>
          <a:xfrm>
            <a:off x="5779008" y="4160520"/>
            <a:ext cx="2020824" cy="228600"/>
          </a:xfrm>
          <a:prstGeom prst="rect">
            <a:avLst/>
          </a:prstGeom>
          <a:noFill/>
          <a:ln/>
        </p:spPr>
        <p:txBody>
          <a:bodyPr wrap="square" lIns="0" tIns="0" rIns="0" bIns="0" rtlCol="0" anchor="t"/>
          <a:lstStyle/>
          <a:p>
            <a:pPr algn="l" indent="0" marL="0">
              <a:lnSpc>
                <a:spcPct val="112000"/>
              </a:lnSpc>
              <a:buNone/>
            </a:pPr>
            <a:r>
              <a:rPr lang="en-US" sz="1000" dirty="0">
                <a:solidFill>
                  <a:schemeClr val="accent2"/>
                </a:solidFill>
              </a:rPr>
              <a:t>Qualified enquiries</a:t>
            </a:r>
            <a:endParaRPr lang="en-US" sz="1000" dirty="0"/>
          </a:p>
        </p:txBody>
      </p:sp>
      <p:sp>
        <p:nvSpPr>
          <p:cNvPr id="37" name="Text 34"/>
          <p:cNvSpPr txBox="1"/>
          <p:nvPr/>
        </p:nvSpPr>
        <p:spPr>
          <a:xfrm>
            <a:off x="5779008" y="4361688"/>
            <a:ext cx="1097280" cy="384048"/>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a:t>
            </a:r>
            <a:endParaRPr lang="en-US" sz="2200" dirty="0"/>
          </a:p>
        </p:txBody>
      </p:sp>
      <p:sp>
        <p:nvSpPr>
          <p:cNvPr id="38" name="Text 35"/>
          <p:cNvSpPr txBox="1"/>
          <p:nvPr/>
        </p:nvSpPr>
        <p:spPr>
          <a:xfrm>
            <a:off x="6858000" y="4526280"/>
            <a:ext cx="941832" cy="228600"/>
          </a:xfrm>
          <a:prstGeom prst="rect">
            <a:avLst/>
          </a:prstGeom>
          <a:noFill/>
          <a:ln/>
        </p:spPr>
        <p:txBody>
          <a:bodyPr wrap="square" lIns="0" tIns="0" rIns="0" bIns="0" rtlCol="0" anchor="t"/>
          <a:lstStyle/>
          <a:p>
            <a:pPr algn="r" indent="0" marL="0">
              <a:lnSpc>
                <a:spcPct val="112000"/>
              </a:lnSpc>
              <a:buNone/>
            </a:pPr>
            <a:r>
              <a:rPr lang="en-US" sz="950" dirty="0">
                <a:solidFill>
                  <a:schemeClr val="accent2"/>
                </a:solidFill>
              </a:rPr>
              <a:t>vs last month</a:t>
            </a:r>
            <a:endParaRPr lang="en-US" sz="950" dirty="0"/>
          </a:p>
        </p:txBody>
      </p:sp>
      <p:sp>
        <p:nvSpPr>
          <p:cNvPr id="39" name="Text 36"/>
          <p:cNvSpPr txBox="1"/>
          <p:nvPr/>
        </p:nvSpPr>
        <p:spPr>
          <a:xfrm>
            <a:off x="822960" y="5038344"/>
            <a:ext cx="3406140" cy="201168"/>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MOST-DISCOVERED PROJECTS</a:t>
            </a:r>
            <a:endParaRPr lang="en-US" sz="950" dirty="0"/>
          </a:p>
        </p:txBody>
      </p:sp>
      <p:sp>
        <p:nvSpPr>
          <p:cNvPr id="40" name="Text 37"/>
          <p:cNvSpPr txBox="1"/>
          <p:nvPr/>
        </p:nvSpPr>
        <p:spPr>
          <a:xfrm>
            <a:off x="822960" y="52943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1  —</a:t>
            </a:r>
            <a:endParaRPr lang="en-US" sz="1100" dirty="0"/>
          </a:p>
        </p:txBody>
      </p:sp>
      <p:sp>
        <p:nvSpPr>
          <p:cNvPr id="41" name="Text 38"/>
          <p:cNvSpPr txBox="1"/>
          <p:nvPr/>
        </p:nvSpPr>
        <p:spPr>
          <a:xfrm>
            <a:off x="822960" y="55229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2  —</a:t>
            </a:r>
            <a:endParaRPr lang="en-US" sz="1100" dirty="0"/>
          </a:p>
        </p:txBody>
      </p:sp>
      <p:sp>
        <p:nvSpPr>
          <p:cNvPr id="42" name="Text 39"/>
          <p:cNvSpPr txBox="1"/>
          <p:nvPr/>
        </p:nvSpPr>
        <p:spPr>
          <a:xfrm>
            <a:off x="822960" y="57515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3  —</a:t>
            </a:r>
            <a:endParaRPr lang="en-US" sz="1100" dirty="0"/>
          </a:p>
        </p:txBody>
      </p:sp>
      <p:sp>
        <p:nvSpPr>
          <p:cNvPr id="43" name="Text 40"/>
          <p:cNvSpPr txBox="1"/>
          <p:nvPr/>
        </p:nvSpPr>
        <p:spPr>
          <a:xfrm>
            <a:off x="4503420" y="5038344"/>
            <a:ext cx="3406140" cy="201168"/>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HEALTH</a:t>
            </a:r>
            <a:endParaRPr lang="en-US" sz="950" dirty="0"/>
          </a:p>
        </p:txBody>
      </p:sp>
      <p:sp>
        <p:nvSpPr>
          <p:cNvPr id="44" name="Text 41"/>
          <p:cNvSpPr txBox="1"/>
          <p:nvPr/>
        </p:nvSpPr>
        <p:spPr>
          <a:xfrm>
            <a:off x="4503420" y="52943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Indexing  ·  Form test</a:t>
            </a:r>
            <a:endParaRPr lang="en-US" sz="1100" dirty="0"/>
          </a:p>
        </p:txBody>
      </p:sp>
      <p:sp>
        <p:nvSpPr>
          <p:cNvPr id="45" name="Text 42"/>
          <p:cNvSpPr txBox="1"/>
          <p:nvPr/>
        </p:nvSpPr>
        <p:spPr>
          <a:xfrm>
            <a:off x="4503420" y="55229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Speed  ·  Uptime</a:t>
            </a:r>
            <a:endParaRPr lang="en-US" sz="1100" dirty="0"/>
          </a:p>
        </p:txBody>
      </p:sp>
      <p:sp>
        <p:nvSpPr>
          <p:cNvPr id="46" name="Text 43"/>
          <p:cNvSpPr txBox="1"/>
          <p:nvPr/>
        </p:nvSpPr>
        <p:spPr>
          <a:xfrm>
            <a:off x="4503420" y="5751576"/>
            <a:ext cx="3406140" cy="219456"/>
          </a:xfrm>
          <a:prstGeom prst="rect">
            <a:avLst/>
          </a:prstGeom>
          <a:noFill/>
          <a:ln/>
        </p:spPr>
        <p:txBody>
          <a:bodyPr wrap="square" lIns="0" tIns="0" rIns="0" bIns="0" rtlCol="0" anchor="t"/>
          <a:lstStyle/>
          <a:p>
            <a:pPr algn="l" indent="0" marL="0">
              <a:lnSpc>
                <a:spcPct val="112000"/>
              </a:lnSpc>
              <a:buNone/>
            </a:pPr>
            <a:r>
              <a:rPr lang="en-US" sz="1100" dirty="0">
                <a:solidFill>
                  <a:schemeClr val="tx2"/>
                </a:solidFill>
              </a:rPr>
              <a:t>Backup  ·  Last restore test</a:t>
            </a:r>
            <a:endParaRPr lang="en-US" sz="1100" dirty="0"/>
          </a:p>
        </p:txBody>
      </p:sp>
      <p:sp>
        <p:nvSpPr>
          <p:cNvPr id="47" name="Shape 44"/>
          <p:cNvSpPr/>
          <p:nvPr/>
        </p:nvSpPr>
        <p:spPr>
          <a:xfrm>
            <a:off x="8641080" y="1572768"/>
            <a:ext cx="3001975" cy="0"/>
          </a:xfrm>
          <a:prstGeom prst="line">
            <a:avLst/>
          </a:prstGeom>
          <a:noFill/>
          <a:ln w="9525">
            <a:solidFill>
              <a:schemeClr val="tx1"/>
            </a:solidFill>
            <a:prstDash val="solid"/>
          </a:ln>
        </p:spPr>
      </p:sp>
      <p:sp>
        <p:nvSpPr>
          <p:cNvPr id="48" name="Text 45"/>
          <p:cNvSpPr txBox="1"/>
          <p:nvPr/>
        </p:nvSpPr>
        <p:spPr>
          <a:xfrm>
            <a:off x="8641080" y="1682496"/>
            <a:ext cx="3001975" cy="292608"/>
          </a:xfrm>
          <a:prstGeom prst="rect">
            <a:avLst/>
          </a:prstGeom>
          <a:noFill/>
          <a:ln/>
        </p:spPr>
        <p:txBody>
          <a:bodyPr wrap="square" lIns="0" tIns="0" rIns="0" bIns="0" rtlCol="0" anchor="t"/>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Starts from a baseline</a:t>
            </a:r>
            <a:endParaRPr lang="en-US" sz="1400" dirty="0"/>
          </a:p>
        </p:txBody>
      </p:sp>
      <p:sp>
        <p:nvSpPr>
          <p:cNvPr id="49" name="Text 46"/>
          <p:cNvSpPr txBox="1"/>
          <p:nvPr/>
        </p:nvSpPr>
        <p:spPr>
          <a:xfrm>
            <a:off x="8641080" y="1993392"/>
            <a:ext cx="3001975" cy="530352"/>
          </a:xfrm>
          <a:prstGeom prst="rect">
            <a:avLst/>
          </a:prstGeom>
          <a:noFill/>
          <a:ln/>
        </p:spPr>
        <p:txBody>
          <a:bodyPr wrap="square" lIns="0" tIns="0" rIns="0" bIns="0" rtlCol="0" anchor="t"/>
          <a:lstStyle/>
          <a:p>
            <a:pPr algn="l" indent="0" marL="0">
              <a:lnSpc>
                <a:spcPct val="115000"/>
              </a:lnSpc>
              <a:buNone/>
            </a:pPr>
            <a:r>
              <a:rPr lang="en-US" sz="1150" dirty="0">
                <a:solidFill>
                  <a:schemeClr val="tx2"/>
                </a:solidFill>
              </a:rPr>
              <a:t>Month 0 is recorded before launch, so every change is compared with a real starting point.</a:t>
            </a:r>
            <a:endParaRPr lang="en-US" sz="1150" dirty="0"/>
          </a:p>
        </p:txBody>
      </p:sp>
      <p:sp>
        <p:nvSpPr>
          <p:cNvPr id="50" name="Shape 47"/>
          <p:cNvSpPr/>
          <p:nvPr/>
        </p:nvSpPr>
        <p:spPr>
          <a:xfrm>
            <a:off x="8641080" y="2560320"/>
            <a:ext cx="3001975" cy="0"/>
          </a:xfrm>
          <a:prstGeom prst="line">
            <a:avLst/>
          </a:prstGeom>
          <a:noFill/>
          <a:ln w="9525">
            <a:solidFill>
              <a:schemeClr val="accent5"/>
            </a:solidFill>
            <a:prstDash val="solid"/>
          </a:ln>
        </p:spPr>
      </p:sp>
      <p:sp>
        <p:nvSpPr>
          <p:cNvPr id="51" name="Text 48"/>
          <p:cNvSpPr txBox="1"/>
          <p:nvPr/>
        </p:nvSpPr>
        <p:spPr>
          <a:xfrm>
            <a:off x="8641080" y="2670048"/>
            <a:ext cx="3001975" cy="292608"/>
          </a:xfrm>
          <a:prstGeom prst="rect">
            <a:avLst/>
          </a:prstGeom>
          <a:noFill/>
          <a:ln/>
        </p:spPr>
        <p:txBody>
          <a:bodyPr wrap="square" lIns="0" tIns="0" rIns="0" bIns="0" rtlCol="0" anchor="t"/>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Name and new searches apart</a:t>
            </a:r>
            <a:endParaRPr lang="en-US" sz="1400" dirty="0"/>
          </a:p>
        </p:txBody>
      </p:sp>
      <p:sp>
        <p:nvSpPr>
          <p:cNvPr id="52" name="Text 49"/>
          <p:cNvSpPr txBox="1"/>
          <p:nvPr/>
        </p:nvSpPr>
        <p:spPr>
          <a:xfrm>
            <a:off x="8641080" y="2980944"/>
            <a:ext cx="3001975" cy="530352"/>
          </a:xfrm>
          <a:prstGeom prst="rect">
            <a:avLst/>
          </a:prstGeom>
          <a:noFill/>
          <a:ln/>
        </p:spPr>
        <p:txBody>
          <a:bodyPr wrap="square" lIns="0" tIns="0" rIns="0" bIns="0" rtlCol="0" anchor="t"/>
          <a:lstStyle/>
          <a:p>
            <a:pPr algn="l" indent="0" marL="0">
              <a:lnSpc>
                <a:spcPct val="115000"/>
              </a:lnSpc>
              <a:buNone/>
            </a:pPr>
            <a:r>
              <a:rPr lang="en-US" sz="1150" dirty="0">
                <a:solidFill>
                  <a:schemeClr val="tx2"/>
                </a:solidFill>
              </a:rPr>
              <a:t>Reputation and search reach are reported separately.</a:t>
            </a:r>
            <a:endParaRPr lang="en-US" sz="1150" dirty="0"/>
          </a:p>
        </p:txBody>
      </p:sp>
      <p:sp>
        <p:nvSpPr>
          <p:cNvPr id="53" name="Shape 50"/>
          <p:cNvSpPr/>
          <p:nvPr/>
        </p:nvSpPr>
        <p:spPr>
          <a:xfrm>
            <a:off x="8641080" y="3547872"/>
            <a:ext cx="3001975" cy="0"/>
          </a:xfrm>
          <a:prstGeom prst="line">
            <a:avLst/>
          </a:prstGeom>
          <a:noFill/>
          <a:ln w="9525">
            <a:solidFill>
              <a:schemeClr val="accent5"/>
            </a:solidFill>
            <a:prstDash val="solid"/>
          </a:ln>
        </p:spPr>
      </p:sp>
      <p:sp>
        <p:nvSpPr>
          <p:cNvPr id="54" name="Text 51"/>
          <p:cNvSpPr txBox="1"/>
          <p:nvPr/>
        </p:nvSpPr>
        <p:spPr>
          <a:xfrm>
            <a:off x="8641080" y="3657600"/>
            <a:ext cx="3001975" cy="292608"/>
          </a:xfrm>
          <a:prstGeom prst="rect">
            <a:avLst/>
          </a:prstGeom>
          <a:noFill/>
          <a:ln/>
        </p:spPr>
        <p:txBody>
          <a:bodyPr wrap="square" lIns="0" tIns="0" rIns="0" bIns="0" rtlCol="0" anchor="t"/>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A live dashboard alongside</a:t>
            </a:r>
            <a:endParaRPr lang="en-US" sz="1400" dirty="0"/>
          </a:p>
        </p:txBody>
      </p:sp>
      <p:sp>
        <p:nvSpPr>
          <p:cNvPr id="55" name="Text 52"/>
          <p:cNvSpPr txBox="1"/>
          <p:nvPr/>
        </p:nvSpPr>
        <p:spPr>
          <a:xfrm>
            <a:off x="8641080" y="3968496"/>
            <a:ext cx="3001975" cy="530352"/>
          </a:xfrm>
          <a:prstGeom prst="rect">
            <a:avLst/>
          </a:prstGeom>
          <a:noFill/>
          <a:ln/>
        </p:spPr>
        <p:txBody>
          <a:bodyPr wrap="square" lIns="0" tIns="0" rIns="0" bIns="0" rtlCol="0" anchor="t"/>
          <a:lstStyle/>
          <a:p>
            <a:pPr algn="l" indent="0" marL="0">
              <a:lnSpc>
                <a:spcPct val="115000"/>
              </a:lnSpc>
              <a:buNone/>
            </a:pPr>
            <a:r>
              <a:rPr lang="en-US" sz="1150" dirty="0">
                <a:solidFill>
                  <a:schemeClr val="tx2"/>
                </a:solidFill>
              </a:rPr>
              <a:t>Owned by the studio; the report explains it.</a:t>
            </a:r>
            <a:endParaRPr lang="en-US" sz="1150" dirty="0"/>
          </a:p>
        </p:txBody>
      </p:sp>
      <p:sp>
        <p:nvSpPr>
          <p:cNvPr id="56" name="Shape 53"/>
          <p:cNvSpPr/>
          <p:nvPr/>
        </p:nvSpPr>
        <p:spPr>
          <a:xfrm>
            <a:off x="8641080" y="4535424"/>
            <a:ext cx="3001975" cy="0"/>
          </a:xfrm>
          <a:prstGeom prst="line">
            <a:avLst/>
          </a:prstGeom>
          <a:noFill/>
          <a:ln w="9525">
            <a:solidFill>
              <a:schemeClr val="accent5"/>
            </a:solidFill>
            <a:prstDash val="solid"/>
          </a:ln>
        </p:spPr>
      </p:sp>
      <p:sp>
        <p:nvSpPr>
          <p:cNvPr id="57" name="Text 54"/>
          <p:cNvSpPr txBox="1"/>
          <p:nvPr/>
        </p:nvSpPr>
        <p:spPr>
          <a:xfrm>
            <a:off x="8641080" y="4645152"/>
            <a:ext cx="3001975" cy="292608"/>
          </a:xfrm>
          <a:prstGeom prst="rect">
            <a:avLst/>
          </a:prstGeom>
          <a:noFill/>
          <a:ln/>
        </p:spPr>
        <p:txBody>
          <a:bodyPr wrap="square" lIns="0" tIns="0" rIns="0" bIns="0" rtlCol="0" anchor="t"/>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Twenty minutes to read</a:t>
            </a:r>
            <a:endParaRPr lang="en-US" sz="1400" dirty="0"/>
          </a:p>
        </p:txBody>
      </p:sp>
      <p:sp>
        <p:nvSpPr>
          <p:cNvPr id="58" name="Text 55"/>
          <p:cNvSpPr txBox="1"/>
          <p:nvPr/>
        </p:nvSpPr>
        <p:spPr>
          <a:xfrm>
            <a:off x="8641080" y="4956048"/>
            <a:ext cx="3001975" cy="530352"/>
          </a:xfrm>
          <a:prstGeom prst="rect">
            <a:avLst/>
          </a:prstGeom>
          <a:noFill/>
          <a:ln/>
        </p:spPr>
        <p:txBody>
          <a:bodyPr wrap="square" lIns="0" tIns="0" rIns="0" bIns="0" rtlCol="0" anchor="t"/>
          <a:lstStyle/>
          <a:p>
            <a:pPr algn="l" indent="0" marL="0">
              <a:lnSpc>
                <a:spcPct val="115000"/>
              </a:lnSpc>
              <a:buNone/>
            </a:pPr>
            <a:r>
              <a:rPr lang="en-US" sz="1150" dirty="0">
                <a:solidFill>
                  <a:schemeClr val="tx2"/>
                </a:solidFill>
              </a:rPr>
              <a:t>Decisions are written down and followed up next month.</a:t>
            </a:r>
            <a:endParaRPr lang="en-US" sz="1150" dirty="0"/>
          </a:p>
        </p:txBody>
      </p:sp>
      <p:sp>
        <p:nvSpPr>
          <p:cNvPr id="59" name="Text 56"/>
          <p:cNvSpPr txBox="1"/>
          <p:nvPr/>
        </p:nvSpPr>
        <p:spPr>
          <a:xfrm>
            <a:off x="8641080" y="5623560"/>
            <a:ext cx="3001975" cy="502920"/>
          </a:xfrm>
          <a:prstGeom prst="rect">
            <a:avLst/>
          </a:prstGeom>
          <a:noFill/>
          <a:ln/>
        </p:spPr>
        <p:txBody>
          <a:bodyPr wrap="square" lIns="0" tIns="0" rIns="0" bIns="0" rtlCol="0" anchor="t"/>
          <a:lstStyle/>
          <a:p>
            <a:pPr algn="l" indent="0" marL="0">
              <a:lnSpc>
                <a:spcPct val="115000"/>
              </a:lnSpc>
              <a:buNone/>
            </a:pPr>
            <a:r>
              <a:rPr lang="en-US" sz="1050" i="1" dirty="0">
                <a:solidFill>
                  <a:schemeClr val="accent2"/>
                </a:solidFill>
              </a:rPr>
              <a:t>Values appear as “—”: they fill from launch. No figures are projected.</a:t>
            </a:r>
            <a:endParaRPr lang="en-US" sz="10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13 — MILESTONE ROADMAP</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Six milestones, each with a visible result</a:t>
            </a:r>
            <a:endParaRPr lang="en-US" sz="3200" dirty="0"/>
          </a:p>
        </p:txBody>
      </p:sp>
      <p:sp>
        <p:nvSpPr>
          <p:cNvPr id="5" name="Text 2"/>
          <p:cNvSpPr txBox="1"/>
          <p:nvPr/>
        </p:nvSpPr>
        <p:spPr>
          <a:xfrm>
            <a:off x="3246120"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W0</a:t>
            </a:r>
            <a:endParaRPr lang="en-US" sz="950" dirty="0"/>
          </a:p>
        </p:txBody>
      </p:sp>
      <p:sp>
        <p:nvSpPr>
          <p:cNvPr id="6" name="Text 3"/>
          <p:cNvSpPr txBox="1"/>
          <p:nvPr/>
        </p:nvSpPr>
        <p:spPr>
          <a:xfrm>
            <a:off x="3845901"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1</a:t>
            </a:r>
            <a:endParaRPr lang="en-US" sz="950" dirty="0"/>
          </a:p>
        </p:txBody>
      </p:sp>
      <p:sp>
        <p:nvSpPr>
          <p:cNvPr id="7" name="Text 4"/>
          <p:cNvSpPr txBox="1"/>
          <p:nvPr/>
        </p:nvSpPr>
        <p:spPr>
          <a:xfrm>
            <a:off x="4445682"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2</a:t>
            </a:r>
            <a:endParaRPr lang="en-US" sz="950" dirty="0"/>
          </a:p>
        </p:txBody>
      </p:sp>
      <p:sp>
        <p:nvSpPr>
          <p:cNvPr id="8" name="Text 5"/>
          <p:cNvSpPr txBox="1"/>
          <p:nvPr/>
        </p:nvSpPr>
        <p:spPr>
          <a:xfrm>
            <a:off x="5045463"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3</a:t>
            </a:r>
            <a:endParaRPr lang="en-US" sz="950" dirty="0"/>
          </a:p>
        </p:txBody>
      </p:sp>
      <p:sp>
        <p:nvSpPr>
          <p:cNvPr id="9" name="Text 6"/>
          <p:cNvSpPr txBox="1"/>
          <p:nvPr/>
        </p:nvSpPr>
        <p:spPr>
          <a:xfrm>
            <a:off x="5645244"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4</a:t>
            </a:r>
            <a:endParaRPr lang="en-US" sz="950" dirty="0"/>
          </a:p>
        </p:txBody>
      </p:sp>
      <p:sp>
        <p:nvSpPr>
          <p:cNvPr id="10" name="Text 7"/>
          <p:cNvSpPr txBox="1"/>
          <p:nvPr/>
        </p:nvSpPr>
        <p:spPr>
          <a:xfrm>
            <a:off x="6245025"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5</a:t>
            </a:r>
            <a:endParaRPr lang="en-US" sz="950" dirty="0"/>
          </a:p>
        </p:txBody>
      </p:sp>
      <p:sp>
        <p:nvSpPr>
          <p:cNvPr id="11" name="Text 8"/>
          <p:cNvSpPr txBox="1"/>
          <p:nvPr/>
        </p:nvSpPr>
        <p:spPr>
          <a:xfrm>
            <a:off x="6844807"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6</a:t>
            </a:r>
            <a:endParaRPr lang="en-US" sz="950" dirty="0"/>
          </a:p>
        </p:txBody>
      </p:sp>
      <p:sp>
        <p:nvSpPr>
          <p:cNvPr id="12" name="Text 9"/>
          <p:cNvSpPr txBox="1"/>
          <p:nvPr/>
        </p:nvSpPr>
        <p:spPr>
          <a:xfrm>
            <a:off x="7444588"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7</a:t>
            </a:r>
            <a:endParaRPr lang="en-US" sz="950" dirty="0"/>
          </a:p>
        </p:txBody>
      </p:sp>
      <p:sp>
        <p:nvSpPr>
          <p:cNvPr id="13" name="Text 10"/>
          <p:cNvSpPr txBox="1"/>
          <p:nvPr/>
        </p:nvSpPr>
        <p:spPr>
          <a:xfrm>
            <a:off x="8044369"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8</a:t>
            </a:r>
            <a:endParaRPr lang="en-US" sz="950" dirty="0"/>
          </a:p>
        </p:txBody>
      </p:sp>
      <p:sp>
        <p:nvSpPr>
          <p:cNvPr id="14" name="Text 11"/>
          <p:cNvSpPr txBox="1"/>
          <p:nvPr/>
        </p:nvSpPr>
        <p:spPr>
          <a:xfrm>
            <a:off x="8644150"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9</a:t>
            </a:r>
            <a:endParaRPr lang="en-US" sz="950" dirty="0"/>
          </a:p>
        </p:txBody>
      </p:sp>
      <p:sp>
        <p:nvSpPr>
          <p:cNvPr id="15" name="Text 12"/>
          <p:cNvSpPr txBox="1"/>
          <p:nvPr/>
        </p:nvSpPr>
        <p:spPr>
          <a:xfrm>
            <a:off x="9243931"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10</a:t>
            </a:r>
            <a:endParaRPr lang="en-US" sz="950" dirty="0"/>
          </a:p>
        </p:txBody>
      </p:sp>
      <p:sp>
        <p:nvSpPr>
          <p:cNvPr id="16" name="Text 13"/>
          <p:cNvSpPr txBox="1"/>
          <p:nvPr/>
        </p:nvSpPr>
        <p:spPr>
          <a:xfrm>
            <a:off x="9843712"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11</a:t>
            </a:r>
            <a:endParaRPr lang="en-US" sz="950" dirty="0"/>
          </a:p>
        </p:txBody>
      </p:sp>
      <p:sp>
        <p:nvSpPr>
          <p:cNvPr id="17" name="Text 14"/>
          <p:cNvSpPr txBox="1"/>
          <p:nvPr/>
        </p:nvSpPr>
        <p:spPr>
          <a:xfrm>
            <a:off x="10443493"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12</a:t>
            </a:r>
            <a:endParaRPr lang="en-US" sz="950" dirty="0"/>
          </a:p>
        </p:txBody>
      </p:sp>
      <p:sp>
        <p:nvSpPr>
          <p:cNvPr id="18" name="Text 15"/>
          <p:cNvSpPr txBox="1"/>
          <p:nvPr/>
        </p:nvSpPr>
        <p:spPr>
          <a:xfrm>
            <a:off x="11043274" y="1664208"/>
            <a:ext cx="599781" cy="219456"/>
          </a:xfrm>
          <a:prstGeom prst="rect">
            <a:avLst/>
          </a:prstGeom>
          <a:noFill/>
          <a:ln/>
        </p:spPr>
        <p:txBody>
          <a:bodyPr wrap="square" lIns="0" tIns="0" rIns="0" bIns="0" rtlCol="0" anchor="t"/>
          <a:lstStyle/>
          <a:p>
            <a:pPr algn="ctr" indent="0" marL="0">
              <a:lnSpc>
                <a:spcPct val="112000"/>
              </a:lnSpc>
              <a:buNone/>
            </a:pPr>
            <a:r>
              <a:rPr lang="en-US" sz="950" dirty="0">
                <a:solidFill>
                  <a:schemeClr val="accent2"/>
                </a:solidFill>
              </a:rPr>
              <a:t>Ongoing</a:t>
            </a:r>
            <a:endParaRPr lang="en-US" sz="950" dirty="0"/>
          </a:p>
        </p:txBody>
      </p:sp>
      <p:sp>
        <p:nvSpPr>
          <p:cNvPr id="19" name="Shape 16"/>
          <p:cNvSpPr/>
          <p:nvPr/>
        </p:nvSpPr>
        <p:spPr>
          <a:xfrm>
            <a:off x="548640" y="1956816"/>
            <a:ext cx="11094415" cy="0"/>
          </a:xfrm>
          <a:prstGeom prst="line">
            <a:avLst/>
          </a:prstGeom>
          <a:noFill/>
          <a:ln w="9525">
            <a:solidFill>
              <a:schemeClr val="tx1"/>
            </a:solidFill>
            <a:prstDash val="solid"/>
          </a:ln>
        </p:spPr>
      </p:sp>
      <p:sp>
        <p:nvSpPr>
          <p:cNvPr id="20" name="Shape 17"/>
          <p:cNvSpPr/>
          <p:nvPr/>
        </p:nvSpPr>
        <p:spPr>
          <a:xfrm>
            <a:off x="3246120" y="1956816"/>
            <a:ext cx="0" cy="3712464"/>
          </a:xfrm>
          <a:prstGeom prst="line">
            <a:avLst/>
          </a:prstGeom>
          <a:noFill/>
          <a:ln w="6350">
            <a:solidFill>
              <a:schemeClr val="accent5"/>
            </a:solidFill>
            <a:prstDash val="sysDot"/>
          </a:ln>
        </p:spPr>
      </p:sp>
      <p:sp>
        <p:nvSpPr>
          <p:cNvPr id="21" name="Shape 18"/>
          <p:cNvSpPr/>
          <p:nvPr/>
        </p:nvSpPr>
        <p:spPr>
          <a:xfrm>
            <a:off x="3845901" y="1956816"/>
            <a:ext cx="0" cy="3712464"/>
          </a:xfrm>
          <a:prstGeom prst="line">
            <a:avLst/>
          </a:prstGeom>
          <a:noFill/>
          <a:ln w="6350">
            <a:solidFill>
              <a:schemeClr val="accent5"/>
            </a:solidFill>
            <a:prstDash val="sysDot"/>
          </a:ln>
        </p:spPr>
      </p:sp>
      <p:sp>
        <p:nvSpPr>
          <p:cNvPr id="22" name="Shape 19"/>
          <p:cNvSpPr/>
          <p:nvPr/>
        </p:nvSpPr>
        <p:spPr>
          <a:xfrm>
            <a:off x="4445682" y="1956816"/>
            <a:ext cx="0" cy="3712464"/>
          </a:xfrm>
          <a:prstGeom prst="line">
            <a:avLst/>
          </a:prstGeom>
          <a:noFill/>
          <a:ln w="6350">
            <a:solidFill>
              <a:schemeClr val="accent5"/>
            </a:solidFill>
            <a:prstDash val="sysDot"/>
          </a:ln>
        </p:spPr>
      </p:sp>
      <p:sp>
        <p:nvSpPr>
          <p:cNvPr id="23" name="Shape 20"/>
          <p:cNvSpPr/>
          <p:nvPr/>
        </p:nvSpPr>
        <p:spPr>
          <a:xfrm>
            <a:off x="5045463" y="1956816"/>
            <a:ext cx="0" cy="3712464"/>
          </a:xfrm>
          <a:prstGeom prst="line">
            <a:avLst/>
          </a:prstGeom>
          <a:noFill/>
          <a:ln w="6350">
            <a:solidFill>
              <a:schemeClr val="accent5"/>
            </a:solidFill>
            <a:prstDash val="sysDot"/>
          </a:ln>
        </p:spPr>
      </p:sp>
      <p:sp>
        <p:nvSpPr>
          <p:cNvPr id="24" name="Shape 21"/>
          <p:cNvSpPr/>
          <p:nvPr/>
        </p:nvSpPr>
        <p:spPr>
          <a:xfrm>
            <a:off x="5645244" y="1956816"/>
            <a:ext cx="0" cy="3712464"/>
          </a:xfrm>
          <a:prstGeom prst="line">
            <a:avLst/>
          </a:prstGeom>
          <a:noFill/>
          <a:ln w="6350">
            <a:solidFill>
              <a:schemeClr val="accent5"/>
            </a:solidFill>
            <a:prstDash val="sysDot"/>
          </a:ln>
        </p:spPr>
      </p:sp>
      <p:sp>
        <p:nvSpPr>
          <p:cNvPr id="25" name="Shape 22"/>
          <p:cNvSpPr/>
          <p:nvPr/>
        </p:nvSpPr>
        <p:spPr>
          <a:xfrm>
            <a:off x="6245025" y="1956816"/>
            <a:ext cx="0" cy="3712464"/>
          </a:xfrm>
          <a:prstGeom prst="line">
            <a:avLst/>
          </a:prstGeom>
          <a:noFill/>
          <a:ln w="6350">
            <a:solidFill>
              <a:schemeClr val="accent5"/>
            </a:solidFill>
            <a:prstDash val="sysDot"/>
          </a:ln>
        </p:spPr>
      </p:sp>
      <p:sp>
        <p:nvSpPr>
          <p:cNvPr id="26" name="Shape 23"/>
          <p:cNvSpPr/>
          <p:nvPr/>
        </p:nvSpPr>
        <p:spPr>
          <a:xfrm>
            <a:off x="6844807" y="1956816"/>
            <a:ext cx="0" cy="3712464"/>
          </a:xfrm>
          <a:prstGeom prst="line">
            <a:avLst/>
          </a:prstGeom>
          <a:noFill/>
          <a:ln w="6350">
            <a:solidFill>
              <a:schemeClr val="accent5"/>
            </a:solidFill>
            <a:prstDash val="sysDot"/>
          </a:ln>
        </p:spPr>
      </p:sp>
      <p:sp>
        <p:nvSpPr>
          <p:cNvPr id="27" name="Shape 24"/>
          <p:cNvSpPr/>
          <p:nvPr/>
        </p:nvSpPr>
        <p:spPr>
          <a:xfrm>
            <a:off x="7444588" y="1956816"/>
            <a:ext cx="0" cy="3712464"/>
          </a:xfrm>
          <a:prstGeom prst="line">
            <a:avLst/>
          </a:prstGeom>
          <a:noFill/>
          <a:ln w="6350">
            <a:solidFill>
              <a:schemeClr val="accent5"/>
            </a:solidFill>
            <a:prstDash val="sysDot"/>
          </a:ln>
        </p:spPr>
      </p:sp>
      <p:sp>
        <p:nvSpPr>
          <p:cNvPr id="28" name="Shape 25"/>
          <p:cNvSpPr/>
          <p:nvPr/>
        </p:nvSpPr>
        <p:spPr>
          <a:xfrm>
            <a:off x="8044369" y="1956816"/>
            <a:ext cx="0" cy="3712464"/>
          </a:xfrm>
          <a:prstGeom prst="line">
            <a:avLst/>
          </a:prstGeom>
          <a:noFill/>
          <a:ln w="6350">
            <a:solidFill>
              <a:schemeClr val="accent5"/>
            </a:solidFill>
            <a:prstDash val="sysDot"/>
          </a:ln>
        </p:spPr>
      </p:sp>
      <p:sp>
        <p:nvSpPr>
          <p:cNvPr id="29" name="Shape 26"/>
          <p:cNvSpPr/>
          <p:nvPr/>
        </p:nvSpPr>
        <p:spPr>
          <a:xfrm>
            <a:off x="8644150" y="1956816"/>
            <a:ext cx="0" cy="3712464"/>
          </a:xfrm>
          <a:prstGeom prst="line">
            <a:avLst/>
          </a:prstGeom>
          <a:noFill/>
          <a:ln w="6350">
            <a:solidFill>
              <a:schemeClr val="accent5"/>
            </a:solidFill>
            <a:prstDash val="sysDot"/>
          </a:ln>
        </p:spPr>
      </p:sp>
      <p:sp>
        <p:nvSpPr>
          <p:cNvPr id="30" name="Shape 27"/>
          <p:cNvSpPr/>
          <p:nvPr/>
        </p:nvSpPr>
        <p:spPr>
          <a:xfrm>
            <a:off x="9243931" y="1956816"/>
            <a:ext cx="0" cy="3712464"/>
          </a:xfrm>
          <a:prstGeom prst="line">
            <a:avLst/>
          </a:prstGeom>
          <a:noFill/>
          <a:ln w="6350">
            <a:solidFill>
              <a:schemeClr val="accent5"/>
            </a:solidFill>
            <a:prstDash val="sysDot"/>
          </a:ln>
        </p:spPr>
      </p:sp>
      <p:sp>
        <p:nvSpPr>
          <p:cNvPr id="31" name="Shape 28"/>
          <p:cNvSpPr/>
          <p:nvPr/>
        </p:nvSpPr>
        <p:spPr>
          <a:xfrm>
            <a:off x="9843712" y="1956816"/>
            <a:ext cx="0" cy="3712464"/>
          </a:xfrm>
          <a:prstGeom prst="line">
            <a:avLst/>
          </a:prstGeom>
          <a:noFill/>
          <a:ln w="6350">
            <a:solidFill>
              <a:schemeClr val="accent5"/>
            </a:solidFill>
            <a:prstDash val="sysDot"/>
          </a:ln>
        </p:spPr>
      </p:sp>
      <p:sp>
        <p:nvSpPr>
          <p:cNvPr id="32" name="Shape 29"/>
          <p:cNvSpPr/>
          <p:nvPr/>
        </p:nvSpPr>
        <p:spPr>
          <a:xfrm>
            <a:off x="10443493" y="1956816"/>
            <a:ext cx="0" cy="3712464"/>
          </a:xfrm>
          <a:prstGeom prst="line">
            <a:avLst/>
          </a:prstGeom>
          <a:noFill/>
          <a:ln w="6350">
            <a:solidFill>
              <a:schemeClr val="accent5"/>
            </a:solidFill>
            <a:prstDash val="sysDot"/>
          </a:ln>
        </p:spPr>
      </p:sp>
      <p:sp>
        <p:nvSpPr>
          <p:cNvPr id="33" name="Shape 30"/>
          <p:cNvSpPr/>
          <p:nvPr/>
        </p:nvSpPr>
        <p:spPr>
          <a:xfrm>
            <a:off x="11043274" y="1956816"/>
            <a:ext cx="0" cy="3712464"/>
          </a:xfrm>
          <a:prstGeom prst="line">
            <a:avLst/>
          </a:prstGeom>
          <a:noFill/>
          <a:ln w="6350">
            <a:solidFill>
              <a:schemeClr val="accent5"/>
            </a:solidFill>
            <a:prstDash val="sysDot"/>
          </a:ln>
        </p:spPr>
      </p:sp>
      <p:sp>
        <p:nvSpPr>
          <p:cNvPr id="34" name="Text 31"/>
          <p:cNvSpPr txBox="1"/>
          <p:nvPr/>
        </p:nvSpPr>
        <p:spPr>
          <a:xfrm>
            <a:off x="548640" y="2176272"/>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M1</a:t>
            </a:r>
            <a:endParaRPr lang="en-US" sz="1200" dirty="0"/>
          </a:p>
        </p:txBody>
      </p:sp>
      <p:sp>
        <p:nvSpPr>
          <p:cNvPr id="35" name="Text 32"/>
          <p:cNvSpPr txBox="1"/>
          <p:nvPr/>
        </p:nvSpPr>
        <p:spPr>
          <a:xfrm>
            <a:off x="1005840" y="2157984"/>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Digital Foundation</a:t>
            </a:r>
            <a:endParaRPr lang="en-US" sz="1500" dirty="0"/>
          </a:p>
        </p:txBody>
      </p:sp>
      <p:sp>
        <p:nvSpPr>
          <p:cNvPr id="36" name="Shape 33"/>
          <p:cNvSpPr/>
          <p:nvPr/>
        </p:nvSpPr>
        <p:spPr>
          <a:xfrm>
            <a:off x="3845901" y="2212848"/>
            <a:ext cx="1199562" cy="237744"/>
          </a:xfrm>
          <a:prstGeom prst="rect">
            <a:avLst/>
          </a:prstGeom>
          <a:solidFill>
            <a:schemeClr val="accent1"/>
          </a:solidFill>
          <a:ln/>
        </p:spPr>
      </p:sp>
      <p:sp>
        <p:nvSpPr>
          <p:cNvPr id="37" name="Text 34"/>
          <p:cNvSpPr txBox="1"/>
          <p:nvPr/>
        </p:nvSpPr>
        <p:spPr>
          <a:xfrm>
            <a:off x="5155191" y="2157984"/>
            <a:ext cx="6487864" cy="365760"/>
          </a:xfrm>
          <a:prstGeom prst="rect">
            <a:avLst/>
          </a:prstGeom>
          <a:noFill/>
          <a:ln/>
        </p:spPr>
        <p:txBody>
          <a:bodyPr wrap="square" lIns="0" tIns="0" rIns="0" bIns="0" rtlCol="0" anchor="ctr"/>
          <a:lstStyle/>
          <a:p>
            <a:pPr algn="l" indent="0" marL="0">
              <a:lnSpc>
                <a:spcPct val="112000"/>
              </a:lnSpc>
              <a:buNone/>
            </a:pPr>
            <a:r>
              <a:rPr lang="en-US" sz="1100" dirty="0">
                <a:solidFill>
                  <a:schemeClr val="tx2"/>
                </a:solidFill>
              </a:rPr>
              <a:t>Domain · studio email · workspace · analytics · Search Console</a:t>
            </a:r>
            <a:endParaRPr lang="en-US" sz="1100" dirty="0"/>
          </a:p>
        </p:txBody>
      </p:sp>
      <p:sp>
        <p:nvSpPr>
          <p:cNvPr id="38" name="Text 35"/>
          <p:cNvSpPr txBox="1"/>
          <p:nvPr/>
        </p:nvSpPr>
        <p:spPr>
          <a:xfrm>
            <a:off x="548640" y="2743200"/>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M2</a:t>
            </a:r>
            <a:endParaRPr lang="en-US" sz="1200" dirty="0"/>
          </a:p>
        </p:txBody>
      </p:sp>
      <p:sp>
        <p:nvSpPr>
          <p:cNvPr id="39" name="Text 36"/>
          <p:cNvSpPr txBox="1"/>
          <p:nvPr/>
        </p:nvSpPr>
        <p:spPr>
          <a:xfrm>
            <a:off x="1005840" y="2724912"/>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Launch &amp; Search</a:t>
            </a:r>
            <a:endParaRPr lang="en-US" sz="1500" dirty="0"/>
          </a:p>
        </p:txBody>
      </p:sp>
      <p:sp>
        <p:nvSpPr>
          <p:cNvPr id="40" name="Shape 37"/>
          <p:cNvSpPr/>
          <p:nvPr/>
        </p:nvSpPr>
        <p:spPr>
          <a:xfrm>
            <a:off x="4445682" y="2779776"/>
            <a:ext cx="1799343" cy="237744"/>
          </a:xfrm>
          <a:prstGeom prst="rect">
            <a:avLst/>
          </a:prstGeom>
          <a:solidFill>
            <a:schemeClr val="accent1"/>
          </a:solidFill>
          <a:ln/>
        </p:spPr>
      </p:sp>
      <p:sp>
        <p:nvSpPr>
          <p:cNvPr id="41" name="Text 38"/>
          <p:cNvSpPr txBox="1"/>
          <p:nvPr/>
        </p:nvSpPr>
        <p:spPr>
          <a:xfrm>
            <a:off x="6354753" y="2724912"/>
            <a:ext cx="5288302" cy="365760"/>
          </a:xfrm>
          <a:prstGeom prst="rect">
            <a:avLst/>
          </a:prstGeom>
          <a:noFill/>
          <a:ln/>
        </p:spPr>
        <p:txBody>
          <a:bodyPr wrap="square" lIns="0" tIns="0" rIns="0" bIns="0" rtlCol="0" anchor="ctr"/>
          <a:lstStyle/>
          <a:p>
            <a:pPr algn="l" indent="0" marL="0">
              <a:lnSpc>
                <a:spcPct val="112000"/>
              </a:lnSpc>
              <a:buNone/>
            </a:pPr>
            <a:r>
              <a:rPr lang="en-US" sz="1100" dirty="0">
                <a:solidFill>
                  <a:schemeClr val="tx2"/>
                </a:solidFill>
              </a:rPr>
              <a:t>Live, indexable site · tracked enquiries · sitemap submitted</a:t>
            </a:r>
            <a:endParaRPr lang="en-US" sz="1100" dirty="0"/>
          </a:p>
        </p:txBody>
      </p:sp>
      <p:sp>
        <p:nvSpPr>
          <p:cNvPr id="42" name="Text 39"/>
          <p:cNvSpPr txBox="1"/>
          <p:nvPr/>
        </p:nvSpPr>
        <p:spPr>
          <a:xfrm>
            <a:off x="548640" y="3310128"/>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M3</a:t>
            </a:r>
            <a:endParaRPr lang="en-US" sz="1200" dirty="0"/>
          </a:p>
        </p:txBody>
      </p:sp>
      <p:sp>
        <p:nvSpPr>
          <p:cNvPr id="43" name="Text 40"/>
          <p:cNvSpPr txBox="1"/>
          <p:nvPr/>
        </p:nvSpPr>
        <p:spPr>
          <a:xfrm>
            <a:off x="1005840" y="3291840"/>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Local Presence</a:t>
            </a:r>
            <a:endParaRPr lang="en-US" sz="1500" dirty="0"/>
          </a:p>
        </p:txBody>
      </p:sp>
      <p:sp>
        <p:nvSpPr>
          <p:cNvPr id="44" name="Shape 41"/>
          <p:cNvSpPr/>
          <p:nvPr/>
        </p:nvSpPr>
        <p:spPr>
          <a:xfrm>
            <a:off x="5045463" y="3346704"/>
            <a:ext cx="1799343" cy="237744"/>
          </a:xfrm>
          <a:prstGeom prst="rect">
            <a:avLst/>
          </a:prstGeom>
          <a:solidFill>
            <a:schemeClr val="accent1"/>
          </a:solidFill>
          <a:ln/>
        </p:spPr>
      </p:sp>
      <p:sp>
        <p:nvSpPr>
          <p:cNvPr id="45" name="Shape 42"/>
          <p:cNvSpPr/>
          <p:nvPr/>
        </p:nvSpPr>
        <p:spPr>
          <a:xfrm>
            <a:off x="6844807" y="3346704"/>
            <a:ext cx="599781" cy="237744"/>
          </a:xfrm>
          <a:prstGeom prst="rect">
            <a:avLst/>
          </a:prstGeom>
          <a:ln w="9525">
            <a:solidFill>
              <a:schemeClr val="tx1"/>
            </a:solidFill>
            <a:prstDash val="dash"/>
          </a:ln>
        </p:spPr>
      </p:sp>
      <p:sp>
        <p:nvSpPr>
          <p:cNvPr id="46" name="Text 43"/>
          <p:cNvSpPr txBox="1"/>
          <p:nvPr/>
        </p:nvSpPr>
        <p:spPr>
          <a:xfrm>
            <a:off x="7554316" y="3291840"/>
            <a:ext cx="4088740" cy="365760"/>
          </a:xfrm>
          <a:prstGeom prst="rect">
            <a:avLst/>
          </a:prstGeom>
          <a:noFill/>
          <a:ln/>
        </p:spPr>
        <p:txBody>
          <a:bodyPr wrap="square" lIns="0" tIns="0" rIns="0" bIns="0" rtlCol="0" anchor="ctr"/>
          <a:lstStyle/>
          <a:p>
            <a:pPr algn="l" indent="0" marL="0">
              <a:lnSpc>
                <a:spcPct val="112000"/>
              </a:lnSpc>
              <a:buNone/>
            </a:pPr>
            <a:r>
              <a:rPr lang="en-US" sz="1100" dirty="0">
                <a:solidFill>
                  <a:schemeClr val="tx2"/>
                </a:solidFill>
              </a:rPr>
              <a:t>Verified Business Profile · consistent details · review kit</a:t>
            </a:r>
            <a:endParaRPr lang="en-US" sz="1100" dirty="0"/>
          </a:p>
        </p:txBody>
      </p:sp>
      <p:sp>
        <p:nvSpPr>
          <p:cNvPr id="47" name="Text 44"/>
          <p:cNvSpPr txBox="1"/>
          <p:nvPr/>
        </p:nvSpPr>
        <p:spPr>
          <a:xfrm>
            <a:off x="548640" y="3877056"/>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M4</a:t>
            </a:r>
            <a:endParaRPr lang="en-US" sz="1200" dirty="0"/>
          </a:p>
        </p:txBody>
      </p:sp>
      <p:sp>
        <p:nvSpPr>
          <p:cNvPr id="48" name="Text 45"/>
          <p:cNvSpPr txBox="1"/>
          <p:nvPr/>
        </p:nvSpPr>
        <p:spPr>
          <a:xfrm>
            <a:off x="1005840" y="3858768"/>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Portfolio</a:t>
            </a:r>
            <a:endParaRPr lang="en-US" sz="1500" dirty="0"/>
          </a:p>
        </p:txBody>
      </p:sp>
      <p:sp>
        <p:nvSpPr>
          <p:cNvPr id="49" name="Shape 46"/>
          <p:cNvSpPr/>
          <p:nvPr/>
        </p:nvSpPr>
        <p:spPr>
          <a:xfrm>
            <a:off x="5645244" y="3913632"/>
            <a:ext cx="4198468" cy="237744"/>
          </a:xfrm>
          <a:prstGeom prst="rect">
            <a:avLst/>
          </a:prstGeom>
          <a:solidFill>
            <a:schemeClr val="accent1"/>
          </a:solidFill>
          <a:ln/>
        </p:spPr>
      </p:sp>
      <p:sp>
        <p:nvSpPr>
          <p:cNvPr id="50" name="Text 47"/>
          <p:cNvSpPr txBox="1"/>
          <p:nvPr/>
        </p:nvSpPr>
        <p:spPr>
          <a:xfrm>
            <a:off x="9953440" y="3858768"/>
            <a:ext cx="1689615" cy="365760"/>
          </a:xfrm>
          <a:prstGeom prst="rect">
            <a:avLst/>
          </a:prstGeom>
          <a:noFill/>
          <a:ln/>
        </p:spPr>
        <p:txBody>
          <a:bodyPr wrap="square" lIns="0" tIns="0" rIns="0" bIns="0" rtlCol="0" anchor="ctr"/>
          <a:lstStyle/>
          <a:p>
            <a:pPr algn="l" indent="0" marL="0">
              <a:lnSpc>
                <a:spcPct val="112000"/>
              </a:lnSpc>
              <a:buNone/>
            </a:pPr>
            <a:r>
              <a:rPr lang="en-US" sz="1100" dirty="0">
                <a:solidFill>
                  <a:schemeClr val="tx2"/>
                </a:solidFill>
              </a:rPr>
              <a:t>Project pages · service pages</a:t>
            </a:r>
            <a:endParaRPr lang="en-US" sz="1100" dirty="0"/>
          </a:p>
        </p:txBody>
      </p:sp>
      <p:sp>
        <p:nvSpPr>
          <p:cNvPr id="51" name="Text 48"/>
          <p:cNvSpPr txBox="1"/>
          <p:nvPr/>
        </p:nvSpPr>
        <p:spPr>
          <a:xfrm>
            <a:off x="548640" y="4443984"/>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M5</a:t>
            </a:r>
            <a:endParaRPr lang="en-US" sz="1200" dirty="0"/>
          </a:p>
        </p:txBody>
      </p:sp>
      <p:sp>
        <p:nvSpPr>
          <p:cNvPr id="52" name="Text 49"/>
          <p:cNvSpPr txBox="1"/>
          <p:nvPr/>
        </p:nvSpPr>
        <p:spPr>
          <a:xfrm>
            <a:off x="1005840" y="4425696"/>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Authority</a:t>
            </a:r>
            <a:endParaRPr lang="en-US" sz="1500" dirty="0"/>
          </a:p>
        </p:txBody>
      </p:sp>
      <p:sp>
        <p:nvSpPr>
          <p:cNvPr id="53" name="Shape 50"/>
          <p:cNvSpPr/>
          <p:nvPr/>
        </p:nvSpPr>
        <p:spPr>
          <a:xfrm>
            <a:off x="8644150" y="4480560"/>
            <a:ext cx="2399124" cy="237744"/>
          </a:xfrm>
          <a:prstGeom prst="rect">
            <a:avLst/>
          </a:prstGeom>
          <a:solidFill>
            <a:schemeClr val="accent1"/>
          </a:solidFill>
          <a:ln/>
        </p:spPr>
      </p:sp>
      <p:sp>
        <p:nvSpPr>
          <p:cNvPr id="54" name="Shape 51"/>
          <p:cNvSpPr/>
          <p:nvPr/>
        </p:nvSpPr>
        <p:spPr>
          <a:xfrm>
            <a:off x="11043274" y="4480560"/>
            <a:ext cx="599781" cy="237744"/>
          </a:xfrm>
          <a:prstGeom prst="rect">
            <a:avLst/>
          </a:prstGeom>
          <a:ln w="9525">
            <a:solidFill>
              <a:schemeClr val="tx1"/>
            </a:solidFill>
            <a:prstDash val="solid"/>
          </a:ln>
        </p:spPr>
      </p:sp>
      <p:sp>
        <p:nvSpPr>
          <p:cNvPr id="55" name="Text 52"/>
          <p:cNvSpPr txBox="1"/>
          <p:nvPr/>
        </p:nvSpPr>
        <p:spPr>
          <a:xfrm>
            <a:off x="3246120" y="4425696"/>
            <a:ext cx="5288302" cy="365760"/>
          </a:xfrm>
          <a:prstGeom prst="rect">
            <a:avLst/>
          </a:prstGeom>
          <a:noFill/>
          <a:ln/>
        </p:spPr>
        <p:txBody>
          <a:bodyPr wrap="square" lIns="0" tIns="0" rIns="0" bIns="0" rtlCol="0" anchor="ctr"/>
          <a:lstStyle/>
          <a:p>
            <a:pPr algn="r" indent="0" marL="0">
              <a:lnSpc>
                <a:spcPct val="112000"/>
              </a:lnSpc>
              <a:buNone/>
            </a:pPr>
            <a:r>
              <a:rPr lang="en-US" sz="1100" dirty="0">
                <a:solidFill>
                  <a:schemeClr val="tx2"/>
                </a:solidFill>
              </a:rPr>
              <a:t>Profiles · submission kits · outreach log</a:t>
            </a:r>
            <a:endParaRPr lang="en-US" sz="1100" dirty="0"/>
          </a:p>
        </p:txBody>
      </p:sp>
      <p:sp>
        <p:nvSpPr>
          <p:cNvPr id="56" name="Text 53"/>
          <p:cNvSpPr txBox="1"/>
          <p:nvPr/>
        </p:nvSpPr>
        <p:spPr>
          <a:xfrm>
            <a:off x="548640" y="5010912"/>
            <a:ext cx="45720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M6</a:t>
            </a:r>
            <a:endParaRPr lang="en-US" sz="1200" dirty="0"/>
          </a:p>
        </p:txBody>
      </p:sp>
      <p:sp>
        <p:nvSpPr>
          <p:cNvPr id="57" name="Text 54"/>
          <p:cNvSpPr txBox="1"/>
          <p:nvPr/>
        </p:nvSpPr>
        <p:spPr>
          <a:xfrm>
            <a:off x="1005840" y="4992624"/>
            <a:ext cx="205740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Measurement</a:t>
            </a:r>
            <a:endParaRPr lang="en-US" sz="1500" dirty="0"/>
          </a:p>
        </p:txBody>
      </p:sp>
      <p:sp>
        <p:nvSpPr>
          <p:cNvPr id="58" name="Shape 55"/>
          <p:cNvSpPr/>
          <p:nvPr/>
        </p:nvSpPr>
        <p:spPr>
          <a:xfrm>
            <a:off x="6844807" y="5047488"/>
            <a:ext cx="179934" cy="237744"/>
          </a:xfrm>
          <a:prstGeom prst="rect">
            <a:avLst/>
          </a:prstGeom>
          <a:solidFill>
            <a:schemeClr val="accent1"/>
          </a:solidFill>
          <a:ln/>
        </p:spPr>
      </p:sp>
      <p:sp>
        <p:nvSpPr>
          <p:cNvPr id="59" name="Shape 56"/>
          <p:cNvSpPr/>
          <p:nvPr/>
        </p:nvSpPr>
        <p:spPr>
          <a:xfrm>
            <a:off x="7024741" y="5047488"/>
            <a:ext cx="4618314" cy="237744"/>
          </a:xfrm>
          <a:prstGeom prst="rect">
            <a:avLst/>
          </a:prstGeom>
          <a:ln w="9525">
            <a:solidFill>
              <a:schemeClr val="tx1"/>
            </a:solidFill>
            <a:prstDash val="solid"/>
          </a:ln>
        </p:spPr>
      </p:sp>
      <p:sp>
        <p:nvSpPr>
          <p:cNvPr id="60" name="Shape 57"/>
          <p:cNvSpPr/>
          <p:nvPr/>
        </p:nvSpPr>
        <p:spPr>
          <a:xfrm>
            <a:off x="7971217" y="5093208"/>
            <a:ext cx="146304" cy="146304"/>
          </a:xfrm>
          <a:prstGeom prst="ellipse">
            <a:avLst/>
          </a:prstGeom>
          <a:solidFill>
            <a:schemeClr val="tx1"/>
          </a:solidFill>
          <a:ln w="9525">
            <a:solidFill>
              <a:schemeClr val="tx1"/>
            </a:solidFill>
            <a:prstDash val="solid"/>
          </a:ln>
        </p:spPr>
      </p:sp>
      <p:sp>
        <p:nvSpPr>
          <p:cNvPr id="61" name="Shape 58"/>
          <p:cNvSpPr/>
          <p:nvPr/>
        </p:nvSpPr>
        <p:spPr>
          <a:xfrm>
            <a:off x="10370341" y="5093208"/>
            <a:ext cx="146304" cy="146304"/>
          </a:xfrm>
          <a:prstGeom prst="ellipse">
            <a:avLst/>
          </a:prstGeom>
          <a:solidFill>
            <a:schemeClr val="tx1"/>
          </a:solidFill>
          <a:ln w="9525">
            <a:solidFill>
              <a:schemeClr val="tx1"/>
            </a:solidFill>
            <a:prstDash val="solid"/>
          </a:ln>
        </p:spPr>
      </p:sp>
      <p:sp>
        <p:nvSpPr>
          <p:cNvPr id="62" name="Text 59"/>
          <p:cNvSpPr txBox="1"/>
          <p:nvPr/>
        </p:nvSpPr>
        <p:spPr>
          <a:xfrm>
            <a:off x="3246120" y="4992624"/>
            <a:ext cx="3488959" cy="365760"/>
          </a:xfrm>
          <a:prstGeom prst="rect">
            <a:avLst/>
          </a:prstGeom>
          <a:noFill/>
          <a:ln/>
        </p:spPr>
        <p:txBody>
          <a:bodyPr wrap="square" lIns="0" tIns="0" rIns="0" bIns="0" rtlCol="0" anchor="ctr"/>
          <a:lstStyle/>
          <a:p>
            <a:pPr algn="r" indent="0" marL="0">
              <a:lnSpc>
                <a:spcPct val="112000"/>
              </a:lnSpc>
              <a:buNone/>
            </a:pPr>
            <a:r>
              <a:rPr lang="en-US" sz="1100" dirty="0">
                <a:solidFill>
                  <a:schemeClr val="tx2"/>
                </a:solidFill>
              </a:rPr>
              <a:t>Dashboard · monthly report · health checks</a:t>
            </a:r>
            <a:endParaRPr lang="en-US" sz="1100" dirty="0"/>
          </a:p>
        </p:txBody>
      </p:sp>
      <p:sp>
        <p:nvSpPr>
          <p:cNvPr id="63" name="Shape 60"/>
          <p:cNvSpPr/>
          <p:nvPr/>
        </p:nvSpPr>
        <p:spPr>
          <a:xfrm>
            <a:off x="548640" y="5669280"/>
            <a:ext cx="11094415" cy="0"/>
          </a:xfrm>
          <a:prstGeom prst="line">
            <a:avLst/>
          </a:prstGeom>
          <a:noFill/>
          <a:ln w="9525">
            <a:solidFill>
              <a:schemeClr val="accent5"/>
            </a:solidFill>
            <a:prstDash val="solid"/>
          </a:ln>
        </p:spPr>
      </p:sp>
      <p:sp>
        <p:nvSpPr>
          <p:cNvPr id="64" name="Text 61"/>
          <p:cNvSpPr txBox="1"/>
          <p:nvPr/>
        </p:nvSpPr>
        <p:spPr>
          <a:xfrm>
            <a:off x="548640" y="5760720"/>
            <a:ext cx="11094415" cy="411480"/>
          </a:xfrm>
          <a:prstGeom prst="rect">
            <a:avLst/>
          </a:prstGeom>
          <a:noFill/>
          <a:ln/>
        </p:spPr>
        <p:txBody>
          <a:bodyPr wrap="square" lIns="0" tIns="0" rIns="0" bIns="0" rtlCol="0" anchor="t"/>
          <a:lstStyle/>
          <a:p>
            <a:pPr algn="l" indent="0" marL="0">
              <a:lnSpc>
                <a:spcPct val="112000"/>
              </a:lnSpc>
              <a:buNone/>
            </a:pPr>
            <a:r>
              <a:rPr lang="en-US" sz="1100" b="1" dirty="0">
                <a:solidFill>
                  <a:schemeClr val="tx1"/>
                </a:solidFill>
              </a:rPr>
              <a:t>Week 0: align &amp; access.  </a:t>
            </a:r>
            <a:pPr algn="l" indent="0" marL="0">
              <a:lnSpc>
                <a:spcPct val="112000"/>
              </a:lnSpc>
              <a:buNone/>
            </a:pPr>
            <a:r>
              <a:rPr lang="en-US" sz="1100" dirty="0">
                <a:solidFill>
                  <a:schemeClr val="accent2"/>
                </a:solidFill>
              </a:rPr>
              <a:t>Dashed: Google verification time varies. Outlined: ongoing. Dots: monthly reports. Timings assume decisions and inputs arrive on time.</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14 — MILESTONES IN DETAIL</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Foundation, launch and local presence</a:t>
            </a:r>
            <a:endParaRPr lang="en-US" sz="3200" dirty="0"/>
          </a:p>
        </p:txBody>
      </p:sp>
      <p:sp>
        <p:nvSpPr>
          <p:cNvPr id="5" name="Shape 2"/>
          <p:cNvSpPr/>
          <p:nvPr/>
        </p:nvSpPr>
        <p:spPr>
          <a:xfrm>
            <a:off x="548640" y="2395728"/>
            <a:ext cx="11094415" cy="0"/>
          </a:xfrm>
          <a:prstGeom prst="line">
            <a:avLst/>
          </a:prstGeom>
          <a:noFill/>
          <a:ln w="9525">
            <a:solidFill>
              <a:schemeClr val="tx1"/>
            </a:solidFill>
            <a:prstDash val="solid"/>
          </a:ln>
        </p:spPr>
      </p:sp>
      <p:sp>
        <p:nvSpPr>
          <p:cNvPr id="6" name="Text 3"/>
          <p:cNvSpPr txBox="1"/>
          <p:nvPr/>
        </p:nvSpPr>
        <p:spPr>
          <a:xfrm>
            <a:off x="548640" y="2523744"/>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DELIVERABLES</a:t>
            </a:r>
            <a:endParaRPr lang="en-US" sz="950" dirty="0"/>
          </a:p>
        </p:txBody>
      </p:sp>
      <p:sp>
        <p:nvSpPr>
          <p:cNvPr id="7" name="Shape 4"/>
          <p:cNvSpPr/>
          <p:nvPr/>
        </p:nvSpPr>
        <p:spPr>
          <a:xfrm>
            <a:off x="548640" y="3858768"/>
            <a:ext cx="11094415" cy="0"/>
          </a:xfrm>
          <a:prstGeom prst="line">
            <a:avLst/>
          </a:prstGeom>
          <a:noFill/>
          <a:ln w="9525">
            <a:solidFill>
              <a:schemeClr val="accent5"/>
            </a:solidFill>
            <a:prstDash val="solid"/>
          </a:ln>
        </p:spPr>
      </p:sp>
      <p:sp>
        <p:nvSpPr>
          <p:cNvPr id="8" name="Text 5"/>
          <p:cNvSpPr txBox="1"/>
          <p:nvPr/>
        </p:nvSpPr>
        <p:spPr>
          <a:xfrm>
            <a:off x="548640" y="3986784"/>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FROM MACK</a:t>
            </a:r>
            <a:endParaRPr lang="en-US" sz="950" dirty="0"/>
          </a:p>
        </p:txBody>
      </p:sp>
      <p:sp>
        <p:nvSpPr>
          <p:cNvPr id="9" name="Shape 6"/>
          <p:cNvSpPr/>
          <p:nvPr/>
        </p:nvSpPr>
        <p:spPr>
          <a:xfrm>
            <a:off x="548640" y="4937760"/>
            <a:ext cx="11094415" cy="0"/>
          </a:xfrm>
          <a:prstGeom prst="line">
            <a:avLst/>
          </a:prstGeom>
          <a:noFill/>
          <a:ln w="9525">
            <a:solidFill>
              <a:schemeClr val="accent5"/>
            </a:solidFill>
            <a:prstDash val="solid"/>
          </a:ln>
        </p:spPr>
      </p:sp>
      <p:sp>
        <p:nvSpPr>
          <p:cNvPr id="10" name="Text 7"/>
          <p:cNvSpPr txBox="1"/>
          <p:nvPr/>
        </p:nvSpPr>
        <p:spPr>
          <a:xfrm>
            <a:off x="548640" y="5065776"/>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COMPLETE WHEN</a:t>
            </a:r>
            <a:endParaRPr lang="en-US" sz="950" dirty="0"/>
          </a:p>
        </p:txBody>
      </p:sp>
      <p:sp>
        <p:nvSpPr>
          <p:cNvPr id="11" name="Text 8"/>
          <p:cNvSpPr txBox="1"/>
          <p:nvPr/>
        </p:nvSpPr>
        <p:spPr>
          <a:xfrm>
            <a:off x="22402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M1</a:t>
            </a:r>
            <a:endParaRPr lang="en-US" sz="1200" dirty="0"/>
          </a:p>
        </p:txBody>
      </p:sp>
      <p:sp>
        <p:nvSpPr>
          <p:cNvPr id="12" name="Text 9"/>
          <p:cNvSpPr txBox="1"/>
          <p:nvPr/>
        </p:nvSpPr>
        <p:spPr>
          <a:xfrm>
            <a:off x="27889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Weeks 1–2</a:t>
            </a:r>
            <a:endParaRPr lang="en-US" sz="1000" dirty="0"/>
          </a:p>
        </p:txBody>
      </p:sp>
      <p:sp>
        <p:nvSpPr>
          <p:cNvPr id="13" name="Text 10"/>
          <p:cNvSpPr txBox="1"/>
          <p:nvPr/>
        </p:nvSpPr>
        <p:spPr>
          <a:xfrm>
            <a:off x="22402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Digital Foundation</a:t>
            </a:r>
            <a:endParaRPr lang="en-US" sz="1700" dirty="0"/>
          </a:p>
        </p:txBody>
      </p:sp>
      <p:sp>
        <p:nvSpPr>
          <p:cNvPr id="14" name="Text 11"/>
          <p:cNvSpPr txBox="1"/>
          <p:nvPr/>
        </p:nvSpPr>
        <p:spPr>
          <a:xfrm>
            <a:off x="22402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Domain in the studio’s name</a:t>
            </a:r>
            <a:endParaRPr lang="en-US" sz="1300" dirty="0"/>
          </a:p>
          <a:p>
            <a:pPr algn="l" indent="0" marL="0">
              <a:lnSpc>
                <a:spcPct val="112000"/>
              </a:lnSpc>
              <a:spcAft>
                <a:spcPts val="400"/>
              </a:spcAft>
              <a:buNone/>
            </a:pPr>
            <a:r>
              <a:rPr lang="en-US" sz="1300" dirty="0">
                <a:solidFill>
                  <a:schemeClr val="tx2"/>
                </a:solidFill>
              </a:rPr>
              <a:t>Studio email, authenticated</a:t>
            </a:r>
            <a:endParaRPr lang="en-US" sz="1300" dirty="0"/>
          </a:p>
          <a:p>
            <a:pPr algn="l" indent="0" marL="0">
              <a:lnSpc>
                <a:spcPct val="112000"/>
              </a:lnSpc>
              <a:spcAft>
                <a:spcPts val="400"/>
              </a:spcAft>
              <a:buNone/>
            </a:pPr>
            <a:r>
              <a:rPr lang="en-US" sz="1300" dirty="0">
                <a:solidFill>
                  <a:schemeClr val="tx2"/>
                </a:solidFill>
              </a:rPr>
              <a:t>Shared drives and permissions</a:t>
            </a:r>
            <a:endParaRPr lang="en-US" sz="1300" dirty="0"/>
          </a:p>
          <a:p>
            <a:pPr algn="l" indent="0" marL="0">
              <a:lnSpc>
                <a:spcPct val="112000"/>
              </a:lnSpc>
              <a:spcAft>
                <a:spcPts val="400"/>
              </a:spcAft>
              <a:buNone/>
            </a:pPr>
            <a:r>
              <a:rPr lang="en-US" sz="1300" dirty="0">
                <a:solidFill>
                  <a:schemeClr val="tx2"/>
                </a:solidFill>
              </a:rPr>
              <a:t>Analytics and Search Console</a:t>
            </a:r>
            <a:endParaRPr lang="en-US" sz="1300" dirty="0"/>
          </a:p>
        </p:txBody>
      </p:sp>
      <p:sp>
        <p:nvSpPr>
          <p:cNvPr id="15" name="Text 12"/>
          <p:cNvSpPr txBox="1"/>
          <p:nvPr/>
        </p:nvSpPr>
        <p:spPr>
          <a:xfrm>
            <a:off x="22402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Domain decision</a:t>
            </a:r>
            <a:endParaRPr lang="en-US" sz="1300" dirty="0"/>
          </a:p>
          <a:p>
            <a:pPr algn="l" indent="0" marL="0">
              <a:lnSpc>
                <a:spcPct val="112000"/>
              </a:lnSpc>
              <a:spcAft>
                <a:spcPts val="400"/>
              </a:spcAft>
              <a:buNone/>
            </a:pPr>
            <a:r>
              <a:rPr lang="en-US" sz="1300" dirty="0">
                <a:solidFill>
                  <a:schemeClr val="tx2"/>
                </a:solidFill>
              </a:rPr>
              <a:t>Who needs a mailbox</a:t>
            </a:r>
            <a:endParaRPr lang="en-US" sz="1300" dirty="0"/>
          </a:p>
          <a:p>
            <a:pPr algn="l" indent="0" marL="0">
              <a:lnSpc>
                <a:spcPct val="112000"/>
              </a:lnSpc>
              <a:spcAft>
                <a:spcPts val="400"/>
              </a:spcAft>
              <a:buNone/>
            </a:pPr>
            <a:r>
              <a:rPr lang="en-US" sz="1300" dirty="0">
                <a:solidFill>
                  <a:schemeClr val="tx2"/>
                </a:solidFill>
              </a:rPr>
              <a:t>Where files live today</a:t>
            </a:r>
            <a:endParaRPr lang="en-US" sz="1300" dirty="0"/>
          </a:p>
        </p:txBody>
      </p:sp>
      <p:sp>
        <p:nvSpPr>
          <p:cNvPr id="16" name="Text 13"/>
          <p:cNvSpPr txBox="1"/>
          <p:nvPr/>
        </p:nvSpPr>
        <p:spPr>
          <a:xfrm>
            <a:off x="22402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Test email passes authentication</a:t>
            </a:r>
            <a:endParaRPr lang="en-US" sz="1300" dirty="0"/>
          </a:p>
          <a:p>
            <a:pPr algn="l" indent="0" marL="0">
              <a:lnSpc>
                <a:spcPct val="112000"/>
              </a:lnSpc>
              <a:spcAft>
                <a:spcPts val="400"/>
              </a:spcAft>
              <a:buNone/>
            </a:pPr>
            <a:r>
              <a:rPr lang="en-US" sz="1300" dirty="0">
                <a:solidFill>
                  <a:schemeClr val="tx2"/>
                </a:solidFill>
              </a:rPr>
              <a:t>Every account has a MACK owner</a:t>
            </a:r>
            <a:endParaRPr lang="en-US" sz="1300" dirty="0"/>
          </a:p>
        </p:txBody>
      </p:sp>
      <p:sp>
        <p:nvSpPr>
          <p:cNvPr id="17" name="Text 14"/>
          <p:cNvSpPr txBox="1"/>
          <p:nvPr/>
        </p:nvSpPr>
        <p:spPr>
          <a:xfrm>
            <a:off x="54406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M2</a:t>
            </a:r>
            <a:endParaRPr lang="en-US" sz="1200" dirty="0"/>
          </a:p>
        </p:txBody>
      </p:sp>
      <p:sp>
        <p:nvSpPr>
          <p:cNvPr id="18" name="Text 15"/>
          <p:cNvSpPr txBox="1"/>
          <p:nvPr/>
        </p:nvSpPr>
        <p:spPr>
          <a:xfrm>
            <a:off x="59893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Weeks 2–4</a:t>
            </a:r>
            <a:endParaRPr lang="en-US" sz="1000" dirty="0"/>
          </a:p>
        </p:txBody>
      </p:sp>
      <p:sp>
        <p:nvSpPr>
          <p:cNvPr id="19" name="Text 16"/>
          <p:cNvSpPr txBox="1"/>
          <p:nvPr/>
        </p:nvSpPr>
        <p:spPr>
          <a:xfrm>
            <a:off x="54406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Launch &amp; Search Foundation</a:t>
            </a:r>
            <a:endParaRPr lang="en-US" sz="1700" dirty="0"/>
          </a:p>
        </p:txBody>
      </p:sp>
      <p:sp>
        <p:nvSpPr>
          <p:cNvPr id="20" name="Text 17"/>
          <p:cNvSpPr txBox="1"/>
          <p:nvPr/>
        </p:nvSpPr>
        <p:spPr>
          <a:xfrm>
            <a:off x="54406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Site live on the domain, indexable</a:t>
            </a:r>
            <a:endParaRPr lang="en-US" sz="1300" dirty="0"/>
          </a:p>
          <a:p>
            <a:pPr algn="l" indent="0" marL="0">
              <a:lnSpc>
                <a:spcPct val="112000"/>
              </a:lnSpc>
              <a:spcAft>
                <a:spcPts val="400"/>
              </a:spcAft>
              <a:buNone/>
            </a:pPr>
            <a:r>
              <a:rPr lang="en-US" sz="1300" dirty="0">
                <a:solidFill>
                  <a:schemeClr val="tx2"/>
                </a:solidFill>
              </a:rPr>
              <a:t>Technical fixes</a:t>
            </a:r>
            <a:endParaRPr lang="en-US" sz="1300" dirty="0"/>
          </a:p>
          <a:p>
            <a:pPr algn="l" indent="0" marL="0">
              <a:lnSpc>
                <a:spcPct val="112000"/>
              </a:lnSpc>
              <a:spcAft>
                <a:spcPts val="400"/>
              </a:spcAft>
              <a:buNone/>
            </a:pPr>
            <a:r>
              <a:rPr lang="en-US" sz="1300" dirty="0">
                <a:solidFill>
                  <a:schemeClr val="tx2"/>
                </a:solidFill>
              </a:rPr>
              <a:t>Enquiry and contact tracking</a:t>
            </a:r>
            <a:endParaRPr lang="en-US" sz="1300" dirty="0"/>
          </a:p>
          <a:p>
            <a:pPr algn="l" indent="0" marL="0">
              <a:lnSpc>
                <a:spcPct val="112000"/>
              </a:lnSpc>
              <a:spcAft>
                <a:spcPts val="400"/>
              </a:spcAft>
              <a:buNone/>
            </a:pPr>
            <a:r>
              <a:rPr lang="en-US" sz="1300" dirty="0">
                <a:solidFill>
                  <a:schemeClr val="tx2"/>
                </a:solidFill>
              </a:rPr>
              <a:t>Search-intent map</a:t>
            </a:r>
            <a:endParaRPr lang="en-US" sz="1300" dirty="0"/>
          </a:p>
        </p:txBody>
      </p:sp>
      <p:sp>
        <p:nvSpPr>
          <p:cNvPr id="21" name="Text 18"/>
          <p:cNvSpPr txBox="1"/>
          <p:nvPr/>
        </p:nvSpPr>
        <p:spPr>
          <a:xfrm>
            <a:off x="54406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Launch approval</a:t>
            </a:r>
            <a:endParaRPr lang="en-US" sz="1300" dirty="0"/>
          </a:p>
          <a:p>
            <a:pPr algn="l" indent="0" marL="0">
              <a:lnSpc>
                <a:spcPct val="112000"/>
              </a:lnSpc>
              <a:spcAft>
                <a:spcPts val="400"/>
              </a:spcAft>
              <a:buNone/>
            </a:pPr>
            <a:r>
              <a:rPr lang="en-US" sz="1300" dirty="0">
                <a:solidFill>
                  <a:schemeClr val="tx2"/>
                </a:solidFill>
              </a:rPr>
              <a:t>Contact details confirmed</a:t>
            </a:r>
            <a:endParaRPr lang="en-US" sz="1300" dirty="0"/>
          </a:p>
          <a:p>
            <a:pPr algn="l" indent="0" marL="0">
              <a:lnSpc>
                <a:spcPct val="112000"/>
              </a:lnSpc>
              <a:spcAft>
                <a:spcPts val="400"/>
              </a:spcAft>
              <a:buNone/>
            </a:pPr>
            <a:r>
              <a:rPr lang="en-US" sz="1300" dirty="0">
                <a:solidFill>
                  <a:schemeClr val="tx2"/>
                </a:solidFill>
              </a:rPr>
              <a:t>Privacy wording approved</a:t>
            </a:r>
            <a:endParaRPr lang="en-US" sz="1300" dirty="0"/>
          </a:p>
        </p:txBody>
      </p:sp>
      <p:sp>
        <p:nvSpPr>
          <p:cNvPr id="22" name="Text 19"/>
          <p:cNvSpPr txBox="1"/>
          <p:nvPr/>
        </p:nvSpPr>
        <p:spPr>
          <a:xfrm>
            <a:off x="54406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Pages submitted and crawlable</a:t>
            </a:r>
            <a:endParaRPr lang="en-US" sz="1300" dirty="0"/>
          </a:p>
          <a:p>
            <a:pPr algn="l" indent="0" marL="0">
              <a:lnSpc>
                <a:spcPct val="112000"/>
              </a:lnSpc>
              <a:spcAft>
                <a:spcPts val="400"/>
              </a:spcAft>
              <a:buNone/>
            </a:pPr>
            <a:r>
              <a:rPr lang="en-US" sz="1300" dirty="0">
                <a:solidFill>
                  <a:schemeClr val="tx2"/>
                </a:solidFill>
              </a:rPr>
              <a:t>A test enquiry is recorded</a:t>
            </a:r>
            <a:endParaRPr lang="en-US" sz="1300" dirty="0"/>
          </a:p>
          <a:p>
            <a:pPr algn="l" indent="0" marL="0">
              <a:lnSpc>
                <a:spcPct val="112000"/>
              </a:lnSpc>
              <a:spcAft>
                <a:spcPts val="400"/>
              </a:spcAft>
              <a:buNone/>
            </a:pPr>
            <a:r>
              <a:rPr lang="en-US" sz="1300" dirty="0">
                <a:solidFill>
                  <a:schemeClr val="tx2"/>
                </a:solidFill>
              </a:rPr>
              <a:t>No critical Search Console errors</a:t>
            </a:r>
            <a:endParaRPr lang="en-US" sz="1300" dirty="0"/>
          </a:p>
        </p:txBody>
      </p:sp>
      <p:sp>
        <p:nvSpPr>
          <p:cNvPr id="23" name="Text 20"/>
          <p:cNvSpPr txBox="1"/>
          <p:nvPr/>
        </p:nvSpPr>
        <p:spPr>
          <a:xfrm>
            <a:off x="86410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M3</a:t>
            </a:r>
            <a:endParaRPr lang="en-US" sz="1200" dirty="0"/>
          </a:p>
        </p:txBody>
      </p:sp>
      <p:sp>
        <p:nvSpPr>
          <p:cNvPr id="24" name="Text 21"/>
          <p:cNvSpPr txBox="1"/>
          <p:nvPr/>
        </p:nvSpPr>
        <p:spPr>
          <a:xfrm>
            <a:off x="91897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Weeks 3–6</a:t>
            </a:r>
            <a:endParaRPr lang="en-US" sz="1000" dirty="0"/>
          </a:p>
        </p:txBody>
      </p:sp>
      <p:sp>
        <p:nvSpPr>
          <p:cNvPr id="25" name="Text 22"/>
          <p:cNvSpPr txBox="1"/>
          <p:nvPr/>
        </p:nvSpPr>
        <p:spPr>
          <a:xfrm>
            <a:off x="86410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Local Presence</a:t>
            </a:r>
            <a:endParaRPr lang="en-US" sz="1700" dirty="0"/>
          </a:p>
        </p:txBody>
      </p:sp>
      <p:sp>
        <p:nvSpPr>
          <p:cNvPr id="26" name="Text 23"/>
          <p:cNvSpPr txBox="1"/>
          <p:nvPr/>
        </p:nvSpPr>
        <p:spPr>
          <a:xfrm>
            <a:off x="86410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Verified Business Profile</a:t>
            </a:r>
            <a:endParaRPr lang="en-US" sz="1300" dirty="0"/>
          </a:p>
          <a:p>
            <a:pPr algn="l" indent="0" marL="0">
              <a:lnSpc>
                <a:spcPct val="112000"/>
              </a:lnSpc>
              <a:spcAft>
                <a:spcPts val="400"/>
              </a:spcAft>
              <a:buNone/>
            </a:pPr>
            <a:r>
              <a:rPr lang="en-US" sz="1300" dirty="0">
                <a:solidFill>
                  <a:schemeClr val="tx2"/>
                </a:solidFill>
              </a:rPr>
              <a:t>Consistent name, address, phone</a:t>
            </a:r>
            <a:endParaRPr lang="en-US" sz="1300" dirty="0"/>
          </a:p>
          <a:p>
            <a:pPr algn="l" indent="0" marL="0">
              <a:lnSpc>
                <a:spcPct val="112000"/>
              </a:lnSpc>
              <a:spcAft>
                <a:spcPts val="400"/>
              </a:spcAft>
              <a:buNone/>
            </a:pPr>
            <a:r>
              <a:rPr lang="en-US" sz="1300" dirty="0">
                <a:solidFill>
                  <a:schemeClr val="tx2"/>
                </a:solidFill>
              </a:rPr>
              <a:t>Review request kit</a:t>
            </a:r>
            <a:endParaRPr lang="en-US" sz="1300" dirty="0"/>
          </a:p>
          <a:p>
            <a:pPr algn="l" indent="0" marL="0">
              <a:lnSpc>
                <a:spcPct val="112000"/>
              </a:lnSpc>
              <a:spcAft>
                <a:spcPts val="400"/>
              </a:spcAft>
              <a:buNone/>
            </a:pPr>
            <a:r>
              <a:rPr lang="en-US" sz="1300" dirty="0">
                <a:solidFill>
                  <a:schemeClr val="tx2"/>
                </a:solidFill>
              </a:rPr>
              <a:t>New-studio playbook</a:t>
            </a:r>
            <a:endParaRPr lang="en-US" sz="1300" dirty="0"/>
          </a:p>
        </p:txBody>
      </p:sp>
      <p:sp>
        <p:nvSpPr>
          <p:cNvPr id="27" name="Text 24"/>
          <p:cNvSpPr txBox="1"/>
          <p:nvPr/>
        </p:nvSpPr>
        <p:spPr>
          <a:xfrm>
            <a:off x="86410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Decision on the existing listing</a:t>
            </a:r>
            <a:endParaRPr lang="en-US" sz="1300" dirty="0"/>
          </a:p>
          <a:p>
            <a:pPr algn="l" indent="0" marL="0">
              <a:lnSpc>
                <a:spcPct val="112000"/>
              </a:lnSpc>
              <a:spcAft>
                <a:spcPts val="400"/>
              </a:spcAft>
              <a:buNone/>
            </a:pPr>
            <a:r>
              <a:rPr lang="en-US" sz="1300" dirty="0">
                <a:solidFill>
                  <a:schemeClr val="tx2"/>
                </a:solidFill>
              </a:rPr>
              <a:t>Someone at the studio to verify</a:t>
            </a:r>
            <a:endParaRPr lang="en-US" sz="1300" dirty="0"/>
          </a:p>
          <a:p>
            <a:pPr algn="l" indent="0" marL="0">
              <a:lnSpc>
                <a:spcPct val="112000"/>
              </a:lnSpc>
              <a:spcAft>
                <a:spcPts val="400"/>
              </a:spcAft>
              <a:buNone/>
            </a:pPr>
            <a:r>
              <a:rPr lang="en-US" sz="1300" dirty="0">
                <a:solidFill>
                  <a:schemeClr val="tx2"/>
                </a:solidFill>
              </a:rPr>
              <a:t>Photos of the studio</a:t>
            </a:r>
            <a:endParaRPr lang="en-US" sz="1300" dirty="0"/>
          </a:p>
        </p:txBody>
      </p:sp>
      <p:sp>
        <p:nvSpPr>
          <p:cNvPr id="28" name="Text 25"/>
          <p:cNvSpPr txBox="1"/>
          <p:nvPr/>
        </p:nvSpPr>
        <p:spPr>
          <a:xfrm>
            <a:off x="86410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Profile verified and complete</a:t>
            </a:r>
            <a:endParaRPr lang="en-US" sz="1300" dirty="0"/>
          </a:p>
          <a:p>
            <a:pPr algn="l" indent="0" marL="0">
              <a:lnSpc>
                <a:spcPct val="112000"/>
              </a:lnSpc>
              <a:spcAft>
                <a:spcPts val="400"/>
              </a:spcAft>
              <a:buNone/>
            </a:pPr>
            <a:r>
              <a:rPr lang="en-US" sz="1300" dirty="0">
                <a:solidFill>
                  <a:schemeClr val="tx2"/>
                </a:solidFill>
              </a:rPr>
              <a:t>Visits from the profile measured</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15 — MILESTONES IN DETAIL</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Portfolio, authority and measurement</a:t>
            </a:r>
            <a:endParaRPr lang="en-US" sz="3200" dirty="0"/>
          </a:p>
        </p:txBody>
      </p:sp>
      <p:sp>
        <p:nvSpPr>
          <p:cNvPr id="5" name="Shape 2"/>
          <p:cNvSpPr/>
          <p:nvPr/>
        </p:nvSpPr>
        <p:spPr>
          <a:xfrm>
            <a:off x="548640" y="2395728"/>
            <a:ext cx="11094415" cy="0"/>
          </a:xfrm>
          <a:prstGeom prst="line">
            <a:avLst/>
          </a:prstGeom>
          <a:noFill/>
          <a:ln w="9525">
            <a:solidFill>
              <a:schemeClr val="tx1"/>
            </a:solidFill>
            <a:prstDash val="solid"/>
          </a:ln>
        </p:spPr>
      </p:sp>
      <p:sp>
        <p:nvSpPr>
          <p:cNvPr id="6" name="Text 3"/>
          <p:cNvSpPr txBox="1"/>
          <p:nvPr/>
        </p:nvSpPr>
        <p:spPr>
          <a:xfrm>
            <a:off x="548640" y="2523744"/>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DELIVERABLES</a:t>
            </a:r>
            <a:endParaRPr lang="en-US" sz="950" dirty="0"/>
          </a:p>
        </p:txBody>
      </p:sp>
      <p:sp>
        <p:nvSpPr>
          <p:cNvPr id="7" name="Shape 4"/>
          <p:cNvSpPr/>
          <p:nvPr/>
        </p:nvSpPr>
        <p:spPr>
          <a:xfrm>
            <a:off x="548640" y="3858768"/>
            <a:ext cx="11094415" cy="0"/>
          </a:xfrm>
          <a:prstGeom prst="line">
            <a:avLst/>
          </a:prstGeom>
          <a:noFill/>
          <a:ln w="9525">
            <a:solidFill>
              <a:schemeClr val="accent5"/>
            </a:solidFill>
            <a:prstDash val="solid"/>
          </a:ln>
        </p:spPr>
      </p:sp>
      <p:sp>
        <p:nvSpPr>
          <p:cNvPr id="8" name="Text 5"/>
          <p:cNvSpPr txBox="1"/>
          <p:nvPr/>
        </p:nvSpPr>
        <p:spPr>
          <a:xfrm>
            <a:off x="548640" y="3986784"/>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FROM MACK</a:t>
            </a:r>
            <a:endParaRPr lang="en-US" sz="950" dirty="0"/>
          </a:p>
        </p:txBody>
      </p:sp>
      <p:sp>
        <p:nvSpPr>
          <p:cNvPr id="9" name="Shape 6"/>
          <p:cNvSpPr/>
          <p:nvPr/>
        </p:nvSpPr>
        <p:spPr>
          <a:xfrm>
            <a:off x="548640" y="4937760"/>
            <a:ext cx="11094415" cy="0"/>
          </a:xfrm>
          <a:prstGeom prst="line">
            <a:avLst/>
          </a:prstGeom>
          <a:noFill/>
          <a:ln w="9525">
            <a:solidFill>
              <a:schemeClr val="accent5"/>
            </a:solidFill>
            <a:prstDash val="solid"/>
          </a:ln>
        </p:spPr>
      </p:sp>
      <p:sp>
        <p:nvSpPr>
          <p:cNvPr id="10" name="Text 7"/>
          <p:cNvSpPr txBox="1"/>
          <p:nvPr/>
        </p:nvSpPr>
        <p:spPr>
          <a:xfrm>
            <a:off x="548640" y="5065776"/>
            <a:ext cx="150876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COMPLETE WHEN</a:t>
            </a:r>
            <a:endParaRPr lang="en-US" sz="950" dirty="0"/>
          </a:p>
        </p:txBody>
      </p:sp>
      <p:sp>
        <p:nvSpPr>
          <p:cNvPr id="11" name="Text 8"/>
          <p:cNvSpPr txBox="1"/>
          <p:nvPr/>
        </p:nvSpPr>
        <p:spPr>
          <a:xfrm>
            <a:off x="22402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M4</a:t>
            </a:r>
            <a:endParaRPr lang="en-US" sz="1200" dirty="0"/>
          </a:p>
        </p:txBody>
      </p:sp>
      <p:sp>
        <p:nvSpPr>
          <p:cNvPr id="12" name="Text 9"/>
          <p:cNvSpPr txBox="1"/>
          <p:nvPr/>
        </p:nvSpPr>
        <p:spPr>
          <a:xfrm>
            <a:off x="27889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Weeks 4–10</a:t>
            </a:r>
            <a:endParaRPr lang="en-US" sz="1000" dirty="0"/>
          </a:p>
        </p:txBody>
      </p:sp>
      <p:sp>
        <p:nvSpPr>
          <p:cNvPr id="13" name="Text 10"/>
          <p:cNvSpPr txBox="1"/>
          <p:nvPr/>
        </p:nvSpPr>
        <p:spPr>
          <a:xfrm>
            <a:off x="22402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Portfolio Discoverability</a:t>
            </a:r>
            <a:endParaRPr lang="en-US" sz="1700" dirty="0"/>
          </a:p>
        </p:txBody>
      </p:sp>
      <p:sp>
        <p:nvSpPr>
          <p:cNvPr id="14" name="Text 11"/>
          <p:cNvSpPr txBox="1"/>
          <p:nvPr/>
        </p:nvSpPr>
        <p:spPr>
          <a:xfrm>
            <a:off x="22402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Project pages to one standard</a:t>
            </a:r>
            <a:endParaRPr lang="en-US" sz="1300" dirty="0"/>
          </a:p>
          <a:p>
            <a:pPr algn="l" indent="0" marL="0">
              <a:lnSpc>
                <a:spcPct val="112000"/>
              </a:lnSpc>
              <a:spcAft>
                <a:spcPts val="400"/>
              </a:spcAft>
              <a:buNone/>
            </a:pPr>
            <a:r>
              <a:rPr lang="en-US" sz="1300" dirty="0">
                <a:solidFill>
                  <a:schemeClr val="tx2"/>
                </a:solidFill>
              </a:rPr>
              <a:t>Service pages</a:t>
            </a:r>
            <a:endParaRPr lang="en-US" sz="1300" dirty="0"/>
          </a:p>
          <a:p>
            <a:pPr algn="l" indent="0" marL="0">
              <a:lnSpc>
                <a:spcPct val="112000"/>
              </a:lnSpc>
              <a:spcAft>
                <a:spcPts val="400"/>
              </a:spcAft>
              <a:buNone/>
            </a:pPr>
            <a:r>
              <a:rPr lang="en-US" sz="1300" dirty="0">
                <a:solidFill>
                  <a:schemeClr val="tx2"/>
                </a:solidFill>
              </a:rPr>
              <a:t>Image names and credits</a:t>
            </a:r>
            <a:endParaRPr lang="en-US" sz="1300" dirty="0"/>
          </a:p>
          <a:p>
            <a:pPr algn="l" indent="0" marL="0">
              <a:lnSpc>
                <a:spcPct val="112000"/>
              </a:lnSpc>
              <a:spcAft>
                <a:spcPts val="400"/>
              </a:spcAft>
              <a:buNone/>
            </a:pPr>
            <a:r>
              <a:rPr lang="en-US" sz="1300" dirty="0">
                <a:solidFill>
                  <a:schemeClr val="tx2"/>
                </a:solidFill>
              </a:rPr>
              <a:t>Publishing routine for new work</a:t>
            </a:r>
            <a:endParaRPr lang="en-US" sz="1300" dirty="0"/>
          </a:p>
        </p:txBody>
      </p:sp>
      <p:sp>
        <p:nvSpPr>
          <p:cNvPr id="15" name="Text 12"/>
          <p:cNvSpPr txBox="1"/>
          <p:nvPr/>
        </p:nvSpPr>
        <p:spPr>
          <a:xfrm>
            <a:off x="22402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About 10 minutes per project</a:t>
            </a:r>
            <a:endParaRPr lang="en-US" sz="1300" dirty="0"/>
          </a:p>
          <a:p>
            <a:pPr algn="l" indent="0" marL="0">
              <a:lnSpc>
                <a:spcPct val="112000"/>
              </a:lnSpc>
              <a:spcAft>
                <a:spcPts val="400"/>
              </a:spcAft>
              <a:buNone/>
            </a:pPr>
            <a:r>
              <a:rPr lang="en-US" sz="1300" dirty="0">
                <a:solidFill>
                  <a:schemeClr val="tx2"/>
                </a:solidFill>
              </a:rPr>
              <a:t>Photo credits and permissions</a:t>
            </a:r>
            <a:endParaRPr lang="en-US" sz="1300" dirty="0"/>
          </a:p>
        </p:txBody>
      </p:sp>
      <p:sp>
        <p:nvSpPr>
          <p:cNvPr id="16" name="Text 13"/>
          <p:cNvSpPr txBox="1"/>
          <p:nvPr/>
        </p:nvSpPr>
        <p:spPr>
          <a:xfrm>
            <a:off x="22402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Every supplied project meets the standard</a:t>
            </a:r>
            <a:endParaRPr lang="en-US" sz="1300" dirty="0"/>
          </a:p>
          <a:p>
            <a:pPr algn="l" indent="0" marL="0">
              <a:lnSpc>
                <a:spcPct val="112000"/>
              </a:lnSpc>
              <a:spcAft>
                <a:spcPts val="400"/>
              </a:spcAft>
              <a:buNone/>
            </a:pPr>
            <a:r>
              <a:rPr lang="en-US" sz="1300" dirty="0">
                <a:solidFill>
                  <a:schemeClr val="tx2"/>
                </a:solidFill>
              </a:rPr>
              <a:t>Structured data validates</a:t>
            </a:r>
            <a:endParaRPr lang="en-US" sz="1300" dirty="0"/>
          </a:p>
        </p:txBody>
      </p:sp>
      <p:sp>
        <p:nvSpPr>
          <p:cNvPr id="17" name="Text 14"/>
          <p:cNvSpPr txBox="1"/>
          <p:nvPr/>
        </p:nvSpPr>
        <p:spPr>
          <a:xfrm>
            <a:off x="54406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M5</a:t>
            </a:r>
            <a:endParaRPr lang="en-US" sz="1200" dirty="0"/>
          </a:p>
        </p:txBody>
      </p:sp>
      <p:sp>
        <p:nvSpPr>
          <p:cNvPr id="18" name="Text 15"/>
          <p:cNvSpPr txBox="1"/>
          <p:nvPr/>
        </p:nvSpPr>
        <p:spPr>
          <a:xfrm>
            <a:off x="59893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From month 3</a:t>
            </a:r>
            <a:endParaRPr lang="en-US" sz="1000" dirty="0"/>
          </a:p>
        </p:txBody>
      </p:sp>
      <p:sp>
        <p:nvSpPr>
          <p:cNvPr id="19" name="Text 16"/>
          <p:cNvSpPr txBox="1"/>
          <p:nvPr/>
        </p:nvSpPr>
        <p:spPr>
          <a:xfrm>
            <a:off x="54406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Authority &amp; Growth</a:t>
            </a:r>
            <a:endParaRPr lang="en-US" sz="1700" dirty="0"/>
          </a:p>
        </p:txBody>
      </p:sp>
      <p:sp>
        <p:nvSpPr>
          <p:cNvPr id="20" name="Text 17"/>
          <p:cNvSpPr txBox="1"/>
          <p:nvPr/>
        </p:nvSpPr>
        <p:spPr>
          <a:xfrm>
            <a:off x="54406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Archello and Architizer profiles</a:t>
            </a:r>
            <a:endParaRPr lang="en-US" sz="1300" dirty="0"/>
          </a:p>
          <a:p>
            <a:pPr algn="l" indent="0" marL="0">
              <a:lnSpc>
                <a:spcPct val="112000"/>
              </a:lnSpc>
              <a:spcAft>
                <a:spcPts val="400"/>
              </a:spcAft>
              <a:buNone/>
            </a:pPr>
            <a:r>
              <a:rPr lang="en-US" sz="1300" dirty="0">
                <a:solidFill>
                  <a:schemeClr val="tx2"/>
                </a:solidFill>
              </a:rPr>
              <a:t>Publication shortlist</a:t>
            </a:r>
            <a:endParaRPr lang="en-US" sz="1300" dirty="0"/>
          </a:p>
          <a:p>
            <a:pPr algn="l" indent="0" marL="0">
              <a:lnSpc>
                <a:spcPct val="112000"/>
              </a:lnSpc>
              <a:spcAft>
                <a:spcPts val="400"/>
              </a:spcAft>
              <a:buNone/>
            </a:pPr>
            <a:r>
              <a:rPr lang="en-US" sz="1300" dirty="0">
                <a:solidFill>
                  <a:schemeClr val="tx2"/>
                </a:solidFill>
              </a:rPr>
              <a:t>Submission kit for a built project</a:t>
            </a:r>
            <a:endParaRPr lang="en-US" sz="1300" dirty="0"/>
          </a:p>
          <a:p>
            <a:pPr algn="l" indent="0" marL="0">
              <a:lnSpc>
                <a:spcPct val="112000"/>
              </a:lnSpc>
              <a:spcAft>
                <a:spcPts val="400"/>
              </a:spcAft>
              <a:buNone/>
            </a:pPr>
            <a:r>
              <a:rPr lang="en-US" sz="1300" dirty="0">
                <a:solidFill>
                  <a:schemeClr val="tx2"/>
                </a:solidFill>
              </a:rPr>
              <a:t>Outreach log</a:t>
            </a:r>
            <a:endParaRPr lang="en-US" sz="1300" dirty="0"/>
          </a:p>
        </p:txBody>
      </p:sp>
      <p:sp>
        <p:nvSpPr>
          <p:cNvPr id="21" name="Text 18"/>
          <p:cNvSpPr txBox="1"/>
          <p:nvPr/>
        </p:nvSpPr>
        <p:spPr>
          <a:xfrm>
            <a:off x="54406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Approval of submissions</a:t>
            </a:r>
            <a:endParaRPr lang="en-US" sz="1300" dirty="0"/>
          </a:p>
          <a:p>
            <a:pPr algn="l" indent="0" marL="0">
              <a:lnSpc>
                <a:spcPct val="112000"/>
              </a:lnSpc>
              <a:spcAft>
                <a:spcPts val="400"/>
              </a:spcAft>
              <a:buNone/>
            </a:pPr>
            <a:r>
              <a:rPr lang="en-US" sz="1300" dirty="0">
                <a:solidFill>
                  <a:schemeClr val="tx2"/>
                </a:solidFill>
              </a:rPr>
              <a:t>Client permissions</a:t>
            </a:r>
            <a:endParaRPr lang="en-US" sz="1300" dirty="0"/>
          </a:p>
          <a:p>
            <a:pPr algn="l" indent="0" marL="0">
              <a:lnSpc>
                <a:spcPct val="112000"/>
              </a:lnSpc>
              <a:spcAft>
                <a:spcPts val="400"/>
              </a:spcAft>
              <a:buNone/>
            </a:pPr>
            <a:r>
              <a:rPr lang="en-US" sz="1300" dirty="0">
                <a:solidFill>
                  <a:schemeClr val="tx2"/>
                </a:solidFill>
              </a:rPr>
              <a:t>Ideally, professional photography</a:t>
            </a:r>
            <a:endParaRPr lang="en-US" sz="1300" dirty="0"/>
          </a:p>
        </p:txBody>
      </p:sp>
      <p:sp>
        <p:nvSpPr>
          <p:cNvPr id="22" name="Text 19"/>
          <p:cNvSpPr txBox="1"/>
          <p:nvPr/>
        </p:nvSpPr>
        <p:spPr>
          <a:xfrm>
            <a:off x="54406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Profiles live</a:t>
            </a:r>
            <a:endParaRPr lang="en-US" sz="1300" dirty="0"/>
          </a:p>
          <a:p>
            <a:pPr algn="l" indent="0" marL="0">
              <a:lnSpc>
                <a:spcPct val="112000"/>
              </a:lnSpc>
              <a:spcAft>
                <a:spcPts val="400"/>
              </a:spcAft>
              <a:buNone/>
            </a:pPr>
            <a:r>
              <a:rPr lang="en-US" sz="1300" dirty="0">
                <a:solidFill>
                  <a:schemeClr val="tx2"/>
                </a:solidFill>
              </a:rPr>
              <a:t>First submission sent — publication is the editors’ decision</a:t>
            </a:r>
            <a:endParaRPr lang="en-US" sz="1300" dirty="0"/>
          </a:p>
        </p:txBody>
      </p:sp>
      <p:sp>
        <p:nvSpPr>
          <p:cNvPr id="23" name="Text 20"/>
          <p:cNvSpPr txBox="1"/>
          <p:nvPr/>
        </p:nvSpPr>
        <p:spPr>
          <a:xfrm>
            <a:off x="8641080" y="1572768"/>
            <a:ext cx="548640" cy="274320"/>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M6</a:t>
            </a:r>
            <a:endParaRPr lang="en-US" sz="1200" dirty="0"/>
          </a:p>
        </p:txBody>
      </p:sp>
      <p:sp>
        <p:nvSpPr>
          <p:cNvPr id="24" name="Text 21"/>
          <p:cNvSpPr txBox="1"/>
          <p:nvPr/>
        </p:nvSpPr>
        <p:spPr>
          <a:xfrm>
            <a:off x="9189720" y="1591056"/>
            <a:ext cx="2468880" cy="256032"/>
          </a:xfrm>
          <a:prstGeom prst="rect">
            <a:avLst/>
          </a:prstGeom>
          <a:noFill/>
          <a:ln/>
        </p:spPr>
        <p:txBody>
          <a:bodyPr wrap="square" lIns="0" tIns="0" rIns="0" bIns="0" rtlCol="0" anchor="t"/>
          <a:lstStyle/>
          <a:p>
            <a:pPr algn="r" indent="0" marL="0">
              <a:lnSpc>
                <a:spcPct val="112000"/>
              </a:lnSpc>
              <a:buNone/>
            </a:pPr>
            <a:r>
              <a:rPr lang="en-US" sz="1000" dirty="0">
                <a:solidFill>
                  <a:schemeClr val="accent2"/>
                </a:solidFill>
              </a:rPr>
              <a:t>Monthly from week 6</a:t>
            </a:r>
            <a:endParaRPr lang="en-US" sz="1000" dirty="0"/>
          </a:p>
        </p:txBody>
      </p:sp>
      <p:sp>
        <p:nvSpPr>
          <p:cNvPr id="25" name="Text 22"/>
          <p:cNvSpPr txBox="1"/>
          <p:nvPr/>
        </p:nvSpPr>
        <p:spPr>
          <a:xfrm>
            <a:off x="8641080" y="1865376"/>
            <a:ext cx="3017520" cy="45720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Measurement &amp; Improvement</a:t>
            </a:r>
            <a:endParaRPr lang="en-US" sz="1700" dirty="0"/>
          </a:p>
        </p:txBody>
      </p:sp>
      <p:sp>
        <p:nvSpPr>
          <p:cNvPr id="26" name="Text 23"/>
          <p:cNvSpPr txBox="1"/>
          <p:nvPr/>
        </p:nvSpPr>
        <p:spPr>
          <a:xfrm>
            <a:off x="8641080" y="2523744"/>
            <a:ext cx="3017520" cy="13258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Live dashboard</a:t>
            </a:r>
            <a:endParaRPr lang="en-US" sz="1300" dirty="0"/>
          </a:p>
          <a:p>
            <a:pPr algn="l" indent="0" marL="0">
              <a:lnSpc>
                <a:spcPct val="112000"/>
              </a:lnSpc>
              <a:spcAft>
                <a:spcPts val="400"/>
              </a:spcAft>
              <a:buNone/>
            </a:pPr>
            <a:r>
              <a:rPr lang="en-US" sz="1300" dirty="0">
                <a:solidFill>
                  <a:schemeClr val="tx2"/>
                </a:solidFill>
              </a:rPr>
              <a:t>Monthly one-page report</a:t>
            </a:r>
            <a:endParaRPr lang="en-US" sz="1300" dirty="0"/>
          </a:p>
          <a:p>
            <a:pPr algn="l" indent="0" marL="0">
              <a:lnSpc>
                <a:spcPct val="112000"/>
              </a:lnSpc>
              <a:spcAft>
                <a:spcPts val="400"/>
              </a:spcAft>
              <a:buNone/>
            </a:pPr>
            <a:r>
              <a:rPr lang="en-US" sz="1300" dirty="0">
                <a:solidFill>
                  <a:schemeClr val="tx2"/>
                </a:solidFill>
              </a:rPr>
              <a:t>Health checks</a:t>
            </a:r>
            <a:endParaRPr lang="en-US" sz="1300" dirty="0"/>
          </a:p>
          <a:p>
            <a:pPr algn="l" indent="0" marL="0">
              <a:lnSpc>
                <a:spcPct val="112000"/>
              </a:lnSpc>
              <a:spcAft>
                <a:spcPts val="400"/>
              </a:spcAft>
              <a:buNone/>
            </a:pPr>
            <a:r>
              <a:rPr lang="en-US" sz="1300" dirty="0">
                <a:solidFill>
                  <a:schemeClr val="tx2"/>
                </a:solidFill>
              </a:rPr>
              <a:t>Quarterly review</a:t>
            </a:r>
            <a:endParaRPr lang="en-US" sz="1300" dirty="0"/>
          </a:p>
        </p:txBody>
      </p:sp>
      <p:sp>
        <p:nvSpPr>
          <p:cNvPr id="27" name="Text 24"/>
          <p:cNvSpPr txBox="1"/>
          <p:nvPr/>
        </p:nvSpPr>
        <p:spPr>
          <a:xfrm>
            <a:off x="8641080" y="3986784"/>
            <a:ext cx="3017520" cy="96012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Twenty minutes a month</a:t>
            </a:r>
            <a:endParaRPr lang="en-US" sz="1300" dirty="0"/>
          </a:p>
          <a:p>
            <a:pPr algn="l" indent="0" marL="0">
              <a:lnSpc>
                <a:spcPct val="112000"/>
              </a:lnSpc>
              <a:spcAft>
                <a:spcPts val="400"/>
              </a:spcAft>
              <a:buNone/>
            </a:pPr>
            <a:r>
              <a:rPr lang="en-US" sz="1300" dirty="0">
                <a:solidFill>
                  <a:schemeClr val="tx2"/>
                </a:solidFill>
              </a:rPr>
              <a:t>Enquiry log kept current</a:t>
            </a:r>
            <a:endParaRPr lang="en-US" sz="1300" dirty="0"/>
          </a:p>
        </p:txBody>
      </p:sp>
      <p:sp>
        <p:nvSpPr>
          <p:cNvPr id="28" name="Text 25"/>
          <p:cNvSpPr txBox="1"/>
          <p:nvPr/>
        </p:nvSpPr>
        <p:spPr>
          <a:xfrm>
            <a:off x="8641080" y="5065776"/>
            <a:ext cx="3017520" cy="1097280"/>
          </a:xfrm>
          <a:prstGeom prst="rect">
            <a:avLst/>
          </a:prstGeom>
          <a:noFill/>
          <a:ln/>
        </p:spPr>
        <p:txBody>
          <a:bodyPr wrap="square" lIns="0" tIns="0" rIns="0" bIns="0" rtlCol="0" anchor="t"/>
          <a:lstStyle/>
          <a:p>
            <a:pPr algn="l" indent="0" marL="0">
              <a:lnSpc>
                <a:spcPct val="112000"/>
              </a:lnSpc>
              <a:spcAft>
                <a:spcPts val="400"/>
              </a:spcAft>
              <a:buNone/>
            </a:pPr>
            <a:r>
              <a:rPr lang="en-US" sz="1300" dirty="0">
                <a:solidFill>
                  <a:schemeClr val="tx2"/>
                </a:solidFill>
              </a:rPr>
              <a:t>Dashboard live</a:t>
            </a:r>
            <a:endParaRPr lang="en-US" sz="1300" dirty="0"/>
          </a:p>
          <a:p>
            <a:pPr algn="l" indent="0" marL="0">
              <a:lnSpc>
                <a:spcPct val="112000"/>
              </a:lnSpc>
              <a:spcAft>
                <a:spcPts val="400"/>
              </a:spcAft>
              <a:buNone/>
            </a:pPr>
            <a:r>
              <a:rPr lang="en-US" sz="1300" dirty="0">
                <a:solidFill>
                  <a:schemeClr val="tx2"/>
                </a:solidFill>
              </a:rPr>
              <a:t>Reports on schedule, decisions recorded</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16 — WHAT MACK RECEIVES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Concrete deliverables</a:t>
            </a:r>
            <a:endParaRPr lang="en-US" sz="3200" dirty="0"/>
          </a:p>
        </p:txBody>
      </p:sp>
      <p:sp>
        <p:nvSpPr>
          <p:cNvPr id="5" name="Shape 2"/>
          <p:cNvSpPr/>
          <p:nvPr/>
        </p:nvSpPr>
        <p:spPr>
          <a:xfrm>
            <a:off x="548640" y="1627632"/>
            <a:ext cx="2596896" cy="566928"/>
          </a:xfrm>
          <a:prstGeom prst="rect">
            <a:avLst/>
          </a:prstGeom>
          <a:solidFill>
            <a:schemeClr val="bg2"/>
          </a:solidFill>
          <a:ln/>
        </p:spPr>
      </p:sp>
      <p:sp>
        <p:nvSpPr>
          <p:cNvPr id="6" name="Text 3"/>
          <p:cNvSpPr txBox="1"/>
          <p:nvPr/>
        </p:nvSpPr>
        <p:spPr>
          <a:xfrm>
            <a:off x="713232" y="1627632"/>
            <a:ext cx="2322576" cy="566928"/>
          </a:xfrm>
          <a:prstGeom prst="rect">
            <a:avLst/>
          </a:prstGeom>
          <a:noFill/>
          <a:ln/>
        </p:spPr>
        <p:txBody>
          <a:bodyPr wrap="square" lIns="0" tIns="0" rIns="0" bIns="0" rtlCol="0" anchor="ctr"/>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Owned identity</a:t>
            </a:r>
            <a:endParaRPr lang="en-US" sz="1700" dirty="0"/>
          </a:p>
        </p:txBody>
      </p:sp>
      <p:sp>
        <p:nvSpPr>
          <p:cNvPr id="7" name="Shape 4"/>
          <p:cNvSpPr/>
          <p:nvPr/>
        </p:nvSpPr>
        <p:spPr>
          <a:xfrm>
            <a:off x="548640" y="2587752"/>
            <a:ext cx="82296" cy="82296"/>
          </a:xfrm>
          <a:prstGeom prst="rect">
            <a:avLst/>
          </a:prstGeom>
          <a:solidFill>
            <a:schemeClr val="tx1"/>
          </a:solidFill>
          <a:ln/>
        </p:spPr>
      </p:sp>
      <p:sp>
        <p:nvSpPr>
          <p:cNvPr id="8" name="Text 5"/>
          <p:cNvSpPr txBox="1"/>
          <p:nvPr/>
        </p:nvSpPr>
        <p:spPr>
          <a:xfrm>
            <a:off x="768096" y="249631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Domain registered to the studio</a:t>
            </a:r>
            <a:endParaRPr lang="en-US" sz="1350" dirty="0"/>
          </a:p>
        </p:txBody>
      </p:sp>
      <p:sp>
        <p:nvSpPr>
          <p:cNvPr id="9" name="Shape 6"/>
          <p:cNvSpPr/>
          <p:nvPr/>
        </p:nvSpPr>
        <p:spPr>
          <a:xfrm>
            <a:off x="548640" y="3136392"/>
            <a:ext cx="2596896" cy="0"/>
          </a:xfrm>
          <a:prstGeom prst="line">
            <a:avLst/>
          </a:prstGeom>
          <a:noFill/>
          <a:ln w="9525">
            <a:solidFill>
              <a:schemeClr val="accent5"/>
            </a:solidFill>
            <a:prstDash val="solid"/>
          </a:ln>
        </p:spPr>
      </p:sp>
      <p:sp>
        <p:nvSpPr>
          <p:cNvPr id="10" name="Shape 7"/>
          <p:cNvSpPr/>
          <p:nvPr/>
        </p:nvSpPr>
        <p:spPr>
          <a:xfrm>
            <a:off x="548640" y="3319272"/>
            <a:ext cx="82296" cy="82296"/>
          </a:xfrm>
          <a:prstGeom prst="rect">
            <a:avLst/>
          </a:prstGeom>
          <a:solidFill>
            <a:schemeClr val="tx1"/>
          </a:solidFill>
          <a:ln/>
        </p:spPr>
      </p:sp>
      <p:sp>
        <p:nvSpPr>
          <p:cNvPr id="11" name="Text 8"/>
          <p:cNvSpPr txBox="1"/>
          <p:nvPr/>
        </p:nvSpPr>
        <p:spPr>
          <a:xfrm>
            <a:off x="768096" y="322783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Studio email for each person</a:t>
            </a:r>
            <a:endParaRPr lang="en-US" sz="1350" dirty="0"/>
          </a:p>
        </p:txBody>
      </p:sp>
      <p:sp>
        <p:nvSpPr>
          <p:cNvPr id="12" name="Shape 9"/>
          <p:cNvSpPr/>
          <p:nvPr/>
        </p:nvSpPr>
        <p:spPr>
          <a:xfrm>
            <a:off x="548640" y="3867912"/>
            <a:ext cx="2596896" cy="0"/>
          </a:xfrm>
          <a:prstGeom prst="line">
            <a:avLst/>
          </a:prstGeom>
          <a:noFill/>
          <a:ln w="9525">
            <a:solidFill>
              <a:schemeClr val="accent5"/>
            </a:solidFill>
            <a:prstDash val="solid"/>
          </a:ln>
        </p:spPr>
      </p:sp>
      <p:sp>
        <p:nvSpPr>
          <p:cNvPr id="13" name="Shape 10"/>
          <p:cNvSpPr/>
          <p:nvPr/>
        </p:nvSpPr>
        <p:spPr>
          <a:xfrm>
            <a:off x="548640" y="4050792"/>
            <a:ext cx="82296" cy="82296"/>
          </a:xfrm>
          <a:prstGeom prst="rect">
            <a:avLst/>
          </a:prstGeom>
          <a:solidFill>
            <a:schemeClr val="tx1"/>
          </a:solidFill>
          <a:ln/>
        </p:spPr>
      </p:sp>
      <p:sp>
        <p:nvSpPr>
          <p:cNvPr id="14" name="Text 11"/>
          <p:cNvSpPr txBox="1"/>
          <p:nvPr/>
        </p:nvSpPr>
        <p:spPr>
          <a:xfrm>
            <a:off x="768096" y="395935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Shared drives with permissions</a:t>
            </a:r>
            <a:endParaRPr lang="en-US" sz="1350" dirty="0"/>
          </a:p>
        </p:txBody>
      </p:sp>
      <p:sp>
        <p:nvSpPr>
          <p:cNvPr id="15" name="Shape 12"/>
          <p:cNvSpPr/>
          <p:nvPr/>
        </p:nvSpPr>
        <p:spPr>
          <a:xfrm>
            <a:off x="548640" y="4599432"/>
            <a:ext cx="2596896" cy="0"/>
          </a:xfrm>
          <a:prstGeom prst="line">
            <a:avLst/>
          </a:prstGeom>
          <a:noFill/>
          <a:ln w="9525">
            <a:solidFill>
              <a:schemeClr val="accent5"/>
            </a:solidFill>
            <a:prstDash val="solid"/>
          </a:ln>
        </p:spPr>
      </p:sp>
      <p:sp>
        <p:nvSpPr>
          <p:cNvPr id="16" name="Shape 13"/>
          <p:cNvSpPr/>
          <p:nvPr/>
        </p:nvSpPr>
        <p:spPr>
          <a:xfrm>
            <a:off x="548640" y="4782312"/>
            <a:ext cx="82296" cy="82296"/>
          </a:xfrm>
          <a:prstGeom prst="rect">
            <a:avLst/>
          </a:prstGeom>
          <a:solidFill>
            <a:schemeClr val="tx1"/>
          </a:solidFill>
          <a:ln/>
        </p:spPr>
      </p:sp>
      <p:sp>
        <p:nvSpPr>
          <p:cNvPr id="17" name="Text 14"/>
          <p:cNvSpPr txBox="1"/>
          <p:nvPr/>
        </p:nvSpPr>
        <p:spPr>
          <a:xfrm>
            <a:off x="768096" y="469087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Independent, tested backup</a:t>
            </a:r>
            <a:endParaRPr lang="en-US" sz="1350" dirty="0"/>
          </a:p>
        </p:txBody>
      </p:sp>
      <p:sp>
        <p:nvSpPr>
          <p:cNvPr id="18" name="Shape 15"/>
          <p:cNvSpPr/>
          <p:nvPr/>
        </p:nvSpPr>
        <p:spPr>
          <a:xfrm>
            <a:off x="548640" y="5330952"/>
            <a:ext cx="2596896" cy="0"/>
          </a:xfrm>
          <a:prstGeom prst="line">
            <a:avLst/>
          </a:prstGeom>
          <a:noFill/>
          <a:ln w="9525">
            <a:solidFill>
              <a:schemeClr val="accent5"/>
            </a:solidFill>
            <a:prstDash val="solid"/>
          </a:ln>
        </p:spPr>
      </p:sp>
      <p:sp>
        <p:nvSpPr>
          <p:cNvPr id="19" name="Shape 16"/>
          <p:cNvSpPr/>
          <p:nvPr/>
        </p:nvSpPr>
        <p:spPr>
          <a:xfrm>
            <a:off x="548640" y="5513832"/>
            <a:ext cx="82296" cy="82296"/>
          </a:xfrm>
          <a:prstGeom prst="rect">
            <a:avLst/>
          </a:prstGeom>
          <a:solidFill>
            <a:schemeClr val="tx1"/>
          </a:solidFill>
          <a:ln/>
        </p:spPr>
      </p:sp>
      <p:sp>
        <p:nvSpPr>
          <p:cNvPr id="20" name="Text 17"/>
          <p:cNvSpPr txBox="1"/>
          <p:nvPr/>
        </p:nvSpPr>
        <p:spPr>
          <a:xfrm>
            <a:off x="768096" y="542239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Access map: MACK owns every account</a:t>
            </a:r>
            <a:endParaRPr lang="en-US" sz="1350" dirty="0"/>
          </a:p>
        </p:txBody>
      </p:sp>
      <p:sp>
        <p:nvSpPr>
          <p:cNvPr id="21" name="Shape 18"/>
          <p:cNvSpPr/>
          <p:nvPr/>
        </p:nvSpPr>
        <p:spPr>
          <a:xfrm>
            <a:off x="548640" y="6062472"/>
            <a:ext cx="2596896" cy="0"/>
          </a:xfrm>
          <a:prstGeom prst="line">
            <a:avLst/>
          </a:prstGeom>
          <a:noFill/>
          <a:ln w="9525">
            <a:solidFill>
              <a:schemeClr val="accent5"/>
            </a:solidFill>
            <a:prstDash val="solid"/>
          </a:ln>
        </p:spPr>
      </p:sp>
      <p:sp>
        <p:nvSpPr>
          <p:cNvPr id="22" name="Shape 19"/>
          <p:cNvSpPr/>
          <p:nvPr/>
        </p:nvSpPr>
        <p:spPr>
          <a:xfrm>
            <a:off x="3380537" y="1627632"/>
            <a:ext cx="2596896" cy="566928"/>
          </a:xfrm>
          <a:prstGeom prst="rect">
            <a:avLst/>
          </a:prstGeom>
          <a:solidFill>
            <a:schemeClr val="accent1"/>
          </a:solidFill>
          <a:ln/>
        </p:spPr>
      </p:sp>
      <p:sp>
        <p:nvSpPr>
          <p:cNvPr id="23" name="Text 20"/>
          <p:cNvSpPr txBox="1"/>
          <p:nvPr/>
        </p:nvSpPr>
        <p:spPr>
          <a:xfrm>
            <a:off x="3545129" y="1627632"/>
            <a:ext cx="2322576" cy="566928"/>
          </a:xfrm>
          <a:prstGeom prst="rect">
            <a:avLst/>
          </a:prstGeom>
          <a:noFill/>
          <a:ln/>
        </p:spPr>
        <p:txBody>
          <a:bodyPr wrap="square" lIns="0" tIns="0" rIns="0" bIns="0" rtlCol="0" anchor="ctr"/>
          <a:lstStyle/>
          <a:p>
            <a:pPr algn="l" indent="0" marL="0">
              <a:lnSpc>
                <a:spcPct val="112000"/>
              </a:lnSpc>
              <a:buNone/>
            </a:pPr>
            <a:r>
              <a:rPr lang="en-US" sz="1700" dirty="0">
                <a:solidFill>
                  <a:schemeClr val="bg1"/>
                </a:solidFill>
                <a:latin typeface="+mj-lt" pitchFamily="34" charset="0"/>
                <a:ea typeface="+mj-lt" pitchFamily="34" charset="-122"/>
                <a:cs typeface="+mj-lt" pitchFamily="34" charset="-120"/>
              </a:rPr>
              <a:t>A searchable website</a:t>
            </a:r>
            <a:endParaRPr lang="en-US" sz="1700" dirty="0"/>
          </a:p>
        </p:txBody>
      </p:sp>
      <p:sp>
        <p:nvSpPr>
          <p:cNvPr id="24" name="Shape 21"/>
          <p:cNvSpPr/>
          <p:nvPr/>
        </p:nvSpPr>
        <p:spPr>
          <a:xfrm>
            <a:off x="3380537" y="2587752"/>
            <a:ext cx="82296" cy="82296"/>
          </a:xfrm>
          <a:prstGeom prst="rect">
            <a:avLst/>
          </a:prstGeom>
          <a:solidFill>
            <a:schemeClr val="tx1"/>
          </a:solidFill>
          <a:ln/>
        </p:spPr>
      </p:sp>
      <p:sp>
        <p:nvSpPr>
          <p:cNvPr id="25" name="Text 22"/>
          <p:cNvSpPr txBox="1"/>
          <p:nvPr/>
        </p:nvSpPr>
        <p:spPr>
          <a:xfrm>
            <a:off x="3599993" y="249631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The new site live on the domain</a:t>
            </a:r>
            <a:endParaRPr lang="en-US" sz="1350" dirty="0"/>
          </a:p>
        </p:txBody>
      </p:sp>
      <p:sp>
        <p:nvSpPr>
          <p:cNvPr id="26" name="Shape 23"/>
          <p:cNvSpPr/>
          <p:nvPr/>
        </p:nvSpPr>
        <p:spPr>
          <a:xfrm>
            <a:off x="3380537" y="3136392"/>
            <a:ext cx="2596896" cy="0"/>
          </a:xfrm>
          <a:prstGeom prst="line">
            <a:avLst/>
          </a:prstGeom>
          <a:noFill/>
          <a:ln w="9525">
            <a:solidFill>
              <a:schemeClr val="accent5"/>
            </a:solidFill>
            <a:prstDash val="solid"/>
          </a:ln>
        </p:spPr>
      </p:sp>
      <p:sp>
        <p:nvSpPr>
          <p:cNvPr id="27" name="Shape 24"/>
          <p:cNvSpPr/>
          <p:nvPr/>
        </p:nvSpPr>
        <p:spPr>
          <a:xfrm>
            <a:off x="3380537" y="3319272"/>
            <a:ext cx="82296" cy="82296"/>
          </a:xfrm>
          <a:prstGeom prst="rect">
            <a:avLst/>
          </a:prstGeom>
          <a:solidFill>
            <a:schemeClr val="tx1"/>
          </a:solidFill>
          <a:ln/>
        </p:spPr>
      </p:sp>
      <p:sp>
        <p:nvSpPr>
          <p:cNvPr id="28" name="Text 25"/>
          <p:cNvSpPr txBox="1"/>
          <p:nvPr/>
        </p:nvSpPr>
        <p:spPr>
          <a:xfrm>
            <a:off x="3599993" y="322783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Technical fixes and structured data</a:t>
            </a:r>
            <a:endParaRPr lang="en-US" sz="1350" dirty="0"/>
          </a:p>
        </p:txBody>
      </p:sp>
      <p:sp>
        <p:nvSpPr>
          <p:cNvPr id="29" name="Shape 26"/>
          <p:cNvSpPr/>
          <p:nvPr/>
        </p:nvSpPr>
        <p:spPr>
          <a:xfrm>
            <a:off x="3380537" y="3867912"/>
            <a:ext cx="2596896" cy="0"/>
          </a:xfrm>
          <a:prstGeom prst="line">
            <a:avLst/>
          </a:prstGeom>
          <a:noFill/>
          <a:ln w="9525">
            <a:solidFill>
              <a:schemeClr val="accent5"/>
            </a:solidFill>
            <a:prstDash val="solid"/>
          </a:ln>
        </p:spPr>
      </p:sp>
      <p:sp>
        <p:nvSpPr>
          <p:cNvPr id="30" name="Shape 27"/>
          <p:cNvSpPr/>
          <p:nvPr/>
        </p:nvSpPr>
        <p:spPr>
          <a:xfrm>
            <a:off x="3380537" y="4050792"/>
            <a:ext cx="82296" cy="82296"/>
          </a:xfrm>
          <a:prstGeom prst="rect">
            <a:avLst/>
          </a:prstGeom>
          <a:solidFill>
            <a:schemeClr val="tx1"/>
          </a:solidFill>
          <a:ln/>
        </p:spPr>
      </p:sp>
      <p:sp>
        <p:nvSpPr>
          <p:cNvPr id="31" name="Text 28"/>
          <p:cNvSpPr txBox="1"/>
          <p:nvPr/>
        </p:nvSpPr>
        <p:spPr>
          <a:xfrm>
            <a:off x="3599993" y="395935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Project pages to one standard</a:t>
            </a:r>
            <a:endParaRPr lang="en-US" sz="1350" dirty="0"/>
          </a:p>
        </p:txBody>
      </p:sp>
      <p:sp>
        <p:nvSpPr>
          <p:cNvPr id="32" name="Shape 29"/>
          <p:cNvSpPr/>
          <p:nvPr/>
        </p:nvSpPr>
        <p:spPr>
          <a:xfrm>
            <a:off x="3380537" y="4599432"/>
            <a:ext cx="2596896" cy="0"/>
          </a:xfrm>
          <a:prstGeom prst="line">
            <a:avLst/>
          </a:prstGeom>
          <a:noFill/>
          <a:ln w="9525">
            <a:solidFill>
              <a:schemeClr val="accent5"/>
            </a:solidFill>
            <a:prstDash val="solid"/>
          </a:ln>
        </p:spPr>
      </p:sp>
      <p:sp>
        <p:nvSpPr>
          <p:cNvPr id="33" name="Shape 30"/>
          <p:cNvSpPr/>
          <p:nvPr/>
        </p:nvSpPr>
        <p:spPr>
          <a:xfrm>
            <a:off x="3380537" y="4782312"/>
            <a:ext cx="82296" cy="82296"/>
          </a:xfrm>
          <a:prstGeom prst="rect">
            <a:avLst/>
          </a:prstGeom>
          <a:solidFill>
            <a:schemeClr val="tx1"/>
          </a:solidFill>
          <a:ln/>
        </p:spPr>
      </p:sp>
      <p:sp>
        <p:nvSpPr>
          <p:cNvPr id="34" name="Text 31"/>
          <p:cNvSpPr txBox="1"/>
          <p:nvPr/>
        </p:nvSpPr>
        <p:spPr>
          <a:xfrm>
            <a:off x="3599993" y="469087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Service pages</a:t>
            </a:r>
            <a:endParaRPr lang="en-US" sz="1350" dirty="0"/>
          </a:p>
        </p:txBody>
      </p:sp>
      <p:sp>
        <p:nvSpPr>
          <p:cNvPr id="35" name="Shape 32"/>
          <p:cNvSpPr/>
          <p:nvPr/>
        </p:nvSpPr>
        <p:spPr>
          <a:xfrm>
            <a:off x="3380537" y="5330952"/>
            <a:ext cx="2596896" cy="0"/>
          </a:xfrm>
          <a:prstGeom prst="line">
            <a:avLst/>
          </a:prstGeom>
          <a:noFill/>
          <a:ln w="9525">
            <a:solidFill>
              <a:schemeClr val="accent5"/>
            </a:solidFill>
            <a:prstDash val="solid"/>
          </a:ln>
        </p:spPr>
      </p:sp>
      <p:sp>
        <p:nvSpPr>
          <p:cNvPr id="36" name="Shape 33"/>
          <p:cNvSpPr/>
          <p:nvPr/>
        </p:nvSpPr>
        <p:spPr>
          <a:xfrm>
            <a:off x="3380537" y="5513832"/>
            <a:ext cx="82296" cy="82296"/>
          </a:xfrm>
          <a:prstGeom prst="rect">
            <a:avLst/>
          </a:prstGeom>
          <a:solidFill>
            <a:schemeClr val="tx1"/>
          </a:solidFill>
          <a:ln/>
        </p:spPr>
      </p:sp>
      <p:sp>
        <p:nvSpPr>
          <p:cNvPr id="37" name="Text 34"/>
          <p:cNvSpPr txBox="1"/>
          <p:nvPr/>
        </p:nvSpPr>
        <p:spPr>
          <a:xfrm>
            <a:off x="3599993" y="542239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Project form and publishing routine</a:t>
            </a:r>
            <a:endParaRPr lang="en-US" sz="1350" dirty="0"/>
          </a:p>
        </p:txBody>
      </p:sp>
      <p:sp>
        <p:nvSpPr>
          <p:cNvPr id="38" name="Shape 35"/>
          <p:cNvSpPr/>
          <p:nvPr/>
        </p:nvSpPr>
        <p:spPr>
          <a:xfrm>
            <a:off x="3380537" y="6062472"/>
            <a:ext cx="2596896" cy="0"/>
          </a:xfrm>
          <a:prstGeom prst="line">
            <a:avLst/>
          </a:prstGeom>
          <a:noFill/>
          <a:ln w="9525">
            <a:solidFill>
              <a:schemeClr val="accent5"/>
            </a:solidFill>
            <a:prstDash val="solid"/>
          </a:ln>
        </p:spPr>
      </p:sp>
      <p:sp>
        <p:nvSpPr>
          <p:cNvPr id="39" name="Shape 36"/>
          <p:cNvSpPr/>
          <p:nvPr/>
        </p:nvSpPr>
        <p:spPr>
          <a:xfrm>
            <a:off x="6212434" y="1627632"/>
            <a:ext cx="2596896" cy="566928"/>
          </a:xfrm>
          <a:prstGeom prst="rect">
            <a:avLst/>
          </a:prstGeom>
          <a:solidFill>
            <a:schemeClr val="bg2"/>
          </a:solidFill>
          <a:ln/>
        </p:spPr>
      </p:sp>
      <p:sp>
        <p:nvSpPr>
          <p:cNvPr id="40" name="Text 37"/>
          <p:cNvSpPr txBox="1"/>
          <p:nvPr/>
        </p:nvSpPr>
        <p:spPr>
          <a:xfrm>
            <a:off x="6377026" y="1627632"/>
            <a:ext cx="2322576" cy="566928"/>
          </a:xfrm>
          <a:prstGeom prst="rect">
            <a:avLst/>
          </a:prstGeom>
          <a:noFill/>
          <a:ln/>
        </p:spPr>
        <p:txBody>
          <a:bodyPr wrap="square" lIns="0" tIns="0" rIns="0" bIns="0" rtlCol="0" anchor="ctr"/>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Local presence</a:t>
            </a:r>
            <a:endParaRPr lang="en-US" sz="1700" dirty="0"/>
          </a:p>
        </p:txBody>
      </p:sp>
      <p:sp>
        <p:nvSpPr>
          <p:cNvPr id="41" name="Shape 38"/>
          <p:cNvSpPr/>
          <p:nvPr/>
        </p:nvSpPr>
        <p:spPr>
          <a:xfrm>
            <a:off x="6212434" y="2587752"/>
            <a:ext cx="82296" cy="82296"/>
          </a:xfrm>
          <a:prstGeom prst="rect">
            <a:avLst/>
          </a:prstGeom>
          <a:solidFill>
            <a:schemeClr val="tx1"/>
          </a:solidFill>
          <a:ln/>
        </p:spPr>
      </p:sp>
      <p:sp>
        <p:nvSpPr>
          <p:cNvPr id="42" name="Text 39"/>
          <p:cNvSpPr txBox="1"/>
          <p:nvPr/>
        </p:nvSpPr>
        <p:spPr>
          <a:xfrm>
            <a:off x="6431890" y="249631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Verified Business Profile</a:t>
            </a:r>
            <a:endParaRPr lang="en-US" sz="1350" dirty="0"/>
          </a:p>
        </p:txBody>
      </p:sp>
      <p:sp>
        <p:nvSpPr>
          <p:cNvPr id="43" name="Shape 40"/>
          <p:cNvSpPr/>
          <p:nvPr/>
        </p:nvSpPr>
        <p:spPr>
          <a:xfrm>
            <a:off x="6212434" y="3136392"/>
            <a:ext cx="2596896" cy="0"/>
          </a:xfrm>
          <a:prstGeom prst="line">
            <a:avLst/>
          </a:prstGeom>
          <a:noFill/>
          <a:ln w="9525">
            <a:solidFill>
              <a:schemeClr val="accent5"/>
            </a:solidFill>
            <a:prstDash val="solid"/>
          </a:ln>
        </p:spPr>
      </p:sp>
      <p:sp>
        <p:nvSpPr>
          <p:cNvPr id="44" name="Shape 41"/>
          <p:cNvSpPr/>
          <p:nvPr/>
        </p:nvSpPr>
        <p:spPr>
          <a:xfrm>
            <a:off x="6212434" y="3319272"/>
            <a:ext cx="82296" cy="82296"/>
          </a:xfrm>
          <a:prstGeom prst="rect">
            <a:avLst/>
          </a:prstGeom>
          <a:solidFill>
            <a:schemeClr val="tx1"/>
          </a:solidFill>
          <a:ln/>
        </p:spPr>
      </p:sp>
      <p:sp>
        <p:nvSpPr>
          <p:cNvPr id="45" name="Text 42"/>
          <p:cNvSpPr txBox="1"/>
          <p:nvPr/>
        </p:nvSpPr>
        <p:spPr>
          <a:xfrm>
            <a:off x="6431890" y="322783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Consistent details on Google, Bing, Instagram</a:t>
            </a:r>
            <a:endParaRPr lang="en-US" sz="1350" dirty="0"/>
          </a:p>
        </p:txBody>
      </p:sp>
      <p:sp>
        <p:nvSpPr>
          <p:cNvPr id="46" name="Shape 43"/>
          <p:cNvSpPr/>
          <p:nvPr/>
        </p:nvSpPr>
        <p:spPr>
          <a:xfrm>
            <a:off x="6212434" y="3867912"/>
            <a:ext cx="2596896" cy="0"/>
          </a:xfrm>
          <a:prstGeom prst="line">
            <a:avLst/>
          </a:prstGeom>
          <a:noFill/>
          <a:ln w="9525">
            <a:solidFill>
              <a:schemeClr val="accent5"/>
            </a:solidFill>
            <a:prstDash val="solid"/>
          </a:ln>
        </p:spPr>
      </p:sp>
      <p:sp>
        <p:nvSpPr>
          <p:cNvPr id="47" name="Shape 44"/>
          <p:cNvSpPr/>
          <p:nvPr/>
        </p:nvSpPr>
        <p:spPr>
          <a:xfrm>
            <a:off x="6212434" y="4050792"/>
            <a:ext cx="82296" cy="82296"/>
          </a:xfrm>
          <a:prstGeom prst="rect">
            <a:avLst/>
          </a:prstGeom>
          <a:solidFill>
            <a:schemeClr val="tx1"/>
          </a:solidFill>
          <a:ln/>
        </p:spPr>
      </p:sp>
      <p:sp>
        <p:nvSpPr>
          <p:cNvPr id="48" name="Text 45"/>
          <p:cNvSpPr txBox="1"/>
          <p:nvPr/>
        </p:nvSpPr>
        <p:spPr>
          <a:xfrm>
            <a:off x="6431890" y="395935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Review request kit</a:t>
            </a:r>
            <a:endParaRPr lang="en-US" sz="1350" dirty="0"/>
          </a:p>
        </p:txBody>
      </p:sp>
      <p:sp>
        <p:nvSpPr>
          <p:cNvPr id="49" name="Shape 46"/>
          <p:cNvSpPr/>
          <p:nvPr/>
        </p:nvSpPr>
        <p:spPr>
          <a:xfrm>
            <a:off x="6212434" y="4599432"/>
            <a:ext cx="2596896" cy="0"/>
          </a:xfrm>
          <a:prstGeom prst="line">
            <a:avLst/>
          </a:prstGeom>
          <a:noFill/>
          <a:ln w="9525">
            <a:solidFill>
              <a:schemeClr val="accent5"/>
            </a:solidFill>
            <a:prstDash val="solid"/>
          </a:ln>
        </p:spPr>
      </p:sp>
      <p:sp>
        <p:nvSpPr>
          <p:cNvPr id="50" name="Shape 47"/>
          <p:cNvSpPr/>
          <p:nvPr/>
        </p:nvSpPr>
        <p:spPr>
          <a:xfrm>
            <a:off x="6212434" y="4782312"/>
            <a:ext cx="82296" cy="82296"/>
          </a:xfrm>
          <a:prstGeom prst="rect">
            <a:avLst/>
          </a:prstGeom>
          <a:solidFill>
            <a:schemeClr val="tx1"/>
          </a:solidFill>
          <a:ln/>
        </p:spPr>
      </p:sp>
      <p:sp>
        <p:nvSpPr>
          <p:cNvPr id="51" name="Text 48"/>
          <p:cNvSpPr txBox="1"/>
          <p:nvPr/>
        </p:nvSpPr>
        <p:spPr>
          <a:xfrm>
            <a:off x="6431890" y="469087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Playbook for each new studio</a:t>
            </a:r>
            <a:endParaRPr lang="en-US" sz="1350" dirty="0"/>
          </a:p>
        </p:txBody>
      </p:sp>
      <p:sp>
        <p:nvSpPr>
          <p:cNvPr id="52" name="Shape 49"/>
          <p:cNvSpPr/>
          <p:nvPr/>
        </p:nvSpPr>
        <p:spPr>
          <a:xfrm>
            <a:off x="6212434" y="5330952"/>
            <a:ext cx="2596896" cy="0"/>
          </a:xfrm>
          <a:prstGeom prst="line">
            <a:avLst/>
          </a:prstGeom>
          <a:noFill/>
          <a:ln w="9525">
            <a:solidFill>
              <a:schemeClr val="accent5"/>
            </a:solidFill>
            <a:prstDash val="solid"/>
          </a:ln>
        </p:spPr>
      </p:sp>
      <p:sp>
        <p:nvSpPr>
          <p:cNvPr id="53" name="Shape 50"/>
          <p:cNvSpPr/>
          <p:nvPr/>
        </p:nvSpPr>
        <p:spPr>
          <a:xfrm>
            <a:off x="9044330" y="1627632"/>
            <a:ext cx="2596896" cy="566928"/>
          </a:xfrm>
          <a:prstGeom prst="rect">
            <a:avLst/>
          </a:prstGeom>
          <a:solidFill>
            <a:schemeClr val="bg2"/>
          </a:solidFill>
          <a:ln/>
        </p:spPr>
      </p:sp>
      <p:sp>
        <p:nvSpPr>
          <p:cNvPr id="54" name="Text 51"/>
          <p:cNvSpPr txBox="1"/>
          <p:nvPr/>
        </p:nvSpPr>
        <p:spPr>
          <a:xfrm>
            <a:off x="9208922" y="1627632"/>
            <a:ext cx="2322576" cy="566928"/>
          </a:xfrm>
          <a:prstGeom prst="rect">
            <a:avLst/>
          </a:prstGeom>
          <a:noFill/>
          <a:ln/>
        </p:spPr>
        <p:txBody>
          <a:bodyPr wrap="square" lIns="0" tIns="0" rIns="0" bIns="0" rtlCol="0" anchor="ctr"/>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Measurement &amp; care</a:t>
            </a:r>
            <a:endParaRPr lang="en-US" sz="1700" dirty="0"/>
          </a:p>
        </p:txBody>
      </p:sp>
      <p:sp>
        <p:nvSpPr>
          <p:cNvPr id="55" name="Shape 52"/>
          <p:cNvSpPr/>
          <p:nvPr/>
        </p:nvSpPr>
        <p:spPr>
          <a:xfrm>
            <a:off x="9044330" y="2587752"/>
            <a:ext cx="82296" cy="82296"/>
          </a:xfrm>
          <a:prstGeom prst="rect">
            <a:avLst/>
          </a:prstGeom>
          <a:solidFill>
            <a:schemeClr val="tx1"/>
          </a:solidFill>
          <a:ln/>
        </p:spPr>
      </p:sp>
      <p:sp>
        <p:nvSpPr>
          <p:cNvPr id="56" name="Text 53"/>
          <p:cNvSpPr txBox="1"/>
          <p:nvPr/>
        </p:nvSpPr>
        <p:spPr>
          <a:xfrm>
            <a:off x="9263786" y="249631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Analytics with enquiry tracking</a:t>
            </a:r>
            <a:endParaRPr lang="en-US" sz="1350" dirty="0"/>
          </a:p>
        </p:txBody>
      </p:sp>
      <p:sp>
        <p:nvSpPr>
          <p:cNvPr id="57" name="Shape 54"/>
          <p:cNvSpPr/>
          <p:nvPr/>
        </p:nvSpPr>
        <p:spPr>
          <a:xfrm>
            <a:off x="9044330" y="3136392"/>
            <a:ext cx="2596896" cy="0"/>
          </a:xfrm>
          <a:prstGeom prst="line">
            <a:avLst/>
          </a:prstGeom>
          <a:noFill/>
          <a:ln w="9525">
            <a:solidFill>
              <a:schemeClr val="accent5"/>
            </a:solidFill>
            <a:prstDash val="solid"/>
          </a:ln>
        </p:spPr>
      </p:sp>
      <p:sp>
        <p:nvSpPr>
          <p:cNvPr id="58" name="Shape 55"/>
          <p:cNvSpPr/>
          <p:nvPr/>
        </p:nvSpPr>
        <p:spPr>
          <a:xfrm>
            <a:off x="9044330" y="3319272"/>
            <a:ext cx="82296" cy="82296"/>
          </a:xfrm>
          <a:prstGeom prst="rect">
            <a:avLst/>
          </a:prstGeom>
          <a:solidFill>
            <a:schemeClr val="tx1"/>
          </a:solidFill>
          <a:ln/>
        </p:spPr>
      </p:sp>
      <p:sp>
        <p:nvSpPr>
          <p:cNvPr id="59" name="Text 56"/>
          <p:cNvSpPr txBox="1"/>
          <p:nvPr/>
        </p:nvSpPr>
        <p:spPr>
          <a:xfrm>
            <a:off x="9263786" y="322783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Search Console</a:t>
            </a:r>
            <a:endParaRPr lang="en-US" sz="1350" dirty="0"/>
          </a:p>
        </p:txBody>
      </p:sp>
      <p:sp>
        <p:nvSpPr>
          <p:cNvPr id="60" name="Shape 57"/>
          <p:cNvSpPr/>
          <p:nvPr/>
        </p:nvSpPr>
        <p:spPr>
          <a:xfrm>
            <a:off x="9044330" y="3867912"/>
            <a:ext cx="2596896" cy="0"/>
          </a:xfrm>
          <a:prstGeom prst="line">
            <a:avLst/>
          </a:prstGeom>
          <a:noFill/>
          <a:ln w="9525">
            <a:solidFill>
              <a:schemeClr val="accent5"/>
            </a:solidFill>
            <a:prstDash val="solid"/>
          </a:ln>
        </p:spPr>
      </p:sp>
      <p:sp>
        <p:nvSpPr>
          <p:cNvPr id="61" name="Shape 58"/>
          <p:cNvSpPr/>
          <p:nvPr/>
        </p:nvSpPr>
        <p:spPr>
          <a:xfrm>
            <a:off x="9044330" y="4050792"/>
            <a:ext cx="82296" cy="82296"/>
          </a:xfrm>
          <a:prstGeom prst="rect">
            <a:avLst/>
          </a:prstGeom>
          <a:solidFill>
            <a:schemeClr val="tx1"/>
          </a:solidFill>
          <a:ln/>
        </p:spPr>
      </p:sp>
      <p:sp>
        <p:nvSpPr>
          <p:cNvPr id="62" name="Text 59"/>
          <p:cNvSpPr txBox="1"/>
          <p:nvPr/>
        </p:nvSpPr>
        <p:spPr>
          <a:xfrm>
            <a:off x="9263786" y="395935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Live dashboard</a:t>
            </a:r>
            <a:endParaRPr lang="en-US" sz="1350" dirty="0"/>
          </a:p>
        </p:txBody>
      </p:sp>
      <p:sp>
        <p:nvSpPr>
          <p:cNvPr id="63" name="Shape 60"/>
          <p:cNvSpPr/>
          <p:nvPr/>
        </p:nvSpPr>
        <p:spPr>
          <a:xfrm>
            <a:off x="9044330" y="4599432"/>
            <a:ext cx="2596896" cy="0"/>
          </a:xfrm>
          <a:prstGeom prst="line">
            <a:avLst/>
          </a:prstGeom>
          <a:noFill/>
          <a:ln w="9525">
            <a:solidFill>
              <a:schemeClr val="accent5"/>
            </a:solidFill>
            <a:prstDash val="solid"/>
          </a:ln>
        </p:spPr>
      </p:sp>
      <p:sp>
        <p:nvSpPr>
          <p:cNvPr id="64" name="Shape 61"/>
          <p:cNvSpPr/>
          <p:nvPr/>
        </p:nvSpPr>
        <p:spPr>
          <a:xfrm>
            <a:off x="9044330" y="4782312"/>
            <a:ext cx="82296" cy="82296"/>
          </a:xfrm>
          <a:prstGeom prst="rect">
            <a:avLst/>
          </a:prstGeom>
          <a:solidFill>
            <a:schemeClr val="tx1"/>
          </a:solidFill>
          <a:ln/>
        </p:spPr>
      </p:sp>
      <p:sp>
        <p:nvSpPr>
          <p:cNvPr id="65" name="Text 62"/>
          <p:cNvSpPr txBox="1"/>
          <p:nvPr/>
        </p:nvSpPr>
        <p:spPr>
          <a:xfrm>
            <a:off x="9263786" y="469087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Monthly report, quarterly review</a:t>
            </a:r>
            <a:endParaRPr lang="en-US" sz="1350" dirty="0"/>
          </a:p>
        </p:txBody>
      </p:sp>
      <p:sp>
        <p:nvSpPr>
          <p:cNvPr id="66" name="Shape 63"/>
          <p:cNvSpPr/>
          <p:nvPr/>
        </p:nvSpPr>
        <p:spPr>
          <a:xfrm>
            <a:off x="9044330" y="5330952"/>
            <a:ext cx="2596896" cy="0"/>
          </a:xfrm>
          <a:prstGeom prst="line">
            <a:avLst/>
          </a:prstGeom>
          <a:noFill/>
          <a:ln w="9525">
            <a:solidFill>
              <a:schemeClr val="accent5"/>
            </a:solidFill>
            <a:prstDash val="solid"/>
          </a:ln>
        </p:spPr>
      </p:sp>
      <p:sp>
        <p:nvSpPr>
          <p:cNvPr id="67" name="Shape 64"/>
          <p:cNvSpPr/>
          <p:nvPr/>
        </p:nvSpPr>
        <p:spPr>
          <a:xfrm>
            <a:off x="9044330" y="5513832"/>
            <a:ext cx="82296" cy="82296"/>
          </a:xfrm>
          <a:prstGeom prst="rect">
            <a:avLst/>
          </a:prstGeom>
          <a:solidFill>
            <a:schemeClr val="tx1"/>
          </a:solidFill>
          <a:ln/>
        </p:spPr>
      </p:sp>
      <p:sp>
        <p:nvSpPr>
          <p:cNvPr id="68" name="Text 65"/>
          <p:cNvSpPr txBox="1"/>
          <p:nvPr/>
        </p:nvSpPr>
        <p:spPr>
          <a:xfrm>
            <a:off x="9263786" y="5422392"/>
            <a:ext cx="2377440" cy="603504"/>
          </a:xfrm>
          <a:prstGeom prst="rect">
            <a:avLst/>
          </a:prstGeom>
          <a:noFill/>
          <a:ln/>
        </p:spPr>
        <p:txBody>
          <a:bodyPr wrap="square" lIns="0" tIns="0" rIns="0" bIns="0" rtlCol="0" anchor="t"/>
          <a:lstStyle/>
          <a:p>
            <a:pPr algn="l" indent="0" marL="0">
              <a:lnSpc>
                <a:spcPct val="115000"/>
              </a:lnSpc>
              <a:buNone/>
            </a:pPr>
            <a:r>
              <a:rPr lang="en-US" sz="1350" dirty="0">
                <a:solidFill>
                  <a:schemeClr val="tx2"/>
                </a:solidFill>
              </a:rPr>
              <a:t>Monthly maintenance and health checks</a:t>
            </a:r>
            <a:endParaRPr lang="en-US" sz="1350" dirty="0"/>
          </a:p>
        </p:txBody>
      </p:sp>
      <p:sp>
        <p:nvSpPr>
          <p:cNvPr id="69" name="Shape 66"/>
          <p:cNvSpPr/>
          <p:nvPr/>
        </p:nvSpPr>
        <p:spPr>
          <a:xfrm>
            <a:off x="9044330" y="6062472"/>
            <a:ext cx="2596896"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17 — OPERATING MODEL</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Implement once, then improve every month</a:t>
            </a:r>
            <a:endParaRPr lang="en-US" sz="3200" dirty="0"/>
          </a:p>
        </p:txBody>
      </p:sp>
      <p:sp>
        <p:nvSpPr>
          <p:cNvPr id="5" name="Shape 2"/>
          <p:cNvSpPr/>
          <p:nvPr/>
        </p:nvSpPr>
        <p:spPr>
          <a:xfrm>
            <a:off x="548640" y="3246120"/>
            <a:ext cx="1600200" cy="548640"/>
          </a:xfrm>
          <a:prstGeom prst="rect">
            <a:avLst/>
          </a:prstGeom>
          <a:ln w="9525">
            <a:solidFill>
              <a:schemeClr val="tx1"/>
            </a:solidFill>
            <a:prstDash val="solid"/>
          </a:ln>
        </p:spPr>
      </p:sp>
      <p:sp>
        <p:nvSpPr>
          <p:cNvPr id="6" name="Text 3"/>
          <p:cNvSpPr txBox="1"/>
          <p:nvPr/>
        </p:nvSpPr>
        <p:spPr>
          <a:xfrm>
            <a:off x="658368" y="3246120"/>
            <a:ext cx="1380744" cy="548640"/>
          </a:xfrm>
          <a:prstGeom prst="rect">
            <a:avLst/>
          </a:prstGeom>
          <a:noFill/>
          <a:ln/>
        </p:spPr>
        <p:txBody>
          <a:bodyPr wrap="square" lIns="0" tIns="0" rIns="0" bIns="0" rtlCol="0" anchor="ctr"/>
          <a:lstStyle/>
          <a:p>
            <a:pPr algn="ctr" indent="0" marL="0">
              <a:lnSpc>
                <a:spcPct val="112000"/>
              </a:lnSpc>
              <a:buNone/>
            </a:pPr>
            <a:r>
              <a:rPr lang="en-US" sz="1500" dirty="0">
                <a:solidFill>
                  <a:schemeClr val="tx1"/>
                </a:solidFill>
                <a:latin typeface="+mj-lt" pitchFamily="34" charset="0"/>
                <a:ea typeface="+mj-lt" pitchFamily="34" charset="-122"/>
                <a:cs typeface="+mj-lt" pitchFamily="34" charset="-120"/>
              </a:rPr>
              <a:t>Implement</a:t>
            </a:r>
            <a:endParaRPr lang="en-US" sz="1500" dirty="0"/>
          </a:p>
        </p:txBody>
      </p:sp>
      <p:sp>
        <p:nvSpPr>
          <p:cNvPr id="7" name="Shape 4"/>
          <p:cNvSpPr/>
          <p:nvPr/>
        </p:nvSpPr>
        <p:spPr>
          <a:xfrm>
            <a:off x="2212848" y="3520440"/>
            <a:ext cx="329184" cy="0"/>
          </a:xfrm>
          <a:prstGeom prst="line">
            <a:avLst/>
          </a:prstGeom>
          <a:noFill/>
          <a:ln w="9525">
            <a:solidFill>
              <a:schemeClr val="tx1"/>
            </a:solidFill>
            <a:prstDash val="solid"/>
            <a:tailEnd type="triangle"/>
          </a:ln>
        </p:spPr>
      </p:sp>
      <p:sp>
        <p:nvSpPr>
          <p:cNvPr id="8" name="Shape 5"/>
          <p:cNvSpPr/>
          <p:nvPr/>
        </p:nvSpPr>
        <p:spPr>
          <a:xfrm>
            <a:off x="2606040" y="3246120"/>
            <a:ext cx="1463040" cy="548640"/>
          </a:xfrm>
          <a:prstGeom prst="rect">
            <a:avLst/>
          </a:prstGeom>
          <a:solidFill>
            <a:schemeClr val="accent1"/>
          </a:solidFill>
          <a:ln w="9525">
            <a:solidFill>
              <a:schemeClr val="accent1"/>
            </a:solidFill>
            <a:prstDash val="solid"/>
          </a:ln>
        </p:spPr>
      </p:sp>
      <p:sp>
        <p:nvSpPr>
          <p:cNvPr id="9" name="Text 6"/>
          <p:cNvSpPr txBox="1"/>
          <p:nvPr/>
        </p:nvSpPr>
        <p:spPr>
          <a:xfrm>
            <a:off x="2715768" y="3246120"/>
            <a:ext cx="1243584" cy="548640"/>
          </a:xfrm>
          <a:prstGeom prst="rect">
            <a:avLst/>
          </a:prstGeom>
          <a:noFill/>
          <a:ln/>
        </p:spPr>
        <p:txBody>
          <a:bodyPr wrap="square" lIns="0" tIns="0" rIns="0" bIns="0" rtlCol="0" anchor="ctr"/>
          <a:lstStyle/>
          <a:p>
            <a:pPr algn="ctr" indent="0" marL="0">
              <a:lnSpc>
                <a:spcPct val="112000"/>
              </a:lnSpc>
              <a:buNone/>
            </a:pPr>
            <a:r>
              <a:rPr lang="en-US" sz="1500" dirty="0">
                <a:solidFill>
                  <a:schemeClr val="bg1"/>
                </a:solidFill>
                <a:latin typeface="+mj-lt" pitchFamily="34" charset="0"/>
                <a:ea typeface="+mj-lt" pitchFamily="34" charset="-122"/>
                <a:cs typeface="+mj-lt" pitchFamily="34" charset="-120"/>
              </a:rPr>
              <a:t>Launch</a:t>
            </a:r>
            <a:endParaRPr lang="en-US" sz="1500" dirty="0"/>
          </a:p>
        </p:txBody>
      </p:sp>
      <p:sp>
        <p:nvSpPr>
          <p:cNvPr id="10" name="Shape 7"/>
          <p:cNvSpPr/>
          <p:nvPr/>
        </p:nvSpPr>
        <p:spPr>
          <a:xfrm>
            <a:off x="4133088" y="3520440"/>
            <a:ext cx="393192" cy="0"/>
          </a:xfrm>
          <a:prstGeom prst="line">
            <a:avLst/>
          </a:prstGeom>
          <a:noFill/>
          <a:ln w="9525">
            <a:solidFill>
              <a:schemeClr val="tx1"/>
            </a:solidFill>
            <a:prstDash val="solid"/>
            <a:tailEnd type="triangle"/>
          </a:ln>
        </p:spPr>
      </p:sp>
      <p:sp>
        <p:nvSpPr>
          <p:cNvPr id="11" name="Text 8"/>
          <p:cNvSpPr txBox="1"/>
          <p:nvPr/>
        </p:nvSpPr>
        <p:spPr>
          <a:xfrm>
            <a:off x="548640" y="2834640"/>
            <a:ext cx="34747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ONCE</a:t>
            </a:r>
            <a:endParaRPr lang="en-US" sz="950" dirty="0"/>
          </a:p>
        </p:txBody>
      </p:sp>
      <p:sp>
        <p:nvSpPr>
          <p:cNvPr id="12" name="Shape 9"/>
          <p:cNvSpPr/>
          <p:nvPr/>
        </p:nvSpPr>
        <p:spPr>
          <a:xfrm>
            <a:off x="4663440" y="2194560"/>
            <a:ext cx="2651760" cy="2651760"/>
          </a:xfrm>
          <a:prstGeom prst="ellipse">
            <a:avLst/>
          </a:prstGeom>
          <a:ln w="9525">
            <a:solidFill>
              <a:schemeClr val="accent2"/>
            </a:solidFill>
            <a:prstDash val="dash"/>
          </a:ln>
        </p:spPr>
      </p:sp>
      <p:sp>
        <p:nvSpPr>
          <p:cNvPr id="13" name="Shape 10"/>
          <p:cNvSpPr/>
          <p:nvPr/>
        </p:nvSpPr>
        <p:spPr>
          <a:xfrm>
            <a:off x="5303520" y="1947672"/>
            <a:ext cx="1371600" cy="493776"/>
          </a:xfrm>
          <a:prstGeom prst="rect">
            <a:avLst/>
          </a:prstGeom>
          <a:solidFill>
            <a:schemeClr val="bg1"/>
          </a:solidFill>
          <a:ln w="9525">
            <a:solidFill>
              <a:schemeClr val="tx1"/>
            </a:solidFill>
            <a:prstDash val="solid"/>
          </a:ln>
        </p:spPr>
      </p:sp>
      <p:sp>
        <p:nvSpPr>
          <p:cNvPr id="14" name="Text 11"/>
          <p:cNvSpPr txBox="1"/>
          <p:nvPr/>
        </p:nvSpPr>
        <p:spPr>
          <a:xfrm>
            <a:off x="5413248" y="1947672"/>
            <a:ext cx="1152144" cy="493776"/>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Measure</a:t>
            </a:r>
            <a:endParaRPr lang="en-US" sz="1400" dirty="0"/>
          </a:p>
        </p:txBody>
      </p:sp>
      <p:sp>
        <p:nvSpPr>
          <p:cNvPr id="15" name="Shape 12"/>
          <p:cNvSpPr/>
          <p:nvPr/>
        </p:nvSpPr>
        <p:spPr>
          <a:xfrm>
            <a:off x="6451766" y="3936492"/>
            <a:ext cx="1371600" cy="493776"/>
          </a:xfrm>
          <a:prstGeom prst="rect">
            <a:avLst/>
          </a:prstGeom>
          <a:solidFill>
            <a:schemeClr val="bg1"/>
          </a:solidFill>
          <a:ln w="9525">
            <a:solidFill>
              <a:schemeClr val="tx1"/>
            </a:solidFill>
            <a:prstDash val="solid"/>
          </a:ln>
        </p:spPr>
      </p:sp>
      <p:sp>
        <p:nvSpPr>
          <p:cNvPr id="16" name="Text 13"/>
          <p:cNvSpPr txBox="1"/>
          <p:nvPr/>
        </p:nvSpPr>
        <p:spPr>
          <a:xfrm>
            <a:off x="6561494" y="3936492"/>
            <a:ext cx="1152144" cy="493776"/>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Improve</a:t>
            </a:r>
            <a:endParaRPr lang="en-US" sz="1400" dirty="0"/>
          </a:p>
        </p:txBody>
      </p:sp>
      <p:sp>
        <p:nvSpPr>
          <p:cNvPr id="17" name="Shape 14"/>
          <p:cNvSpPr/>
          <p:nvPr/>
        </p:nvSpPr>
        <p:spPr>
          <a:xfrm>
            <a:off x="4155274" y="3936492"/>
            <a:ext cx="1371600" cy="493776"/>
          </a:xfrm>
          <a:prstGeom prst="rect">
            <a:avLst/>
          </a:prstGeom>
          <a:solidFill>
            <a:schemeClr val="bg1"/>
          </a:solidFill>
          <a:ln w="9525">
            <a:solidFill>
              <a:schemeClr val="tx1"/>
            </a:solidFill>
            <a:prstDash val="solid"/>
          </a:ln>
        </p:spPr>
      </p:sp>
      <p:sp>
        <p:nvSpPr>
          <p:cNvPr id="18" name="Text 15"/>
          <p:cNvSpPr txBox="1"/>
          <p:nvPr/>
        </p:nvSpPr>
        <p:spPr>
          <a:xfrm>
            <a:off x="4265002" y="3936492"/>
            <a:ext cx="1152144" cy="493776"/>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Report</a:t>
            </a:r>
            <a:endParaRPr lang="en-US" sz="1400" dirty="0"/>
          </a:p>
        </p:txBody>
      </p:sp>
      <p:sp>
        <p:nvSpPr>
          <p:cNvPr id="19" name="Text 16"/>
          <p:cNvSpPr txBox="1"/>
          <p:nvPr/>
        </p:nvSpPr>
        <p:spPr>
          <a:xfrm>
            <a:off x="5257800" y="3337560"/>
            <a:ext cx="1463040" cy="365760"/>
          </a:xfrm>
          <a:prstGeom prst="rect">
            <a:avLst/>
          </a:prstGeom>
          <a:noFill/>
          <a:ln/>
        </p:spPr>
        <p:txBody>
          <a:bodyPr wrap="square" lIns="0" tIns="0" rIns="0" bIns="0" rtlCol="0" anchor="t"/>
          <a:lstStyle/>
          <a:p>
            <a:pPr algn="ctr" indent="0" marL="0">
              <a:lnSpc>
                <a:spcPct val="112000"/>
              </a:lnSpc>
              <a:buNone/>
            </a:pPr>
            <a:r>
              <a:rPr lang="en-US" sz="1200" i="1" dirty="0">
                <a:solidFill>
                  <a:schemeClr val="accent2"/>
                </a:solidFill>
              </a:rPr>
              <a:t>Repeat</a:t>
            </a:r>
            <a:endParaRPr lang="en-US" sz="1200" dirty="0"/>
          </a:p>
        </p:txBody>
      </p:sp>
      <p:sp>
        <p:nvSpPr>
          <p:cNvPr id="20" name="Text 17"/>
          <p:cNvSpPr txBox="1"/>
          <p:nvPr/>
        </p:nvSpPr>
        <p:spPr>
          <a:xfrm>
            <a:off x="4663440" y="1627632"/>
            <a:ext cx="27432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THEN, MONTHLY</a:t>
            </a:r>
            <a:endParaRPr lang="en-US" sz="950" dirty="0"/>
          </a:p>
        </p:txBody>
      </p:sp>
      <p:sp>
        <p:nvSpPr>
          <p:cNvPr id="21" name="Shape 18"/>
          <p:cNvSpPr/>
          <p:nvPr/>
        </p:nvSpPr>
        <p:spPr>
          <a:xfrm>
            <a:off x="7064414" y="2730797"/>
            <a:ext cx="146304" cy="253406"/>
          </a:xfrm>
          <a:prstGeom prst="line">
            <a:avLst/>
          </a:prstGeom>
          <a:noFill/>
          <a:ln w="12700">
            <a:solidFill>
              <a:schemeClr val="tx1"/>
            </a:solidFill>
            <a:prstDash val="solid"/>
            <a:tailEnd type="triangle"/>
          </a:ln>
        </p:spPr>
      </p:sp>
      <p:sp>
        <p:nvSpPr>
          <p:cNvPr id="22" name="Shape 19"/>
          <p:cNvSpPr/>
          <p:nvPr/>
        </p:nvSpPr>
        <p:spPr>
          <a:xfrm flipH="1">
            <a:off x="5843016" y="4846320"/>
            <a:ext cx="292608" cy="0"/>
          </a:xfrm>
          <a:prstGeom prst="line">
            <a:avLst/>
          </a:prstGeom>
          <a:noFill/>
          <a:ln w="12700">
            <a:solidFill>
              <a:schemeClr val="tx1"/>
            </a:solidFill>
            <a:prstDash val="solid"/>
            <a:tailEnd type="triangle"/>
          </a:ln>
        </p:spPr>
      </p:sp>
      <p:sp>
        <p:nvSpPr>
          <p:cNvPr id="23" name="Shape 20"/>
          <p:cNvSpPr/>
          <p:nvPr/>
        </p:nvSpPr>
        <p:spPr>
          <a:xfrm flipV="1">
            <a:off x="4767922" y="2730797"/>
            <a:ext cx="146304" cy="253406"/>
          </a:xfrm>
          <a:prstGeom prst="line">
            <a:avLst/>
          </a:prstGeom>
          <a:noFill/>
          <a:ln w="12700">
            <a:solidFill>
              <a:schemeClr val="tx1"/>
            </a:solidFill>
            <a:prstDash val="solid"/>
            <a:tailEnd type="triangle"/>
          </a:ln>
        </p:spPr>
      </p:sp>
      <p:sp>
        <p:nvSpPr>
          <p:cNvPr id="24" name="Text 21"/>
          <p:cNvSpPr txBox="1"/>
          <p:nvPr/>
        </p:nvSpPr>
        <p:spPr>
          <a:xfrm>
            <a:off x="8092440" y="1627632"/>
            <a:ext cx="355061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EVERY MONTH</a:t>
            </a:r>
            <a:endParaRPr lang="en-US" sz="950" dirty="0"/>
          </a:p>
        </p:txBody>
      </p:sp>
      <p:sp>
        <p:nvSpPr>
          <p:cNvPr id="25" name="Shape 22"/>
          <p:cNvSpPr/>
          <p:nvPr/>
        </p:nvSpPr>
        <p:spPr>
          <a:xfrm>
            <a:off x="8092440" y="1920240"/>
            <a:ext cx="3550615" cy="0"/>
          </a:xfrm>
          <a:prstGeom prst="line">
            <a:avLst/>
          </a:prstGeom>
          <a:noFill/>
          <a:ln w="9525">
            <a:solidFill>
              <a:schemeClr val="tx1"/>
            </a:solidFill>
            <a:prstDash val="solid"/>
          </a:ln>
        </p:spPr>
      </p:sp>
      <p:sp>
        <p:nvSpPr>
          <p:cNvPr id="26" name="Text 23"/>
          <p:cNvSpPr txBox="1"/>
          <p:nvPr/>
        </p:nvSpPr>
        <p:spPr>
          <a:xfrm>
            <a:off x="8092440" y="1993392"/>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Search Console and indexing review</a:t>
            </a:r>
            <a:endParaRPr lang="en-US" sz="1250" dirty="0"/>
          </a:p>
        </p:txBody>
      </p:sp>
      <p:sp>
        <p:nvSpPr>
          <p:cNvPr id="27" name="Shape 24"/>
          <p:cNvSpPr/>
          <p:nvPr/>
        </p:nvSpPr>
        <p:spPr>
          <a:xfrm>
            <a:off x="8092440" y="2286000"/>
            <a:ext cx="3550615" cy="0"/>
          </a:xfrm>
          <a:prstGeom prst="line">
            <a:avLst/>
          </a:prstGeom>
          <a:noFill/>
          <a:ln w="9525">
            <a:solidFill>
              <a:schemeClr val="accent5"/>
            </a:solidFill>
            <a:prstDash val="solid"/>
          </a:ln>
        </p:spPr>
      </p:sp>
      <p:sp>
        <p:nvSpPr>
          <p:cNvPr id="28" name="Text 25"/>
          <p:cNvSpPr txBox="1"/>
          <p:nvPr/>
        </p:nvSpPr>
        <p:spPr>
          <a:xfrm>
            <a:off x="8092440" y="2359152"/>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Business Profile upkeep, review replies</a:t>
            </a:r>
            <a:endParaRPr lang="en-US" sz="1250" dirty="0"/>
          </a:p>
        </p:txBody>
      </p:sp>
      <p:sp>
        <p:nvSpPr>
          <p:cNvPr id="29" name="Shape 26"/>
          <p:cNvSpPr/>
          <p:nvPr/>
        </p:nvSpPr>
        <p:spPr>
          <a:xfrm>
            <a:off x="8092440" y="2651760"/>
            <a:ext cx="3550615" cy="0"/>
          </a:xfrm>
          <a:prstGeom prst="line">
            <a:avLst/>
          </a:prstGeom>
          <a:noFill/>
          <a:ln w="9525">
            <a:solidFill>
              <a:schemeClr val="accent5"/>
            </a:solidFill>
            <a:prstDash val="solid"/>
          </a:ln>
        </p:spPr>
      </p:sp>
      <p:sp>
        <p:nvSpPr>
          <p:cNvPr id="30" name="Text 27"/>
          <p:cNvSpPr txBox="1"/>
          <p:nvPr/>
        </p:nvSpPr>
        <p:spPr>
          <a:xfrm>
            <a:off x="8092440" y="2724912"/>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New projects published</a:t>
            </a:r>
            <a:endParaRPr lang="en-US" sz="1250" dirty="0"/>
          </a:p>
        </p:txBody>
      </p:sp>
      <p:sp>
        <p:nvSpPr>
          <p:cNvPr id="31" name="Shape 28"/>
          <p:cNvSpPr/>
          <p:nvPr/>
        </p:nvSpPr>
        <p:spPr>
          <a:xfrm>
            <a:off x="8092440" y="3017520"/>
            <a:ext cx="3550615" cy="0"/>
          </a:xfrm>
          <a:prstGeom prst="line">
            <a:avLst/>
          </a:prstGeom>
          <a:noFill/>
          <a:ln w="9525">
            <a:solidFill>
              <a:schemeClr val="accent5"/>
            </a:solidFill>
            <a:prstDash val="solid"/>
          </a:ln>
        </p:spPr>
      </p:sp>
      <p:sp>
        <p:nvSpPr>
          <p:cNvPr id="32" name="Text 29"/>
          <p:cNvSpPr txBox="1"/>
          <p:nvPr/>
        </p:nvSpPr>
        <p:spPr>
          <a:xfrm>
            <a:off x="8092440" y="3090672"/>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Site, form and backup checks</a:t>
            </a:r>
            <a:endParaRPr lang="en-US" sz="1250" dirty="0"/>
          </a:p>
        </p:txBody>
      </p:sp>
      <p:sp>
        <p:nvSpPr>
          <p:cNvPr id="33" name="Shape 30"/>
          <p:cNvSpPr/>
          <p:nvPr/>
        </p:nvSpPr>
        <p:spPr>
          <a:xfrm>
            <a:off x="8092440" y="3383280"/>
            <a:ext cx="3550615" cy="0"/>
          </a:xfrm>
          <a:prstGeom prst="line">
            <a:avLst/>
          </a:prstGeom>
          <a:noFill/>
          <a:ln w="9525">
            <a:solidFill>
              <a:schemeClr val="accent5"/>
            </a:solidFill>
            <a:prstDash val="solid"/>
          </a:ln>
        </p:spPr>
      </p:sp>
      <p:sp>
        <p:nvSpPr>
          <p:cNvPr id="34" name="Text 31"/>
          <p:cNvSpPr txBox="1"/>
          <p:nvPr/>
        </p:nvSpPr>
        <p:spPr>
          <a:xfrm>
            <a:off x="8092440" y="3456432"/>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One-page report and next actions</a:t>
            </a:r>
            <a:endParaRPr lang="en-US" sz="1250" dirty="0"/>
          </a:p>
        </p:txBody>
      </p:sp>
      <p:sp>
        <p:nvSpPr>
          <p:cNvPr id="35" name="Text 32"/>
          <p:cNvSpPr txBox="1"/>
          <p:nvPr/>
        </p:nvSpPr>
        <p:spPr>
          <a:xfrm>
            <a:off x="8092440" y="3931920"/>
            <a:ext cx="355061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EVERY QUARTER</a:t>
            </a:r>
            <a:endParaRPr lang="en-US" sz="950" dirty="0"/>
          </a:p>
        </p:txBody>
      </p:sp>
      <p:sp>
        <p:nvSpPr>
          <p:cNvPr id="36" name="Shape 33"/>
          <p:cNvSpPr/>
          <p:nvPr/>
        </p:nvSpPr>
        <p:spPr>
          <a:xfrm>
            <a:off x="8092440" y="4224528"/>
            <a:ext cx="3550615" cy="0"/>
          </a:xfrm>
          <a:prstGeom prst="line">
            <a:avLst/>
          </a:prstGeom>
          <a:noFill/>
          <a:ln w="9525">
            <a:solidFill>
              <a:schemeClr val="tx1"/>
            </a:solidFill>
            <a:prstDash val="solid"/>
          </a:ln>
        </p:spPr>
      </p:sp>
      <p:sp>
        <p:nvSpPr>
          <p:cNvPr id="37" name="Text 34"/>
          <p:cNvSpPr txBox="1"/>
          <p:nvPr/>
        </p:nvSpPr>
        <p:spPr>
          <a:xfrm>
            <a:off x="8092440" y="4297680"/>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Review meeting</a:t>
            </a:r>
            <a:endParaRPr lang="en-US" sz="1250" dirty="0"/>
          </a:p>
        </p:txBody>
      </p:sp>
      <p:sp>
        <p:nvSpPr>
          <p:cNvPr id="38" name="Shape 35"/>
          <p:cNvSpPr/>
          <p:nvPr/>
        </p:nvSpPr>
        <p:spPr>
          <a:xfrm>
            <a:off x="8092440" y="4590288"/>
            <a:ext cx="3550615" cy="0"/>
          </a:xfrm>
          <a:prstGeom prst="line">
            <a:avLst/>
          </a:prstGeom>
          <a:noFill/>
          <a:ln w="9525">
            <a:solidFill>
              <a:schemeClr val="accent5"/>
            </a:solidFill>
            <a:prstDash val="solid"/>
          </a:ln>
        </p:spPr>
      </p:sp>
      <p:sp>
        <p:nvSpPr>
          <p:cNvPr id="39" name="Text 36"/>
          <p:cNvSpPr txBox="1"/>
          <p:nvPr/>
        </p:nvSpPr>
        <p:spPr>
          <a:xfrm>
            <a:off x="8092440" y="4663440"/>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Search-intent map refreshed</a:t>
            </a:r>
            <a:endParaRPr lang="en-US" sz="1250" dirty="0"/>
          </a:p>
        </p:txBody>
      </p:sp>
      <p:sp>
        <p:nvSpPr>
          <p:cNvPr id="40" name="Shape 37"/>
          <p:cNvSpPr/>
          <p:nvPr/>
        </p:nvSpPr>
        <p:spPr>
          <a:xfrm>
            <a:off x="8092440" y="4956048"/>
            <a:ext cx="3550615" cy="0"/>
          </a:xfrm>
          <a:prstGeom prst="line">
            <a:avLst/>
          </a:prstGeom>
          <a:noFill/>
          <a:ln w="9525">
            <a:solidFill>
              <a:schemeClr val="accent5"/>
            </a:solidFill>
            <a:prstDash val="solid"/>
          </a:ln>
        </p:spPr>
      </p:sp>
      <p:sp>
        <p:nvSpPr>
          <p:cNvPr id="41" name="Text 38"/>
          <p:cNvSpPr txBox="1"/>
          <p:nvPr/>
        </p:nvSpPr>
        <p:spPr>
          <a:xfrm>
            <a:off x="8092440" y="5029200"/>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Access audit</a:t>
            </a:r>
            <a:endParaRPr lang="en-US" sz="1250" dirty="0"/>
          </a:p>
        </p:txBody>
      </p:sp>
      <p:sp>
        <p:nvSpPr>
          <p:cNvPr id="42" name="Shape 39"/>
          <p:cNvSpPr/>
          <p:nvPr/>
        </p:nvSpPr>
        <p:spPr>
          <a:xfrm>
            <a:off x="8092440" y="5321808"/>
            <a:ext cx="3550615" cy="0"/>
          </a:xfrm>
          <a:prstGeom prst="line">
            <a:avLst/>
          </a:prstGeom>
          <a:noFill/>
          <a:ln w="9525">
            <a:solidFill>
              <a:schemeClr val="accent5"/>
            </a:solidFill>
            <a:prstDash val="solid"/>
          </a:ln>
        </p:spPr>
      </p:sp>
      <p:sp>
        <p:nvSpPr>
          <p:cNvPr id="43" name="Text 40"/>
          <p:cNvSpPr txBox="1"/>
          <p:nvPr/>
        </p:nvSpPr>
        <p:spPr>
          <a:xfrm>
            <a:off x="8092440" y="5394960"/>
            <a:ext cx="3550615" cy="27432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Backup restore test</a:t>
            </a:r>
            <a:endParaRPr lang="en-US" sz="1250" dirty="0"/>
          </a:p>
        </p:txBody>
      </p:sp>
      <p:sp>
        <p:nvSpPr>
          <p:cNvPr id="44" name="Shape 41"/>
          <p:cNvSpPr/>
          <p:nvPr/>
        </p:nvSpPr>
        <p:spPr>
          <a:xfrm>
            <a:off x="548640" y="5486400"/>
            <a:ext cx="6675120" cy="640080"/>
          </a:xfrm>
          <a:prstGeom prst="rect">
            <a:avLst/>
          </a:prstGeom>
          <a:solidFill>
            <a:schemeClr val="bg2"/>
          </a:solidFill>
          <a:ln/>
        </p:spPr>
      </p:sp>
      <p:sp>
        <p:nvSpPr>
          <p:cNvPr id="45" name="Text 42"/>
          <p:cNvSpPr txBox="1"/>
          <p:nvPr/>
        </p:nvSpPr>
        <p:spPr>
          <a:xfrm>
            <a:off x="749808" y="5486400"/>
            <a:ext cx="6400800" cy="640080"/>
          </a:xfrm>
          <a:prstGeom prst="rect">
            <a:avLst/>
          </a:prstGeom>
          <a:noFill/>
          <a:ln/>
        </p:spPr>
        <p:txBody>
          <a:bodyPr wrap="square" lIns="0" tIns="0" rIns="0" bIns="0" rtlCol="0" anchor="ctr"/>
          <a:lstStyle/>
          <a:p>
            <a:pPr algn="l" indent="0" marL="0">
              <a:lnSpc>
                <a:spcPct val="112000"/>
              </a:lnSpc>
              <a:buNone/>
            </a:pPr>
            <a:r>
              <a:rPr lang="en-US" sz="1300" dirty="0">
                <a:solidFill>
                  <a:schemeClr val="tx1"/>
                </a:solidFill>
              </a:rPr>
              <a:t>The studio’s part: project information, approvals, twenty minutes a month.</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18 — REALISTIC EXPECTATIONS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What can be committed, and what can’t</a:t>
            </a:r>
            <a:endParaRPr lang="en-US" sz="3200" dirty="0"/>
          </a:p>
        </p:txBody>
      </p:sp>
      <p:sp>
        <p:nvSpPr>
          <p:cNvPr id="5" name="Text 2"/>
          <p:cNvSpPr txBox="1"/>
          <p:nvPr/>
        </p:nvSpPr>
        <p:spPr>
          <a:xfrm>
            <a:off x="548640" y="1600200"/>
            <a:ext cx="5303520" cy="457200"/>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mj-lt" pitchFamily="34" charset="0"/>
                <a:ea typeface="+mj-lt" pitchFamily="34" charset="-122"/>
                <a:cs typeface="+mj-lt" pitchFamily="34" charset="-120"/>
              </a:rPr>
              <a:t>Committed</a:t>
            </a:r>
            <a:endParaRPr lang="en-US" sz="2200" dirty="0"/>
          </a:p>
        </p:txBody>
      </p:sp>
      <p:sp>
        <p:nvSpPr>
          <p:cNvPr id="6" name="Shape 3"/>
          <p:cNvSpPr/>
          <p:nvPr/>
        </p:nvSpPr>
        <p:spPr>
          <a:xfrm>
            <a:off x="548640" y="2194560"/>
            <a:ext cx="5303520" cy="0"/>
          </a:xfrm>
          <a:prstGeom prst="line">
            <a:avLst/>
          </a:prstGeom>
          <a:noFill/>
          <a:ln w="9525">
            <a:solidFill>
              <a:schemeClr val="tx1"/>
            </a:solidFill>
            <a:prstDash val="solid"/>
          </a:ln>
        </p:spPr>
      </p:sp>
      <p:sp>
        <p:nvSpPr>
          <p:cNvPr id="7" name="Text 4"/>
          <p:cNvSpPr txBox="1"/>
          <p:nvPr/>
        </p:nvSpPr>
        <p:spPr>
          <a:xfrm>
            <a:off x="548640" y="22951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tx2"/>
                </a:solidFill>
              </a:rPr>
              <a:t>The work in every milestone, to Google’s guidelines</a:t>
            </a:r>
            <a:endParaRPr lang="en-US" sz="1400" dirty="0"/>
          </a:p>
        </p:txBody>
      </p:sp>
      <p:sp>
        <p:nvSpPr>
          <p:cNvPr id="8" name="Shape 5"/>
          <p:cNvSpPr/>
          <p:nvPr/>
        </p:nvSpPr>
        <p:spPr>
          <a:xfrm>
            <a:off x="548640" y="2651760"/>
            <a:ext cx="5303520" cy="0"/>
          </a:xfrm>
          <a:prstGeom prst="line">
            <a:avLst/>
          </a:prstGeom>
          <a:noFill/>
          <a:ln w="9525">
            <a:solidFill>
              <a:schemeClr val="accent5"/>
            </a:solidFill>
            <a:prstDash val="solid"/>
          </a:ln>
        </p:spPr>
      </p:sp>
      <p:sp>
        <p:nvSpPr>
          <p:cNvPr id="9" name="Text 6"/>
          <p:cNvSpPr txBox="1"/>
          <p:nvPr/>
        </p:nvSpPr>
        <p:spPr>
          <a:xfrm>
            <a:off x="548640" y="27523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tx2"/>
                </a:solidFill>
              </a:rPr>
              <a:t>The timeline, given decisions and inputs</a:t>
            </a:r>
            <a:endParaRPr lang="en-US" sz="1400" dirty="0"/>
          </a:p>
        </p:txBody>
      </p:sp>
      <p:sp>
        <p:nvSpPr>
          <p:cNvPr id="10" name="Shape 7"/>
          <p:cNvSpPr/>
          <p:nvPr/>
        </p:nvSpPr>
        <p:spPr>
          <a:xfrm>
            <a:off x="548640" y="3108960"/>
            <a:ext cx="5303520" cy="0"/>
          </a:xfrm>
          <a:prstGeom prst="line">
            <a:avLst/>
          </a:prstGeom>
          <a:noFill/>
          <a:ln w="9525">
            <a:solidFill>
              <a:schemeClr val="accent5"/>
            </a:solidFill>
            <a:prstDash val="solid"/>
          </a:ln>
        </p:spPr>
      </p:sp>
      <p:sp>
        <p:nvSpPr>
          <p:cNvPr id="11" name="Text 8"/>
          <p:cNvSpPr txBox="1"/>
          <p:nvPr/>
        </p:nvSpPr>
        <p:spPr>
          <a:xfrm>
            <a:off x="548640" y="32095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tx2"/>
                </a:solidFill>
              </a:rPr>
              <a:t>Honest monthly measurement and reporting</a:t>
            </a:r>
            <a:endParaRPr lang="en-US" sz="1400" dirty="0"/>
          </a:p>
        </p:txBody>
      </p:sp>
      <p:sp>
        <p:nvSpPr>
          <p:cNvPr id="12" name="Shape 9"/>
          <p:cNvSpPr/>
          <p:nvPr/>
        </p:nvSpPr>
        <p:spPr>
          <a:xfrm>
            <a:off x="548640" y="3566160"/>
            <a:ext cx="5303520" cy="0"/>
          </a:xfrm>
          <a:prstGeom prst="line">
            <a:avLst/>
          </a:prstGeom>
          <a:noFill/>
          <a:ln w="9525">
            <a:solidFill>
              <a:schemeClr val="accent5"/>
            </a:solidFill>
            <a:prstDash val="solid"/>
          </a:ln>
        </p:spPr>
      </p:sp>
      <p:sp>
        <p:nvSpPr>
          <p:cNvPr id="13" name="Text 10"/>
          <p:cNvSpPr txBox="1"/>
          <p:nvPr/>
        </p:nvSpPr>
        <p:spPr>
          <a:xfrm>
            <a:off x="548640" y="36667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tx2"/>
                </a:solidFill>
              </a:rPr>
              <a:t>Every account owned by the studio</a:t>
            </a:r>
            <a:endParaRPr lang="en-US" sz="1400" dirty="0"/>
          </a:p>
        </p:txBody>
      </p:sp>
      <p:sp>
        <p:nvSpPr>
          <p:cNvPr id="14" name="Text 11"/>
          <p:cNvSpPr txBox="1"/>
          <p:nvPr/>
        </p:nvSpPr>
        <p:spPr>
          <a:xfrm>
            <a:off x="6336792" y="1600200"/>
            <a:ext cx="5303520" cy="457200"/>
          </a:xfrm>
          <a:prstGeom prst="rect">
            <a:avLst/>
          </a:prstGeom>
          <a:noFill/>
          <a:ln/>
        </p:spPr>
        <p:txBody>
          <a:bodyPr wrap="square" lIns="0" tIns="0" rIns="0" bIns="0" rtlCol="0" anchor="t"/>
          <a:lstStyle/>
          <a:p>
            <a:pPr algn="l" indent="0" marL="0">
              <a:lnSpc>
                <a:spcPct val="112000"/>
              </a:lnSpc>
              <a:buNone/>
            </a:pPr>
            <a:r>
              <a:rPr lang="en-US" sz="2200" dirty="0">
                <a:solidFill>
                  <a:schemeClr val="accent2"/>
                </a:solidFill>
                <a:latin typeface="+mj-lt" pitchFamily="34" charset="0"/>
                <a:ea typeface="+mj-lt" pitchFamily="34" charset="-122"/>
                <a:cs typeface="+mj-lt" pitchFamily="34" charset="-120"/>
              </a:rPr>
              <a:t>Not promised</a:t>
            </a:r>
            <a:endParaRPr lang="en-US" sz="2200" dirty="0"/>
          </a:p>
        </p:txBody>
      </p:sp>
      <p:sp>
        <p:nvSpPr>
          <p:cNvPr id="15" name="Shape 12"/>
          <p:cNvSpPr/>
          <p:nvPr/>
        </p:nvSpPr>
        <p:spPr>
          <a:xfrm>
            <a:off x="6336792" y="2194560"/>
            <a:ext cx="5303520" cy="0"/>
          </a:xfrm>
          <a:prstGeom prst="line">
            <a:avLst/>
          </a:prstGeom>
          <a:noFill/>
          <a:ln w="9525">
            <a:solidFill>
              <a:schemeClr val="accent2"/>
            </a:solidFill>
            <a:prstDash val="solid"/>
          </a:ln>
        </p:spPr>
      </p:sp>
      <p:sp>
        <p:nvSpPr>
          <p:cNvPr id="16" name="Text 13"/>
          <p:cNvSpPr txBox="1"/>
          <p:nvPr/>
        </p:nvSpPr>
        <p:spPr>
          <a:xfrm>
            <a:off x="6336792" y="22951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accent2"/>
                </a:solidFill>
              </a:rPr>
              <a:t>Specific positions — “#1 on Google”</a:t>
            </a:r>
            <a:endParaRPr lang="en-US" sz="1400" dirty="0"/>
          </a:p>
        </p:txBody>
      </p:sp>
      <p:sp>
        <p:nvSpPr>
          <p:cNvPr id="17" name="Shape 14"/>
          <p:cNvSpPr/>
          <p:nvPr/>
        </p:nvSpPr>
        <p:spPr>
          <a:xfrm>
            <a:off x="6336792" y="2651760"/>
            <a:ext cx="5303520" cy="0"/>
          </a:xfrm>
          <a:prstGeom prst="line">
            <a:avLst/>
          </a:prstGeom>
          <a:noFill/>
          <a:ln w="9525">
            <a:solidFill>
              <a:schemeClr val="accent5"/>
            </a:solidFill>
            <a:prstDash val="solid"/>
          </a:ln>
        </p:spPr>
      </p:sp>
      <p:sp>
        <p:nvSpPr>
          <p:cNvPr id="18" name="Text 15"/>
          <p:cNvSpPr txBox="1"/>
          <p:nvPr/>
        </p:nvSpPr>
        <p:spPr>
          <a:xfrm>
            <a:off x="6336792" y="27523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accent2"/>
                </a:solidFill>
              </a:rPr>
              <a:t>Traffic, lead or footfall numbers</a:t>
            </a:r>
            <a:endParaRPr lang="en-US" sz="1400" dirty="0"/>
          </a:p>
        </p:txBody>
      </p:sp>
      <p:sp>
        <p:nvSpPr>
          <p:cNvPr id="19" name="Shape 16"/>
          <p:cNvSpPr/>
          <p:nvPr/>
        </p:nvSpPr>
        <p:spPr>
          <a:xfrm>
            <a:off x="6336792" y="3108960"/>
            <a:ext cx="5303520" cy="0"/>
          </a:xfrm>
          <a:prstGeom prst="line">
            <a:avLst/>
          </a:prstGeom>
          <a:noFill/>
          <a:ln w="9525">
            <a:solidFill>
              <a:schemeClr val="accent5"/>
            </a:solidFill>
            <a:prstDash val="solid"/>
          </a:ln>
        </p:spPr>
      </p:sp>
      <p:sp>
        <p:nvSpPr>
          <p:cNvPr id="20" name="Text 17"/>
          <p:cNvSpPr txBox="1"/>
          <p:nvPr/>
        </p:nvSpPr>
        <p:spPr>
          <a:xfrm>
            <a:off x="6336792" y="32095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accent2"/>
                </a:solidFill>
              </a:rPr>
              <a:t>A Maps position (distance is part of ranking)</a:t>
            </a:r>
            <a:endParaRPr lang="en-US" sz="1400" dirty="0"/>
          </a:p>
        </p:txBody>
      </p:sp>
      <p:sp>
        <p:nvSpPr>
          <p:cNvPr id="21" name="Shape 18"/>
          <p:cNvSpPr/>
          <p:nvPr/>
        </p:nvSpPr>
        <p:spPr>
          <a:xfrm>
            <a:off x="6336792" y="3566160"/>
            <a:ext cx="5303520" cy="0"/>
          </a:xfrm>
          <a:prstGeom prst="line">
            <a:avLst/>
          </a:prstGeom>
          <a:noFill/>
          <a:ln w="9525">
            <a:solidFill>
              <a:schemeClr val="accent5"/>
            </a:solidFill>
            <a:prstDash val="solid"/>
          </a:ln>
        </p:spPr>
      </p:sp>
      <p:sp>
        <p:nvSpPr>
          <p:cNvPr id="22" name="Text 19"/>
          <p:cNvSpPr txBox="1"/>
          <p:nvPr/>
        </p:nvSpPr>
        <p:spPr>
          <a:xfrm>
            <a:off x="6336792" y="3666744"/>
            <a:ext cx="5303520" cy="310896"/>
          </a:xfrm>
          <a:prstGeom prst="rect">
            <a:avLst/>
          </a:prstGeom>
          <a:noFill/>
          <a:ln/>
        </p:spPr>
        <p:txBody>
          <a:bodyPr wrap="square" lIns="0" tIns="0" rIns="0" bIns="0" rtlCol="0" anchor="t"/>
          <a:lstStyle/>
          <a:p>
            <a:pPr algn="l" indent="0" marL="0">
              <a:lnSpc>
                <a:spcPct val="112000"/>
              </a:lnSpc>
              <a:buNone/>
            </a:pPr>
            <a:r>
              <a:rPr lang="en-US" sz="1400" dirty="0">
                <a:solidFill>
                  <a:schemeClr val="accent2"/>
                </a:solidFill>
              </a:rPr>
              <a:t>Publication — editors decide</a:t>
            </a:r>
            <a:endParaRPr lang="en-US" sz="1400" dirty="0"/>
          </a:p>
        </p:txBody>
      </p:sp>
      <p:sp>
        <p:nvSpPr>
          <p:cNvPr id="23" name="Text 20"/>
          <p:cNvSpPr txBox="1"/>
          <p:nvPr/>
        </p:nvSpPr>
        <p:spPr>
          <a:xfrm>
            <a:off x="548640" y="4279392"/>
            <a:ext cx="54864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WHAT USUALLY HAPPENS AFTER LAUNCH</a:t>
            </a:r>
            <a:endParaRPr lang="en-US" sz="950" dirty="0"/>
          </a:p>
        </p:txBody>
      </p:sp>
      <p:sp>
        <p:nvSpPr>
          <p:cNvPr id="24" name="Shape 21"/>
          <p:cNvSpPr/>
          <p:nvPr/>
        </p:nvSpPr>
        <p:spPr>
          <a:xfrm>
            <a:off x="548640" y="4754880"/>
            <a:ext cx="11094415" cy="0"/>
          </a:xfrm>
          <a:prstGeom prst="line">
            <a:avLst/>
          </a:prstGeom>
          <a:noFill/>
          <a:ln w="9525">
            <a:solidFill>
              <a:schemeClr val="tx1"/>
            </a:solidFill>
            <a:prstDash val="solid"/>
          </a:ln>
        </p:spPr>
      </p:sp>
      <p:sp>
        <p:nvSpPr>
          <p:cNvPr id="25" name="Shape 22"/>
          <p:cNvSpPr/>
          <p:nvPr/>
        </p:nvSpPr>
        <p:spPr>
          <a:xfrm>
            <a:off x="548640" y="4681728"/>
            <a:ext cx="146304" cy="146304"/>
          </a:xfrm>
          <a:prstGeom prst="ellipse">
            <a:avLst/>
          </a:prstGeom>
          <a:solidFill>
            <a:schemeClr val="tx1"/>
          </a:solidFill>
          <a:ln w="9525">
            <a:solidFill>
              <a:schemeClr val="tx1"/>
            </a:solidFill>
            <a:prstDash val="solid"/>
          </a:ln>
        </p:spPr>
      </p:sp>
      <p:sp>
        <p:nvSpPr>
          <p:cNvPr id="26" name="Text 23"/>
          <p:cNvSpPr txBox="1"/>
          <p:nvPr/>
        </p:nvSpPr>
        <p:spPr>
          <a:xfrm>
            <a:off x="548640" y="4919472"/>
            <a:ext cx="2590724"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Days–weeks</a:t>
            </a:r>
            <a:endParaRPr lang="en-US" sz="1700" dirty="0"/>
          </a:p>
        </p:txBody>
      </p:sp>
      <p:sp>
        <p:nvSpPr>
          <p:cNvPr id="27" name="Text 24"/>
          <p:cNvSpPr txBox="1"/>
          <p:nvPr/>
        </p:nvSpPr>
        <p:spPr>
          <a:xfrm>
            <a:off x="548640" y="5303520"/>
            <a:ext cx="2499284" cy="45720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Pages indexed</a:t>
            </a:r>
            <a:endParaRPr lang="en-US" sz="1250" dirty="0"/>
          </a:p>
        </p:txBody>
      </p:sp>
      <p:sp>
        <p:nvSpPr>
          <p:cNvPr id="28" name="Shape 25"/>
          <p:cNvSpPr/>
          <p:nvPr/>
        </p:nvSpPr>
        <p:spPr>
          <a:xfrm>
            <a:off x="3322244" y="4681728"/>
            <a:ext cx="146304" cy="146304"/>
          </a:xfrm>
          <a:prstGeom prst="ellipse">
            <a:avLst/>
          </a:prstGeom>
          <a:ln w="9525">
            <a:solidFill>
              <a:schemeClr val="tx1"/>
            </a:solidFill>
            <a:prstDash val="solid"/>
          </a:ln>
        </p:spPr>
      </p:sp>
      <p:sp>
        <p:nvSpPr>
          <p:cNvPr id="29" name="Text 26"/>
          <p:cNvSpPr txBox="1"/>
          <p:nvPr/>
        </p:nvSpPr>
        <p:spPr>
          <a:xfrm>
            <a:off x="3322244" y="4919472"/>
            <a:ext cx="2590724"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Weeks</a:t>
            </a:r>
            <a:endParaRPr lang="en-US" sz="1700" dirty="0"/>
          </a:p>
        </p:txBody>
      </p:sp>
      <p:sp>
        <p:nvSpPr>
          <p:cNvPr id="30" name="Text 27"/>
          <p:cNvSpPr txBox="1"/>
          <p:nvPr/>
        </p:nvSpPr>
        <p:spPr>
          <a:xfrm>
            <a:off x="3322244" y="5303520"/>
            <a:ext cx="2499284" cy="45720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A search for the studio’s full name returns its site</a:t>
            </a:r>
            <a:endParaRPr lang="en-US" sz="1250" dirty="0"/>
          </a:p>
        </p:txBody>
      </p:sp>
      <p:sp>
        <p:nvSpPr>
          <p:cNvPr id="31" name="Shape 28"/>
          <p:cNvSpPr/>
          <p:nvPr/>
        </p:nvSpPr>
        <p:spPr>
          <a:xfrm>
            <a:off x="6095848" y="4681728"/>
            <a:ext cx="146304" cy="146304"/>
          </a:xfrm>
          <a:prstGeom prst="ellipse">
            <a:avLst/>
          </a:prstGeom>
          <a:ln w="9525">
            <a:solidFill>
              <a:schemeClr val="tx1"/>
            </a:solidFill>
            <a:prstDash val="solid"/>
          </a:ln>
        </p:spPr>
      </p:sp>
      <p:sp>
        <p:nvSpPr>
          <p:cNvPr id="32" name="Text 29"/>
          <p:cNvSpPr txBox="1"/>
          <p:nvPr/>
        </p:nvSpPr>
        <p:spPr>
          <a:xfrm>
            <a:off x="6095848" y="4919472"/>
            <a:ext cx="2590724"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1–3 months</a:t>
            </a:r>
            <a:endParaRPr lang="en-US" sz="1700" dirty="0"/>
          </a:p>
        </p:txBody>
      </p:sp>
      <p:sp>
        <p:nvSpPr>
          <p:cNvPr id="33" name="Text 30"/>
          <p:cNvSpPr txBox="1"/>
          <p:nvPr/>
        </p:nvSpPr>
        <p:spPr>
          <a:xfrm>
            <a:off x="6095848" y="5303520"/>
            <a:ext cx="2499284" cy="45720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New searches begin to appear</a:t>
            </a:r>
            <a:endParaRPr lang="en-US" sz="1250" dirty="0"/>
          </a:p>
        </p:txBody>
      </p:sp>
      <p:sp>
        <p:nvSpPr>
          <p:cNvPr id="34" name="Shape 31"/>
          <p:cNvSpPr/>
          <p:nvPr/>
        </p:nvSpPr>
        <p:spPr>
          <a:xfrm>
            <a:off x="8869451" y="4681728"/>
            <a:ext cx="146304" cy="146304"/>
          </a:xfrm>
          <a:prstGeom prst="ellipse">
            <a:avLst/>
          </a:prstGeom>
          <a:ln w="9525">
            <a:solidFill>
              <a:schemeClr val="tx1"/>
            </a:solidFill>
            <a:prstDash val="solid"/>
          </a:ln>
        </p:spPr>
      </p:sp>
      <p:sp>
        <p:nvSpPr>
          <p:cNvPr id="35" name="Text 32"/>
          <p:cNvSpPr txBox="1"/>
          <p:nvPr/>
        </p:nvSpPr>
        <p:spPr>
          <a:xfrm>
            <a:off x="8869451" y="4919472"/>
            <a:ext cx="2590724"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3–12 months</a:t>
            </a:r>
            <a:endParaRPr lang="en-US" sz="1700" dirty="0"/>
          </a:p>
        </p:txBody>
      </p:sp>
      <p:sp>
        <p:nvSpPr>
          <p:cNvPr id="36" name="Text 33"/>
          <p:cNvSpPr txBox="1"/>
          <p:nvPr/>
        </p:nvSpPr>
        <p:spPr>
          <a:xfrm>
            <a:off x="8869451" y="5303520"/>
            <a:ext cx="2499284" cy="457200"/>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Visibility and actions compound</a:t>
            </a:r>
            <a:endParaRPr lang="en-US" sz="1250" dirty="0"/>
          </a:p>
        </p:txBody>
      </p:sp>
      <p:sp>
        <p:nvSpPr>
          <p:cNvPr id="37" name="Text 34"/>
          <p:cNvSpPr txBox="1"/>
          <p:nvPr/>
        </p:nvSpPr>
        <p:spPr>
          <a:xfrm>
            <a:off x="548640" y="5897880"/>
            <a:ext cx="11094415" cy="274320"/>
          </a:xfrm>
          <a:prstGeom prst="rect">
            <a:avLst/>
          </a:prstGeom>
          <a:noFill/>
          <a:ln/>
        </p:spPr>
        <p:txBody>
          <a:bodyPr wrap="square" lIns="0" tIns="0" rIns="0" bIns="0" rtlCol="0" anchor="t"/>
          <a:lstStyle/>
          <a:p>
            <a:pPr algn="l" indent="0" marL="0">
              <a:lnSpc>
                <a:spcPct val="112000"/>
              </a:lnSpc>
              <a:buNone/>
            </a:pPr>
            <a:r>
              <a:rPr lang="en-US" sz="1050" i="1" dirty="0">
                <a:solidFill>
                  <a:schemeClr val="accent2"/>
                </a:solidFill>
              </a:rPr>
              <a:t>Google states there is no way to pay for a better local ranking, and that meeting its requirements does not guarantee a page will be indexed or shown.</a:t>
            </a:r>
            <a:endParaRPr lang="en-US" sz="10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4"/>
                </a:solidFill>
              </a:rPr>
              <a:t>19 — NEXT STEP</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bg1"/>
                </a:solidFill>
              </a:rPr>
              <a:t>Align, access, audit, implement</a:t>
            </a:r>
            <a:endParaRPr lang="en-US" sz="3200" dirty="0"/>
          </a:p>
        </p:txBody>
      </p:sp>
      <p:sp>
        <p:nvSpPr>
          <p:cNvPr id="5" name="Text 2"/>
          <p:cNvSpPr txBox="1"/>
          <p:nvPr/>
        </p:nvSpPr>
        <p:spPr>
          <a:xfrm>
            <a:off x="548640" y="1828800"/>
            <a:ext cx="914400" cy="457200"/>
          </a:xfrm>
          <a:prstGeom prst="rect">
            <a:avLst/>
          </a:prstGeom>
          <a:noFill/>
          <a:ln/>
        </p:spPr>
        <p:txBody>
          <a:bodyPr wrap="square" lIns="0" tIns="0" rIns="0" bIns="0" rtlCol="0" anchor="t"/>
          <a:lstStyle/>
          <a:p>
            <a:pPr algn="l" indent="0" marL="0">
              <a:lnSpc>
                <a:spcPct val="112000"/>
              </a:lnSpc>
              <a:buNone/>
            </a:pPr>
            <a:r>
              <a:rPr lang="en-US" sz="3000" dirty="0">
                <a:solidFill>
                  <a:schemeClr val="accent3"/>
                </a:solidFill>
                <a:latin typeface="+mj-lt" pitchFamily="34" charset="0"/>
                <a:ea typeface="+mj-lt" pitchFamily="34" charset="-122"/>
                <a:cs typeface="+mj-lt" pitchFamily="34" charset="-120"/>
              </a:rPr>
              <a:t>01</a:t>
            </a:r>
            <a:endParaRPr lang="en-US" sz="3000" dirty="0"/>
          </a:p>
        </p:txBody>
      </p:sp>
      <p:sp>
        <p:nvSpPr>
          <p:cNvPr id="6" name="Text 3"/>
          <p:cNvSpPr txBox="1"/>
          <p:nvPr/>
        </p:nvSpPr>
        <p:spPr>
          <a:xfrm>
            <a:off x="548640" y="2423160"/>
            <a:ext cx="2596896" cy="502920"/>
          </a:xfrm>
          <a:prstGeom prst="rect">
            <a:avLst/>
          </a:prstGeom>
          <a:noFill/>
          <a:ln/>
        </p:spPr>
        <p:txBody>
          <a:bodyPr wrap="square" lIns="0" tIns="0" rIns="0" bIns="0" rtlCol="0" anchor="t"/>
          <a:lstStyle/>
          <a:p>
            <a:pPr algn="l" indent="0" marL="0">
              <a:lnSpc>
                <a:spcPct val="112000"/>
              </a:lnSpc>
              <a:buNone/>
            </a:pPr>
            <a:r>
              <a:rPr lang="en-US" sz="2600" dirty="0">
                <a:solidFill>
                  <a:schemeClr val="bg1"/>
                </a:solidFill>
                <a:latin typeface="+mj-lt" pitchFamily="34" charset="0"/>
                <a:ea typeface="+mj-lt" pitchFamily="34" charset="-122"/>
                <a:cs typeface="+mj-lt" pitchFamily="34" charset="-120"/>
              </a:rPr>
              <a:t>Align</a:t>
            </a:r>
            <a:endParaRPr lang="en-US" sz="2600" dirty="0"/>
          </a:p>
        </p:txBody>
      </p:sp>
      <p:sp>
        <p:nvSpPr>
          <p:cNvPr id="7" name="Shape 4"/>
          <p:cNvSpPr/>
          <p:nvPr/>
        </p:nvSpPr>
        <p:spPr>
          <a:xfrm>
            <a:off x="548640" y="3063240"/>
            <a:ext cx="2596896" cy="0"/>
          </a:xfrm>
          <a:prstGeom prst="line">
            <a:avLst/>
          </a:prstGeom>
          <a:noFill/>
          <a:ln w="9525">
            <a:solidFill>
              <a:schemeClr val="accent4"/>
            </a:solidFill>
            <a:prstDash val="solid"/>
          </a:ln>
        </p:spPr>
      </p:sp>
      <p:sp>
        <p:nvSpPr>
          <p:cNvPr id="8" name="Text 5"/>
          <p:cNvSpPr txBox="1"/>
          <p:nvPr/>
        </p:nvSpPr>
        <p:spPr>
          <a:xfrm>
            <a:off x="548640" y="3200400"/>
            <a:ext cx="2505456" cy="1737360"/>
          </a:xfrm>
          <a:prstGeom prst="rect">
            <a:avLst/>
          </a:prstGeom>
          <a:noFill/>
          <a:ln/>
        </p:spPr>
        <p:txBody>
          <a:bodyPr wrap="square" lIns="0" tIns="0" rIns="0" bIns="0" rtlCol="0" anchor="t"/>
          <a:lstStyle/>
          <a:p>
            <a:pPr algn="l" indent="0" marL="0">
              <a:lnSpc>
                <a:spcPct val="115000"/>
              </a:lnSpc>
              <a:spcAft>
                <a:spcPts val="800"/>
              </a:spcAft>
              <a:buNone/>
            </a:pPr>
            <a:r>
              <a:rPr lang="en-US" sz="1350" dirty="0">
                <a:solidFill>
                  <a:schemeClr val="accent4"/>
                </a:solidFill>
              </a:rPr>
              <a:t>Studio name and domain</a:t>
            </a:r>
            <a:endParaRPr lang="en-US" sz="1350" dirty="0"/>
          </a:p>
          <a:p>
            <a:pPr algn="l" indent="0" marL="0">
              <a:lnSpc>
                <a:spcPct val="115000"/>
              </a:lnSpc>
              <a:spcAft>
                <a:spcPts val="800"/>
              </a:spcAft>
              <a:buNone/>
            </a:pPr>
            <a:r>
              <a:rPr lang="en-US" sz="1350" dirty="0">
                <a:solidFill>
                  <a:schemeClr val="accent4"/>
                </a:solidFill>
              </a:rPr>
              <a:t>Services to be found for</a:t>
            </a:r>
            <a:endParaRPr lang="en-US" sz="1350" dirty="0"/>
          </a:p>
          <a:p>
            <a:pPr algn="l" indent="0" marL="0">
              <a:lnSpc>
                <a:spcPct val="115000"/>
              </a:lnSpc>
              <a:spcAft>
                <a:spcPts val="800"/>
              </a:spcAft>
              <a:buNone/>
            </a:pPr>
            <a:r>
              <a:rPr lang="en-US" sz="1350" dirty="0">
                <a:solidFill>
                  <a:schemeClr val="accent4"/>
                </a:solidFill>
              </a:rPr>
              <a:t>How the existing Google listing should represent MACK</a:t>
            </a:r>
            <a:endParaRPr lang="en-US" sz="1350" dirty="0"/>
          </a:p>
        </p:txBody>
      </p:sp>
      <p:sp>
        <p:nvSpPr>
          <p:cNvPr id="9" name="Shape 6"/>
          <p:cNvSpPr/>
          <p:nvPr/>
        </p:nvSpPr>
        <p:spPr>
          <a:xfrm>
            <a:off x="1325880" y="2075688"/>
            <a:ext cx="1944929" cy="0"/>
          </a:xfrm>
          <a:prstGeom prst="line">
            <a:avLst/>
          </a:prstGeom>
          <a:noFill/>
          <a:ln w="9525">
            <a:solidFill>
              <a:schemeClr val="accent4"/>
            </a:solidFill>
            <a:prstDash val="solid"/>
            <a:tailEnd type="triangle"/>
          </a:ln>
        </p:spPr>
      </p:sp>
      <p:sp>
        <p:nvSpPr>
          <p:cNvPr id="10" name="Text 7"/>
          <p:cNvSpPr txBox="1"/>
          <p:nvPr/>
        </p:nvSpPr>
        <p:spPr>
          <a:xfrm>
            <a:off x="3380537" y="1828800"/>
            <a:ext cx="914400" cy="457200"/>
          </a:xfrm>
          <a:prstGeom prst="rect">
            <a:avLst/>
          </a:prstGeom>
          <a:noFill/>
          <a:ln/>
        </p:spPr>
        <p:txBody>
          <a:bodyPr wrap="square" lIns="0" tIns="0" rIns="0" bIns="0" rtlCol="0" anchor="t"/>
          <a:lstStyle/>
          <a:p>
            <a:pPr algn="l" indent="0" marL="0">
              <a:lnSpc>
                <a:spcPct val="112000"/>
              </a:lnSpc>
              <a:buNone/>
            </a:pPr>
            <a:r>
              <a:rPr lang="en-US" sz="3000" dirty="0">
                <a:solidFill>
                  <a:schemeClr val="accent3"/>
                </a:solidFill>
                <a:latin typeface="+mj-lt" pitchFamily="34" charset="0"/>
                <a:ea typeface="+mj-lt" pitchFamily="34" charset="-122"/>
                <a:cs typeface="+mj-lt" pitchFamily="34" charset="-120"/>
              </a:rPr>
              <a:t>02</a:t>
            </a:r>
            <a:endParaRPr lang="en-US" sz="3000" dirty="0"/>
          </a:p>
        </p:txBody>
      </p:sp>
      <p:sp>
        <p:nvSpPr>
          <p:cNvPr id="11" name="Text 8"/>
          <p:cNvSpPr txBox="1"/>
          <p:nvPr/>
        </p:nvSpPr>
        <p:spPr>
          <a:xfrm>
            <a:off x="3380537" y="2423160"/>
            <a:ext cx="2596896" cy="502920"/>
          </a:xfrm>
          <a:prstGeom prst="rect">
            <a:avLst/>
          </a:prstGeom>
          <a:noFill/>
          <a:ln/>
        </p:spPr>
        <p:txBody>
          <a:bodyPr wrap="square" lIns="0" tIns="0" rIns="0" bIns="0" rtlCol="0" anchor="t"/>
          <a:lstStyle/>
          <a:p>
            <a:pPr algn="l" indent="0" marL="0">
              <a:lnSpc>
                <a:spcPct val="112000"/>
              </a:lnSpc>
              <a:buNone/>
            </a:pPr>
            <a:r>
              <a:rPr lang="en-US" sz="2600" dirty="0">
                <a:solidFill>
                  <a:schemeClr val="bg1"/>
                </a:solidFill>
                <a:latin typeface="+mj-lt" pitchFamily="34" charset="0"/>
                <a:ea typeface="+mj-lt" pitchFamily="34" charset="-122"/>
                <a:cs typeface="+mj-lt" pitchFamily="34" charset="-120"/>
              </a:rPr>
              <a:t>Access</a:t>
            </a:r>
            <a:endParaRPr lang="en-US" sz="2600" dirty="0"/>
          </a:p>
        </p:txBody>
      </p:sp>
      <p:sp>
        <p:nvSpPr>
          <p:cNvPr id="12" name="Shape 9"/>
          <p:cNvSpPr/>
          <p:nvPr/>
        </p:nvSpPr>
        <p:spPr>
          <a:xfrm>
            <a:off x="3380537" y="3063240"/>
            <a:ext cx="2596896" cy="0"/>
          </a:xfrm>
          <a:prstGeom prst="line">
            <a:avLst/>
          </a:prstGeom>
          <a:noFill/>
          <a:ln w="9525">
            <a:solidFill>
              <a:schemeClr val="accent4"/>
            </a:solidFill>
            <a:prstDash val="solid"/>
          </a:ln>
        </p:spPr>
      </p:sp>
      <p:sp>
        <p:nvSpPr>
          <p:cNvPr id="13" name="Text 10"/>
          <p:cNvSpPr txBox="1"/>
          <p:nvPr/>
        </p:nvSpPr>
        <p:spPr>
          <a:xfrm>
            <a:off x="3380537" y="3200400"/>
            <a:ext cx="2505456" cy="1737360"/>
          </a:xfrm>
          <a:prstGeom prst="rect">
            <a:avLst/>
          </a:prstGeom>
          <a:noFill/>
          <a:ln/>
        </p:spPr>
        <p:txBody>
          <a:bodyPr wrap="square" lIns="0" tIns="0" rIns="0" bIns="0" rtlCol="0" anchor="t"/>
          <a:lstStyle/>
          <a:p>
            <a:pPr algn="l" indent="0" marL="0">
              <a:lnSpc>
                <a:spcPct val="115000"/>
              </a:lnSpc>
              <a:spcAft>
                <a:spcPts val="800"/>
              </a:spcAft>
              <a:buNone/>
            </a:pPr>
            <a:r>
              <a:rPr lang="en-US" sz="1350" dirty="0">
                <a:solidFill>
                  <a:schemeClr val="accent4"/>
                </a:solidFill>
              </a:rPr>
              <a:t>Domain and DNS</a:t>
            </a:r>
            <a:endParaRPr lang="en-US" sz="1350" dirty="0"/>
          </a:p>
          <a:p>
            <a:pPr algn="l" indent="0" marL="0">
              <a:lnSpc>
                <a:spcPct val="115000"/>
              </a:lnSpc>
              <a:spcAft>
                <a:spcPts val="800"/>
              </a:spcAft>
              <a:buNone/>
            </a:pPr>
            <a:r>
              <a:rPr lang="en-US" sz="1350" dirty="0">
                <a:solidFill>
                  <a:schemeClr val="accent4"/>
                </a:solidFill>
              </a:rPr>
              <a:t>Google accounts and hosting</a:t>
            </a:r>
            <a:endParaRPr lang="en-US" sz="1350" dirty="0"/>
          </a:p>
          <a:p>
            <a:pPr algn="l" indent="0" marL="0">
              <a:lnSpc>
                <a:spcPct val="115000"/>
              </a:lnSpc>
              <a:spcAft>
                <a:spcPts val="800"/>
              </a:spcAft>
              <a:buNone/>
            </a:pPr>
            <a:r>
              <a:rPr lang="en-US" sz="1350" dirty="0">
                <a:solidFill>
                  <a:schemeClr val="accent4"/>
                </a:solidFill>
              </a:rPr>
              <a:t>Business Profile ownership</a:t>
            </a:r>
            <a:endParaRPr lang="en-US" sz="1350" dirty="0"/>
          </a:p>
        </p:txBody>
      </p:sp>
      <p:sp>
        <p:nvSpPr>
          <p:cNvPr id="14" name="Shape 11"/>
          <p:cNvSpPr/>
          <p:nvPr/>
        </p:nvSpPr>
        <p:spPr>
          <a:xfrm>
            <a:off x="4157777" y="2075688"/>
            <a:ext cx="1944929" cy="0"/>
          </a:xfrm>
          <a:prstGeom prst="line">
            <a:avLst/>
          </a:prstGeom>
          <a:noFill/>
          <a:ln w="9525">
            <a:solidFill>
              <a:schemeClr val="accent4"/>
            </a:solidFill>
            <a:prstDash val="solid"/>
            <a:tailEnd type="triangle"/>
          </a:ln>
        </p:spPr>
      </p:sp>
      <p:sp>
        <p:nvSpPr>
          <p:cNvPr id="15" name="Text 12"/>
          <p:cNvSpPr txBox="1"/>
          <p:nvPr/>
        </p:nvSpPr>
        <p:spPr>
          <a:xfrm>
            <a:off x="6212434" y="1828800"/>
            <a:ext cx="914400" cy="457200"/>
          </a:xfrm>
          <a:prstGeom prst="rect">
            <a:avLst/>
          </a:prstGeom>
          <a:noFill/>
          <a:ln/>
        </p:spPr>
        <p:txBody>
          <a:bodyPr wrap="square" lIns="0" tIns="0" rIns="0" bIns="0" rtlCol="0" anchor="t"/>
          <a:lstStyle/>
          <a:p>
            <a:pPr algn="l" indent="0" marL="0">
              <a:lnSpc>
                <a:spcPct val="112000"/>
              </a:lnSpc>
              <a:buNone/>
            </a:pPr>
            <a:r>
              <a:rPr lang="en-US" sz="3000" dirty="0">
                <a:solidFill>
                  <a:schemeClr val="accent3"/>
                </a:solidFill>
                <a:latin typeface="+mj-lt" pitchFamily="34" charset="0"/>
                <a:ea typeface="+mj-lt" pitchFamily="34" charset="-122"/>
                <a:cs typeface="+mj-lt" pitchFamily="34" charset="-120"/>
              </a:rPr>
              <a:t>03</a:t>
            </a:r>
            <a:endParaRPr lang="en-US" sz="3000" dirty="0"/>
          </a:p>
        </p:txBody>
      </p:sp>
      <p:sp>
        <p:nvSpPr>
          <p:cNvPr id="16" name="Text 13"/>
          <p:cNvSpPr txBox="1"/>
          <p:nvPr/>
        </p:nvSpPr>
        <p:spPr>
          <a:xfrm>
            <a:off x="6212434" y="2423160"/>
            <a:ext cx="2596896" cy="502920"/>
          </a:xfrm>
          <a:prstGeom prst="rect">
            <a:avLst/>
          </a:prstGeom>
          <a:noFill/>
          <a:ln/>
        </p:spPr>
        <p:txBody>
          <a:bodyPr wrap="square" lIns="0" tIns="0" rIns="0" bIns="0" rtlCol="0" anchor="t"/>
          <a:lstStyle/>
          <a:p>
            <a:pPr algn="l" indent="0" marL="0">
              <a:lnSpc>
                <a:spcPct val="112000"/>
              </a:lnSpc>
              <a:buNone/>
            </a:pPr>
            <a:r>
              <a:rPr lang="en-US" sz="2600" dirty="0">
                <a:solidFill>
                  <a:schemeClr val="bg1"/>
                </a:solidFill>
                <a:latin typeface="+mj-lt" pitchFamily="34" charset="0"/>
                <a:ea typeface="+mj-lt" pitchFamily="34" charset="-122"/>
                <a:cs typeface="+mj-lt" pitchFamily="34" charset="-120"/>
              </a:rPr>
              <a:t>Audit</a:t>
            </a:r>
            <a:endParaRPr lang="en-US" sz="2600" dirty="0"/>
          </a:p>
        </p:txBody>
      </p:sp>
      <p:sp>
        <p:nvSpPr>
          <p:cNvPr id="17" name="Shape 14"/>
          <p:cNvSpPr/>
          <p:nvPr/>
        </p:nvSpPr>
        <p:spPr>
          <a:xfrm>
            <a:off x="6212434" y="3063240"/>
            <a:ext cx="2596896" cy="0"/>
          </a:xfrm>
          <a:prstGeom prst="line">
            <a:avLst/>
          </a:prstGeom>
          <a:noFill/>
          <a:ln w="9525">
            <a:solidFill>
              <a:schemeClr val="accent4"/>
            </a:solidFill>
            <a:prstDash val="solid"/>
          </a:ln>
        </p:spPr>
      </p:sp>
      <p:sp>
        <p:nvSpPr>
          <p:cNvPr id="18" name="Text 15"/>
          <p:cNvSpPr txBox="1"/>
          <p:nvPr/>
        </p:nvSpPr>
        <p:spPr>
          <a:xfrm>
            <a:off x="6212434" y="3200400"/>
            <a:ext cx="2505456" cy="1737360"/>
          </a:xfrm>
          <a:prstGeom prst="rect">
            <a:avLst/>
          </a:prstGeom>
          <a:noFill/>
          <a:ln/>
        </p:spPr>
        <p:txBody>
          <a:bodyPr wrap="square" lIns="0" tIns="0" rIns="0" bIns="0" rtlCol="0" anchor="t"/>
          <a:lstStyle/>
          <a:p>
            <a:pPr algn="l" indent="0" marL="0">
              <a:lnSpc>
                <a:spcPct val="115000"/>
              </a:lnSpc>
              <a:spcAft>
                <a:spcPts val="800"/>
              </a:spcAft>
              <a:buNone/>
            </a:pPr>
            <a:r>
              <a:rPr lang="en-US" sz="1350" dirty="0">
                <a:solidFill>
                  <a:schemeClr val="accent4"/>
                </a:solidFill>
              </a:rPr>
              <a:t>Baseline recorded: search, profile, speed, enquiries</a:t>
            </a:r>
            <a:endParaRPr lang="en-US" sz="1350" dirty="0"/>
          </a:p>
          <a:p>
            <a:pPr algn="l" indent="0" marL="0">
              <a:lnSpc>
                <a:spcPct val="115000"/>
              </a:lnSpc>
              <a:spcAft>
                <a:spcPts val="800"/>
              </a:spcAft>
              <a:buNone/>
            </a:pPr>
            <a:r>
              <a:rPr lang="en-US" sz="1350" dirty="0">
                <a:solidFill>
                  <a:schemeClr val="accent4"/>
                </a:solidFill>
              </a:rPr>
              <a:t>Project information form sent</a:t>
            </a:r>
            <a:endParaRPr lang="en-US" sz="1350" dirty="0"/>
          </a:p>
        </p:txBody>
      </p:sp>
      <p:sp>
        <p:nvSpPr>
          <p:cNvPr id="19" name="Shape 16"/>
          <p:cNvSpPr/>
          <p:nvPr/>
        </p:nvSpPr>
        <p:spPr>
          <a:xfrm>
            <a:off x="6989674" y="2075688"/>
            <a:ext cx="1944929" cy="0"/>
          </a:xfrm>
          <a:prstGeom prst="line">
            <a:avLst/>
          </a:prstGeom>
          <a:noFill/>
          <a:ln w="9525">
            <a:solidFill>
              <a:schemeClr val="accent4"/>
            </a:solidFill>
            <a:prstDash val="solid"/>
            <a:tailEnd type="triangle"/>
          </a:ln>
        </p:spPr>
      </p:sp>
      <p:sp>
        <p:nvSpPr>
          <p:cNvPr id="20" name="Text 17"/>
          <p:cNvSpPr txBox="1"/>
          <p:nvPr/>
        </p:nvSpPr>
        <p:spPr>
          <a:xfrm>
            <a:off x="9044330" y="1828800"/>
            <a:ext cx="914400" cy="457200"/>
          </a:xfrm>
          <a:prstGeom prst="rect">
            <a:avLst/>
          </a:prstGeom>
          <a:noFill/>
          <a:ln/>
        </p:spPr>
        <p:txBody>
          <a:bodyPr wrap="square" lIns="0" tIns="0" rIns="0" bIns="0" rtlCol="0" anchor="t"/>
          <a:lstStyle/>
          <a:p>
            <a:pPr algn="l" indent="0" marL="0">
              <a:lnSpc>
                <a:spcPct val="112000"/>
              </a:lnSpc>
              <a:buNone/>
            </a:pPr>
            <a:r>
              <a:rPr lang="en-US" sz="3000" dirty="0">
                <a:solidFill>
                  <a:schemeClr val="accent3"/>
                </a:solidFill>
                <a:latin typeface="+mj-lt" pitchFamily="34" charset="0"/>
                <a:ea typeface="+mj-lt" pitchFamily="34" charset="-122"/>
                <a:cs typeface="+mj-lt" pitchFamily="34" charset="-120"/>
              </a:rPr>
              <a:t>04</a:t>
            </a:r>
            <a:endParaRPr lang="en-US" sz="3000" dirty="0"/>
          </a:p>
        </p:txBody>
      </p:sp>
      <p:sp>
        <p:nvSpPr>
          <p:cNvPr id="21" name="Text 18"/>
          <p:cNvSpPr txBox="1"/>
          <p:nvPr/>
        </p:nvSpPr>
        <p:spPr>
          <a:xfrm>
            <a:off x="9044330" y="2423160"/>
            <a:ext cx="2596896" cy="502920"/>
          </a:xfrm>
          <a:prstGeom prst="rect">
            <a:avLst/>
          </a:prstGeom>
          <a:noFill/>
          <a:ln/>
        </p:spPr>
        <p:txBody>
          <a:bodyPr wrap="square" lIns="0" tIns="0" rIns="0" bIns="0" rtlCol="0" anchor="t"/>
          <a:lstStyle/>
          <a:p>
            <a:pPr algn="l" indent="0" marL="0">
              <a:lnSpc>
                <a:spcPct val="112000"/>
              </a:lnSpc>
              <a:buNone/>
            </a:pPr>
            <a:r>
              <a:rPr lang="en-US" sz="2600" dirty="0">
                <a:solidFill>
                  <a:schemeClr val="bg1"/>
                </a:solidFill>
                <a:latin typeface="+mj-lt" pitchFamily="34" charset="0"/>
                <a:ea typeface="+mj-lt" pitchFamily="34" charset="-122"/>
                <a:cs typeface="+mj-lt" pitchFamily="34" charset="-120"/>
              </a:rPr>
              <a:t>Implement</a:t>
            </a:r>
            <a:endParaRPr lang="en-US" sz="2600" dirty="0"/>
          </a:p>
        </p:txBody>
      </p:sp>
      <p:sp>
        <p:nvSpPr>
          <p:cNvPr id="22" name="Shape 19"/>
          <p:cNvSpPr/>
          <p:nvPr/>
        </p:nvSpPr>
        <p:spPr>
          <a:xfrm>
            <a:off x="9044330" y="3063240"/>
            <a:ext cx="2596896" cy="0"/>
          </a:xfrm>
          <a:prstGeom prst="line">
            <a:avLst/>
          </a:prstGeom>
          <a:noFill/>
          <a:ln w="9525">
            <a:solidFill>
              <a:schemeClr val="accent4"/>
            </a:solidFill>
            <a:prstDash val="solid"/>
          </a:ln>
        </p:spPr>
      </p:sp>
      <p:sp>
        <p:nvSpPr>
          <p:cNvPr id="23" name="Text 20"/>
          <p:cNvSpPr txBox="1"/>
          <p:nvPr/>
        </p:nvSpPr>
        <p:spPr>
          <a:xfrm>
            <a:off x="9044330" y="3200400"/>
            <a:ext cx="2505456" cy="1737360"/>
          </a:xfrm>
          <a:prstGeom prst="rect">
            <a:avLst/>
          </a:prstGeom>
          <a:noFill/>
          <a:ln/>
        </p:spPr>
        <p:txBody>
          <a:bodyPr wrap="square" lIns="0" tIns="0" rIns="0" bIns="0" rtlCol="0" anchor="t"/>
          <a:lstStyle/>
          <a:p>
            <a:pPr algn="l" indent="0" marL="0">
              <a:lnSpc>
                <a:spcPct val="115000"/>
              </a:lnSpc>
              <a:spcAft>
                <a:spcPts val="800"/>
              </a:spcAft>
              <a:buNone/>
            </a:pPr>
            <a:r>
              <a:rPr lang="en-US" sz="1350" dirty="0">
                <a:solidFill>
                  <a:schemeClr val="accent4"/>
                </a:solidFill>
              </a:rPr>
              <a:t>Milestone 1 begins</a:t>
            </a:r>
            <a:endParaRPr lang="en-US" sz="1350" dirty="0"/>
          </a:p>
          <a:p>
            <a:pPr algn="l" indent="0" marL="0">
              <a:lnSpc>
                <a:spcPct val="115000"/>
              </a:lnSpc>
              <a:spcAft>
                <a:spcPts val="800"/>
              </a:spcAft>
              <a:buNone/>
            </a:pPr>
            <a:r>
              <a:rPr lang="en-US" sz="1350" dirty="0">
                <a:solidFill>
                  <a:schemeClr val="accent4"/>
                </a:solidFill>
              </a:rPr>
              <a:t>First progress note at the end of week 2</a:t>
            </a:r>
            <a:endParaRPr lang="en-US" sz="1350" dirty="0"/>
          </a:p>
        </p:txBody>
      </p:sp>
      <p:pic>
        <p:nvPicPr>
          <p:cNvPr id="24" name="Image 0" descr="MACK monogram">    </p:cNvPr>
          <p:cNvPicPr>
            <a:picLocks noChangeAspect="1"/>
          </p:cNvPicPr>
          <p:nvPr/>
        </p:nvPicPr>
        <p:blipFill>
          <a:blip r:embed="rId1"/>
          <a:stretch>
            <a:fillRect/>
          </a:stretch>
        </p:blipFill>
        <p:spPr>
          <a:xfrm>
            <a:off x="548640" y="5349240"/>
            <a:ext cx="365760" cy="354013"/>
          </a:xfrm>
          <a:prstGeom prst="rect">
            <a:avLst/>
          </a:prstGeom>
        </p:spPr>
      </p:pic>
      <p:sp>
        <p:nvSpPr>
          <p:cNvPr id="25" name="Text 21"/>
          <p:cNvSpPr txBox="1"/>
          <p:nvPr/>
        </p:nvSpPr>
        <p:spPr>
          <a:xfrm>
            <a:off x="1097280" y="5376672"/>
            <a:ext cx="8229600" cy="320040"/>
          </a:xfrm>
          <a:prstGeom prst="rect">
            <a:avLst/>
          </a:prstGeom>
          <a:noFill/>
          <a:ln/>
        </p:spPr>
        <p:txBody>
          <a:bodyPr wrap="square" lIns="0" tIns="0" rIns="0" bIns="0" rtlCol="0" anchor="t"/>
          <a:lstStyle/>
          <a:p>
            <a:pPr algn="l" indent="0" marL="0">
              <a:lnSpc>
                <a:spcPct val="112000"/>
              </a:lnSpc>
              <a:buNone/>
            </a:pPr>
            <a:r>
              <a:rPr lang="en-US" sz="1400" i="1" dirty="0">
                <a:solidFill>
                  <a:schemeClr val="bg1"/>
                </a:solidFill>
                <a:latin typeface="+mj-lt" pitchFamily="34" charset="0"/>
                <a:ea typeface="+mj-lt" pitchFamily="34" charset="-122"/>
                <a:cs typeface="+mj-lt" pitchFamily="34" charset="-120"/>
              </a:rPr>
              <a:t>A first working session of about ninety minutes is enough to begin.</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MACK Digital Foundation">
  <a:themeElements>
    <a:clrScheme name="MACK Digital Foundation">
      <a:dk1>
        <a:srgbClr val="1A1916"/>
      </a:dk1>
      <a:lt1>
        <a:srgbClr val="EFECE6"/>
      </a:lt1>
      <a:dk2>
        <a:srgbClr val="4A463F"/>
      </a:dk2>
      <a:lt2>
        <a:srgbClr val="E5E1D9"/>
      </a:lt2>
      <a:accent1>
        <a:srgbClr val="161513"/>
      </a:accent1>
      <a:accent2>
        <a:srgbClr val="6B665E"/>
      </a:accent2>
      <a:accent3>
        <a:srgbClr val="9C6A47"/>
      </a:accent3>
      <a:accent4>
        <a:srgbClr val="A8A297"/>
      </a:accent4>
      <a:accent5>
        <a:srgbClr val="C9C3B7"/>
      </a:accent5>
      <a:accent6>
        <a:srgbClr val="F8F6F2"/>
      </a:accent6>
      <a:hlink>
        <a:srgbClr val="1A1916"/>
      </a:hlink>
      <a:folHlink>
        <a:srgbClr val="4A463F"/>
      </a:folHlink>
    </a:clrScheme>
    <a:fontScheme name="MACK Digital Founda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Foundation — MACK &amp; Co Architects</dc:title>
  <dc:subject>Search visibility, local presence, measurement and studio infrastructure</dc:subject>
  <dc:creator>Yash Sharma</dc:creator>
  <cp:lastModifiedBy>Yash Sharma</cp:lastModifiedBy>
  <cp:revision>1</cp:revision>
  <dcterms:created xsi:type="dcterms:W3CDTF">2026-10-13T21:22:45Z</dcterms:created>
  <dcterms:modified xsi:type="dcterms:W3CDTF">2026-10-13T21:22:45Z</dcterms:modified>
</cp:coreProperties>
</file>